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5514" r:id="rId6"/>
  </p:sldMasterIdLst>
  <p:notesMasterIdLst>
    <p:notesMasterId r:id="rId31"/>
  </p:notesMasterIdLst>
  <p:handoutMasterIdLst>
    <p:handoutMasterId r:id="rId32"/>
  </p:handoutMasterIdLst>
  <p:sldIdLst>
    <p:sldId id="371" r:id="rId7"/>
    <p:sldId id="291" r:id="rId8"/>
    <p:sldId id="289" r:id="rId9"/>
    <p:sldId id="287" r:id="rId10"/>
    <p:sldId id="259" r:id="rId11"/>
    <p:sldId id="372" r:id="rId12"/>
    <p:sldId id="373" r:id="rId13"/>
    <p:sldId id="293" r:id="rId14"/>
    <p:sldId id="310" r:id="rId15"/>
    <p:sldId id="292" r:id="rId16"/>
    <p:sldId id="263" r:id="rId17"/>
    <p:sldId id="326" r:id="rId18"/>
    <p:sldId id="327" r:id="rId19"/>
    <p:sldId id="328" r:id="rId20"/>
    <p:sldId id="332" r:id="rId21"/>
    <p:sldId id="349" r:id="rId22"/>
    <p:sldId id="333" r:id="rId23"/>
    <p:sldId id="334" r:id="rId24"/>
    <p:sldId id="337" r:id="rId25"/>
    <p:sldId id="338" r:id="rId26"/>
    <p:sldId id="345" r:id="rId27"/>
    <p:sldId id="346" r:id="rId28"/>
    <p:sldId id="347" r:id="rId29"/>
    <p:sldId id="348" r:id="rId30"/>
  </p:sldIdLst>
  <p:sldSz cx="12192000" cy="6858000"/>
  <p:notesSz cx="6858000" cy="20955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2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1DE"/>
    <a:srgbClr val="E5ECEB"/>
    <a:srgbClr val="95D600"/>
    <a:srgbClr val="FF6B00"/>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96" autoAdjust="0"/>
    <p:restoredTop sz="73647" autoAdjust="0"/>
  </p:normalViewPr>
  <p:slideViewPr>
    <p:cSldViewPr snapToGrid="0">
      <p:cViewPr varScale="1">
        <p:scale>
          <a:sx n="121" d="100"/>
          <a:sy n="121" d="100"/>
        </p:scale>
        <p:origin x="1544"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E6ABC0BB-F774-4303-9701-003B3E743AFE}"/>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EB52217F-109B-4561-ACE4-BE073A308A21}" type="datetimeFigureOut">
              <a:rPr lang="en-US" altLang="en-US"/>
              <a:pPr>
                <a:defRPr/>
              </a:pPr>
              <a:t>2/5/26</a:t>
            </a:fld>
            <a:endParaRPr lang="en-US" altLang="en-US" dirty="0"/>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dirty="0"/>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2/5/26</a:t>
            </a:fld>
            <a:endParaRPr lang="en-US" altLang="en-US" dirty="0"/>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dirty="0"/>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a typeface="ＭＳ Ｐゴシック"/>
                <a:cs typeface="Calibri"/>
              </a:rPr>
              <a:t>Hello and welcome. Today, our focus will be on the CMOS transistor theory.</a:t>
            </a:r>
          </a:p>
          <a:p>
            <a:endParaRPr lang="LID4096" dirty="0">
              <a:cs typeface="Calibri"/>
            </a:endParaRP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dirty="0"/>
          </a:p>
        </p:txBody>
      </p:sp>
    </p:spTree>
    <p:extLst>
      <p:ext uri="{BB962C8B-B14F-4D97-AF65-F5344CB8AC3E}">
        <p14:creationId xmlns:p14="http://schemas.microsoft.com/office/powerpoint/2010/main" val="156285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5C4DB044-621C-5243-82D1-9027D1270CD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FC76B7C1-2299-8544-A2A2-C7560FE9271A}" type="slidenum">
              <a:rPr lang="en-US" altLang="en-US" smtClean="0"/>
              <a:pPr>
                <a:spcBef>
                  <a:spcPct val="0"/>
                </a:spcBef>
              </a:pPr>
              <a:t>2</a:t>
            </a:fld>
            <a:endParaRPr lang="en-US" altLang="en-US" dirty="0"/>
          </a:p>
        </p:txBody>
      </p:sp>
      <p:sp>
        <p:nvSpPr>
          <p:cNvPr id="39938" name="Rectangle 2">
            <a:extLst>
              <a:ext uri="{FF2B5EF4-FFF2-40B4-BE49-F238E27FC236}">
                <a16:creationId xmlns:a16="http://schemas.microsoft.com/office/drawing/2014/main" id="{BE553476-BBC1-F24E-AB8F-EC7F92581BE4}"/>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EBAFD254-C992-E142-92F9-0A05F3CFDE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endParaRPr lang="en-US" altLang="en-US" b="0" dirty="0"/>
          </a:p>
        </p:txBody>
      </p:sp>
    </p:spTree>
    <p:extLst>
      <p:ext uri="{BB962C8B-B14F-4D97-AF65-F5344CB8AC3E}">
        <p14:creationId xmlns:p14="http://schemas.microsoft.com/office/powerpoint/2010/main" val="695666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CAF55402-0680-0449-BDEA-E7F02BDBE0D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6074430-08E4-1B4B-9904-14CFA9B60FF7}" type="slidenum">
              <a:rPr lang="en-US" altLang="en-US" smtClean="0"/>
              <a:pPr>
                <a:spcBef>
                  <a:spcPct val="0"/>
                </a:spcBef>
              </a:pPr>
              <a:t>3</a:t>
            </a:fld>
            <a:endParaRPr lang="en-US" altLang="en-US" dirty="0"/>
          </a:p>
        </p:txBody>
      </p:sp>
      <p:sp>
        <p:nvSpPr>
          <p:cNvPr id="41986" name="Rectangle 2">
            <a:extLst>
              <a:ext uri="{FF2B5EF4-FFF2-40B4-BE49-F238E27FC236}">
                <a16:creationId xmlns:a16="http://schemas.microsoft.com/office/drawing/2014/main" id="{FAB25CEF-B8BE-034F-B51F-D3822A11D5F8}"/>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1BD13299-46C6-A348-9787-4A044B43E95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a:ea typeface="ＭＳ Ｐゴシック"/>
              <a:cs typeface="Times New Roman"/>
            </a:endParaRPr>
          </a:p>
        </p:txBody>
      </p:sp>
    </p:spTree>
    <p:extLst>
      <p:ext uri="{BB962C8B-B14F-4D97-AF65-F5344CB8AC3E}">
        <p14:creationId xmlns:p14="http://schemas.microsoft.com/office/powerpoint/2010/main" val="3922158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BAF8B88D-1DFE-3C45-A0B7-4C829671E6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ADCEF2C-36DD-2247-B2A3-576B2250C309}" type="slidenum">
              <a:rPr lang="en-US" altLang="en-US" smtClean="0"/>
              <a:pPr>
                <a:spcBef>
                  <a:spcPct val="0"/>
                </a:spcBef>
              </a:pPr>
              <a:t>4</a:t>
            </a:fld>
            <a:endParaRPr lang="en-US" altLang="en-US" dirty="0"/>
          </a:p>
        </p:txBody>
      </p:sp>
      <p:sp>
        <p:nvSpPr>
          <p:cNvPr id="44034" name="Rectangle 2">
            <a:extLst>
              <a:ext uri="{FF2B5EF4-FFF2-40B4-BE49-F238E27FC236}">
                <a16:creationId xmlns:a16="http://schemas.microsoft.com/office/drawing/2014/main" id="{D5341122-4386-D648-8D73-1422FE820E18}"/>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76D84048-0777-574E-A4B2-A5547DA9741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mj-lt"/>
                <a:ea typeface="ＭＳ Ｐゴシック"/>
                <a:cs typeface="Calibri"/>
              </a:rPr>
              <a:t>The equation for Ids current can be expressed for the three operating regions cutoff, linear and saturation.</a:t>
            </a:r>
          </a:p>
        </p:txBody>
      </p:sp>
    </p:spTree>
    <p:extLst>
      <p:ext uri="{BB962C8B-B14F-4D97-AF65-F5344CB8AC3E}">
        <p14:creationId xmlns:p14="http://schemas.microsoft.com/office/powerpoint/2010/main" val="2588407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E4F610CD-B0B7-4741-A499-B4A90A1AF2E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4BF0B2C-6895-DB4F-A03C-BE61715EE605}" type="slidenum">
              <a:rPr lang="en-US" altLang="en-US"/>
              <a:pPr>
                <a:spcBef>
                  <a:spcPct val="0"/>
                </a:spcBef>
              </a:pPr>
              <a:t>5</a:t>
            </a:fld>
            <a:endParaRPr lang="en-US" altLang="en-US" dirty="0"/>
          </a:p>
        </p:txBody>
      </p:sp>
      <p:sp>
        <p:nvSpPr>
          <p:cNvPr id="24578" name="Rectangle 2">
            <a:extLst>
              <a:ext uri="{FF2B5EF4-FFF2-40B4-BE49-F238E27FC236}">
                <a16:creationId xmlns:a16="http://schemas.microsoft.com/office/drawing/2014/main" id="{2FDE3D90-F03E-8140-BF35-103B14044CEC}"/>
              </a:ext>
            </a:extLst>
          </p:cNvPr>
          <p:cNvSpPr>
            <a:spLocks noGrp="1" noRot="1" noChangeAspect="1" noChangeArrowheads="1" noTextEdit="1"/>
          </p:cNvSpPr>
          <p:nvPr>
            <p:ph type="sldImg"/>
          </p:nvPr>
        </p:nvSpPr>
        <p:spPr>
          <a:xfrm>
            <a:off x="2363788" y="546100"/>
            <a:ext cx="4879975" cy="2746375"/>
          </a:xfrm>
          <a:ln/>
        </p:spPr>
      </p:sp>
      <p:sp>
        <p:nvSpPr>
          <p:cNvPr id="750595" name="Rectangle 3">
            <a:extLst>
              <a:ext uri="{FF2B5EF4-FFF2-40B4-BE49-F238E27FC236}">
                <a16:creationId xmlns:a16="http://schemas.microsoft.com/office/drawing/2014/main" id="{54297B65-7C9A-3542-8CCC-CEACA342E84B}"/>
              </a:ext>
            </a:extLst>
          </p:cNvPr>
          <p:cNvSpPr>
            <a:spLocks noGrp="1" noChangeArrowheads="1"/>
          </p:cNvSpPr>
          <p:nvPr>
            <p:ph type="body" idx="1"/>
          </p:nvPr>
        </p:nvSpPr>
        <p:spPr/>
        <p:txBody>
          <a:bodyPr/>
          <a:lstStyle/>
          <a:p>
            <a:pPr eaLnBrk="1" hangingPunct="1">
              <a:defRPr/>
            </a:pPr>
            <a:r>
              <a:rPr lang="en-US" dirty="0">
                <a:cs typeface="+mn-cs"/>
              </a:rPr>
              <a:t>Plot shows Simulated vs Ideal I-V characteristics of the </a:t>
            </a:r>
            <a:r>
              <a:rPr lang="en-US" dirty="0" err="1">
                <a:cs typeface="+mn-cs"/>
              </a:rPr>
              <a:t>nMOS</a:t>
            </a:r>
            <a:r>
              <a:rPr lang="en-US" dirty="0">
                <a:cs typeface="+mn-cs"/>
              </a:rPr>
              <a:t> transistor. This plot highlights the difference between the ideal and non-ideal transistor. In the plot, it can be seen that the velocity saturation and mobility degradation for the simulated model is lower than that of the ideal transistor.</a:t>
            </a:r>
          </a:p>
          <a:p>
            <a:pPr eaLnBrk="1" hangingPunct="1">
              <a:defRPr/>
            </a:pPr>
            <a:endParaRPr lang="en-US" dirty="0">
              <a:cs typeface="+mn-cs"/>
            </a:endParaRPr>
          </a:p>
        </p:txBody>
      </p:sp>
    </p:spTree>
    <p:extLst>
      <p:ext uri="{BB962C8B-B14F-4D97-AF65-F5344CB8AC3E}">
        <p14:creationId xmlns:p14="http://schemas.microsoft.com/office/powerpoint/2010/main" val="1238299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F9455-A526-ED82-F744-EE3781AE0D9F}"/>
            </a:ext>
          </a:extLst>
        </p:cNvPr>
        <p:cNvGrpSpPr/>
        <p:nvPr/>
      </p:nvGrpSpPr>
      <p:grpSpPr>
        <a:xfrm>
          <a:off x="0" y="0"/>
          <a:ext cx="0" cy="0"/>
          <a:chOff x="0" y="0"/>
          <a:chExt cx="0" cy="0"/>
        </a:xfrm>
      </p:grpSpPr>
      <p:sp>
        <p:nvSpPr>
          <p:cNvPr id="24577" name="Rectangle 7">
            <a:extLst>
              <a:ext uri="{FF2B5EF4-FFF2-40B4-BE49-F238E27FC236}">
                <a16:creationId xmlns:a16="http://schemas.microsoft.com/office/drawing/2014/main" id="{4BD42D73-7606-4A5F-0946-E9D17F668E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4BF0B2C-6895-DB4F-A03C-BE61715EE605}" type="slidenum">
              <a:rPr lang="en-US" altLang="en-US"/>
              <a:pPr>
                <a:spcBef>
                  <a:spcPct val="0"/>
                </a:spcBef>
              </a:pPr>
              <a:t>6</a:t>
            </a:fld>
            <a:endParaRPr lang="en-US" altLang="en-US" dirty="0"/>
          </a:p>
        </p:txBody>
      </p:sp>
      <p:sp>
        <p:nvSpPr>
          <p:cNvPr id="24578" name="Rectangle 2">
            <a:extLst>
              <a:ext uri="{FF2B5EF4-FFF2-40B4-BE49-F238E27FC236}">
                <a16:creationId xmlns:a16="http://schemas.microsoft.com/office/drawing/2014/main" id="{86B03D69-801B-D592-675E-EFCDF859B107}"/>
              </a:ext>
            </a:extLst>
          </p:cNvPr>
          <p:cNvSpPr>
            <a:spLocks noGrp="1" noRot="1" noChangeAspect="1" noChangeArrowheads="1" noTextEdit="1"/>
          </p:cNvSpPr>
          <p:nvPr>
            <p:ph type="sldImg"/>
          </p:nvPr>
        </p:nvSpPr>
        <p:spPr>
          <a:xfrm>
            <a:off x="2363788" y="546100"/>
            <a:ext cx="4879975" cy="2746375"/>
          </a:xfrm>
          <a:ln/>
        </p:spPr>
      </p:sp>
      <p:sp>
        <p:nvSpPr>
          <p:cNvPr id="750595" name="Rectangle 3">
            <a:extLst>
              <a:ext uri="{FF2B5EF4-FFF2-40B4-BE49-F238E27FC236}">
                <a16:creationId xmlns:a16="http://schemas.microsoft.com/office/drawing/2014/main" id="{43A6B007-A43C-3316-0F6E-5F33741D27D4}"/>
              </a:ext>
            </a:extLst>
          </p:cNvPr>
          <p:cNvSpPr>
            <a:spLocks noGrp="1" noChangeArrowheads="1"/>
          </p:cNvSpPr>
          <p:nvPr>
            <p:ph type="body" idx="1"/>
          </p:nvPr>
        </p:nvSpPr>
        <p:spPr/>
        <p:txBody>
          <a:bodyPr/>
          <a:lstStyle/>
          <a:p>
            <a:pPr eaLnBrk="1" hangingPunct="1">
              <a:defRPr/>
            </a:pPr>
            <a:r>
              <a:rPr lang="en-US" dirty="0">
                <a:cs typeface="+mn-cs"/>
              </a:rPr>
              <a:t>Plot shows Simulated vs Ideal I-V characteristics of the </a:t>
            </a:r>
            <a:r>
              <a:rPr lang="en-US" dirty="0" err="1">
                <a:cs typeface="+mn-cs"/>
              </a:rPr>
              <a:t>nMOS</a:t>
            </a:r>
            <a:r>
              <a:rPr lang="en-US" dirty="0">
                <a:cs typeface="+mn-cs"/>
              </a:rPr>
              <a:t> transistor. This plot highlights the difference between the ideal and non-ideal transistor. In the plot, it can be seen that the velocity saturation and mobility degradation for the simulated model is lower than that of the ideal transistor.</a:t>
            </a:r>
          </a:p>
          <a:p>
            <a:pPr eaLnBrk="1" hangingPunct="1">
              <a:defRPr/>
            </a:pPr>
            <a:endParaRPr lang="en-US" dirty="0">
              <a:cs typeface="+mn-cs"/>
            </a:endParaRPr>
          </a:p>
        </p:txBody>
      </p:sp>
    </p:spTree>
    <p:extLst>
      <p:ext uri="{BB962C8B-B14F-4D97-AF65-F5344CB8AC3E}">
        <p14:creationId xmlns:p14="http://schemas.microsoft.com/office/powerpoint/2010/main" val="1763603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074A1-E036-C16C-9307-78C2635C33EF}"/>
            </a:ext>
          </a:extLst>
        </p:cNvPr>
        <p:cNvGrpSpPr/>
        <p:nvPr/>
      </p:nvGrpSpPr>
      <p:grpSpPr>
        <a:xfrm>
          <a:off x="0" y="0"/>
          <a:ext cx="0" cy="0"/>
          <a:chOff x="0" y="0"/>
          <a:chExt cx="0" cy="0"/>
        </a:xfrm>
      </p:grpSpPr>
      <p:sp>
        <p:nvSpPr>
          <p:cNvPr id="24577" name="Rectangle 7">
            <a:extLst>
              <a:ext uri="{FF2B5EF4-FFF2-40B4-BE49-F238E27FC236}">
                <a16:creationId xmlns:a16="http://schemas.microsoft.com/office/drawing/2014/main" id="{96D4E87D-DB55-38C0-D121-8C8FAA2B31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74BF0B2C-6895-DB4F-A03C-BE61715EE605}" type="slidenum">
              <a:rPr lang="en-US" altLang="en-US"/>
              <a:pPr>
                <a:spcBef>
                  <a:spcPct val="0"/>
                </a:spcBef>
              </a:pPr>
              <a:t>7</a:t>
            </a:fld>
            <a:endParaRPr lang="en-US" altLang="en-US" dirty="0"/>
          </a:p>
        </p:txBody>
      </p:sp>
      <p:sp>
        <p:nvSpPr>
          <p:cNvPr id="24578" name="Rectangle 2">
            <a:extLst>
              <a:ext uri="{FF2B5EF4-FFF2-40B4-BE49-F238E27FC236}">
                <a16:creationId xmlns:a16="http://schemas.microsoft.com/office/drawing/2014/main" id="{9821291C-EF1A-EBE0-410A-DF91CB1635B6}"/>
              </a:ext>
            </a:extLst>
          </p:cNvPr>
          <p:cNvSpPr>
            <a:spLocks noGrp="1" noRot="1" noChangeAspect="1" noChangeArrowheads="1" noTextEdit="1"/>
          </p:cNvSpPr>
          <p:nvPr>
            <p:ph type="sldImg"/>
          </p:nvPr>
        </p:nvSpPr>
        <p:spPr>
          <a:xfrm>
            <a:off x="2363788" y="546100"/>
            <a:ext cx="4879975" cy="2746375"/>
          </a:xfrm>
          <a:ln/>
        </p:spPr>
      </p:sp>
      <p:sp>
        <p:nvSpPr>
          <p:cNvPr id="750595" name="Rectangle 3">
            <a:extLst>
              <a:ext uri="{FF2B5EF4-FFF2-40B4-BE49-F238E27FC236}">
                <a16:creationId xmlns:a16="http://schemas.microsoft.com/office/drawing/2014/main" id="{BE8A03C3-7136-0159-D50D-74C3C376263E}"/>
              </a:ext>
            </a:extLst>
          </p:cNvPr>
          <p:cNvSpPr>
            <a:spLocks noGrp="1" noChangeArrowheads="1"/>
          </p:cNvSpPr>
          <p:nvPr>
            <p:ph type="body" idx="1"/>
          </p:nvPr>
        </p:nvSpPr>
        <p:spPr/>
        <p:txBody>
          <a:bodyPr/>
          <a:lstStyle/>
          <a:p>
            <a:pPr eaLnBrk="1" hangingPunct="1">
              <a:defRPr/>
            </a:pPr>
            <a:r>
              <a:rPr lang="en-US" dirty="0">
                <a:cs typeface="+mn-cs"/>
              </a:rPr>
              <a:t>Plot shows Simulated vs Ideal I-V characteristics of the </a:t>
            </a:r>
            <a:r>
              <a:rPr lang="en-US" dirty="0" err="1">
                <a:cs typeface="+mn-cs"/>
              </a:rPr>
              <a:t>nMOS</a:t>
            </a:r>
            <a:r>
              <a:rPr lang="en-US" dirty="0">
                <a:cs typeface="+mn-cs"/>
              </a:rPr>
              <a:t> transistor. This plot highlights the difference between the ideal and non-ideal transistor. In the plot, it can be seen that the velocity saturation and mobility degradation for the simulated model is lower than that of the ideal transistor.</a:t>
            </a:r>
          </a:p>
          <a:p>
            <a:pPr eaLnBrk="1" hangingPunct="1">
              <a:defRPr/>
            </a:pPr>
            <a:endParaRPr lang="en-US" dirty="0">
              <a:cs typeface="+mn-cs"/>
            </a:endParaRPr>
          </a:p>
        </p:txBody>
      </p:sp>
    </p:spTree>
    <p:extLst>
      <p:ext uri="{BB962C8B-B14F-4D97-AF65-F5344CB8AC3E}">
        <p14:creationId xmlns:p14="http://schemas.microsoft.com/office/powerpoint/2010/main" val="3247444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45F50C77-4740-DF4E-8533-6D7FE03ACE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D0F8EFA-4AC1-DF40-A0F4-72C7AC290484}" type="slidenum">
              <a:rPr lang="en-US" altLang="en-US"/>
              <a:pPr>
                <a:spcBef>
                  <a:spcPct val="0"/>
                </a:spcBef>
              </a:pPr>
              <a:t>8</a:t>
            </a:fld>
            <a:endParaRPr lang="en-US" altLang="en-US" dirty="0"/>
          </a:p>
        </p:txBody>
      </p:sp>
      <p:sp>
        <p:nvSpPr>
          <p:cNvPr id="55298" name="Rectangle 2">
            <a:extLst>
              <a:ext uri="{FF2B5EF4-FFF2-40B4-BE49-F238E27FC236}">
                <a16:creationId xmlns:a16="http://schemas.microsoft.com/office/drawing/2014/main" id="{E41678AB-3A08-964F-8F1F-A48059F13C74}"/>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49A749A1-11C9-284E-AB70-91714D0B61B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3998847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AEB6A8AB-569C-C44B-8438-2F9E60352A0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D599E2B-290D-9440-9F27-6C1B69376640}" type="slidenum">
              <a:rPr lang="en-US" altLang="en-US"/>
              <a:pPr>
                <a:spcBef>
                  <a:spcPct val="0"/>
                </a:spcBef>
              </a:pPr>
              <a:t>9</a:t>
            </a:fld>
            <a:endParaRPr lang="en-US" altLang="en-US" dirty="0"/>
          </a:p>
        </p:txBody>
      </p:sp>
      <p:sp>
        <p:nvSpPr>
          <p:cNvPr id="57346" name="Rectangle 2">
            <a:extLst>
              <a:ext uri="{FF2B5EF4-FFF2-40B4-BE49-F238E27FC236}">
                <a16:creationId xmlns:a16="http://schemas.microsoft.com/office/drawing/2014/main" id="{D9D80822-9556-264E-9DB4-54F8E0FC3637}"/>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F6016070-9B39-A246-B27E-34757E57870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235073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50F86684-33AF-BE40-9F3D-D0C9763557A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C7534CB-D39F-7E45-AFA6-42327D9A52E6}" type="slidenum">
              <a:rPr lang="en-US" altLang="en-US"/>
              <a:pPr>
                <a:spcBef>
                  <a:spcPct val="0"/>
                </a:spcBef>
              </a:pPr>
              <a:t>10</a:t>
            </a:fld>
            <a:endParaRPr lang="en-US" altLang="en-US" dirty="0"/>
          </a:p>
        </p:txBody>
      </p:sp>
      <p:sp>
        <p:nvSpPr>
          <p:cNvPr id="59394" name="Rectangle 2">
            <a:extLst>
              <a:ext uri="{FF2B5EF4-FFF2-40B4-BE49-F238E27FC236}">
                <a16:creationId xmlns:a16="http://schemas.microsoft.com/office/drawing/2014/main" id="{D92C30E5-995F-2C4C-B303-1E58C0428789}"/>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48470AFB-471A-E141-83D6-E976471D38C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Contamination delay is the minimum time from when the input changes to 50% of its value to when the output changes to 50% of its value.</a:t>
            </a:r>
          </a:p>
        </p:txBody>
      </p:sp>
    </p:spTree>
    <p:extLst>
      <p:ext uri="{BB962C8B-B14F-4D97-AF65-F5344CB8AC3E}">
        <p14:creationId xmlns:p14="http://schemas.microsoft.com/office/powerpoint/2010/main" val="2624642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87215711-707A-E84F-8267-544CCC17E9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A001E15-E945-6041-A099-5792757D2BE4}" type="slidenum">
              <a:rPr lang="en-US" altLang="en-US"/>
              <a:pPr>
                <a:spcBef>
                  <a:spcPct val="0"/>
                </a:spcBef>
              </a:pPr>
              <a:t>11</a:t>
            </a:fld>
            <a:endParaRPr lang="en-US" altLang="en-US" dirty="0"/>
          </a:p>
        </p:txBody>
      </p:sp>
      <p:sp>
        <p:nvSpPr>
          <p:cNvPr id="63490" name="Rectangle 2">
            <a:extLst>
              <a:ext uri="{FF2B5EF4-FFF2-40B4-BE49-F238E27FC236}">
                <a16:creationId xmlns:a16="http://schemas.microsoft.com/office/drawing/2014/main" id="{BCF93C30-A361-C04D-A982-EB449B028B93}"/>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2074538B-016D-A746-8777-948F1DCAAB9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a:effectLst/>
                <a:ea typeface="ＭＳ Ｐゴシック"/>
                <a:cs typeface="Calibri"/>
              </a:rPr>
              <a:t>Step response use RC delay models to estimate delay.</a:t>
            </a:r>
          </a:p>
          <a:p>
            <a:pPr eaLnBrk="1" hangingPunct="1"/>
            <a:endParaRPr lang="en-GB" dirty="0">
              <a:effectLst/>
              <a:cs typeface="Calibri"/>
            </a:endParaRPr>
          </a:p>
          <a:p>
            <a:pPr eaLnBrk="1" hangingPunct="1"/>
            <a:r>
              <a:rPr lang="en-GB" dirty="0">
                <a:effectLst/>
                <a:ea typeface="ＭＳ Ｐゴシック"/>
                <a:cs typeface="Calibri"/>
              </a:rPr>
              <a:t>C=strain capacitance and R is the equivalent resistance of the transistors, depending on its average current.</a:t>
            </a:r>
          </a:p>
        </p:txBody>
      </p:sp>
    </p:spTree>
    <p:extLst>
      <p:ext uri="{BB962C8B-B14F-4D97-AF65-F5344CB8AC3E}">
        <p14:creationId xmlns:p14="http://schemas.microsoft.com/office/powerpoint/2010/main" val="2153341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11FD56BC-7257-9B42-A102-A0EECF22E2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0BF659B-6BDA-034A-B3FC-6B8A8402CA0D}" type="slidenum">
              <a:rPr lang="en-US" altLang="en-US"/>
              <a:pPr>
                <a:spcBef>
                  <a:spcPct val="0"/>
                </a:spcBef>
              </a:pPr>
              <a:t>12</a:t>
            </a:fld>
            <a:endParaRPr lang="en-US" altLang="en-US" dirty="0"/>
          </a:p>
        </p:txBody>
      </p:sp>
      <p:sp>
        <p:nvSpPr>
          <p:cNvPr id="65538" name="Rectangle 2">
            <a:extLst>
              <a:ext uri="{FF2B5EF4-FFF2-40B4-BE49-F238E27FC236}">
                <a16:creationId xmlns:a16="http://schemas.microsoft.com/office/drawing/2014/main" id="{82D703F7-38DE-704D-A401-E91BCBC67105}"/>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E2315E6E-33C3-B440-9E77-80A68F1ECA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To find the effective resistance of a transistor, the Shockley model can be used, however this model is limited because it is not suitable for modern transistors.</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r>
              <a:rPr lang="en-US" altLang="en-US" dirty="0">
                <a:latin typeface="Times New Roman" panose="02020603050405020304" pitchFamily="18" charset="0"/>
                <a:ea typeface="ＭＳ Ｐゴシック" panose="020B0600070205080204" pitchFamily="34" charset="-128"/>
              </a:rPr>
              <a:t>The designer can treat the transistor as a resistor. This approach is good enough to predict RC delay of the transistor.</a:t>
            </a:r>
          </a:p>
        </p:txBody>
      </p:sp>
    </p:spTree>
    <p:extLst>
      <p:ext uri="{BB962C8B-B14F-4D97-AF65-F5344CB8AC3E}">
        <p14:creationId xmlns:p14="http://schemas.microsoft.com/office/powerpoint/2010/main" val="1611835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B60CEF41-3281-D34A-8F51-8C51DD74206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4DBE3A05-75F7-C242-9EF9-DDC236D9DF91}" type="slidenum">
              <a:rPr lang="en-US" altLang="en-US"/>
              <a:pPr>
                <a:spcBef>
                  <a:spcPct val="0"/>
                </a:spcBef>
              </a:pPr>
              <a:t>13</a:t>
            </a:fld>
            <a:endParaRPr lang="en-US" altLang="en-US" dirty="0"/>
          </a:p>
        </p:txBody>
      </p:sp>
      <p:sp>
        <p:nvSpPr>
          <p:cNvPr id="67586" name="Rectangle 2">
            <a:extLst>
              <a:ext uri="{FF2B5EF4-FFF2-40B4-BE49-F238E27FC236}">
                <a16:creationId xmlns:a16="http://schemas.microsoft.com/office/drawing/2014/main" id="{1AE084AC-EA91-9743-A6D0-B4C9C3D79833}"/>
              </a:ext>
            </a:extLst>
          </p:cNvPr>
          <p:cNvSpPr>
            <a:spLocks noGrp="1" noRot="1" noChangeAspect="1" noChangeArrowheads="1" noTextEdit="1"/>
          </p:cNvSpPr>
          <p:nvPr>
            <p:ph type="sldImg"/>
          </p:nvPr>
        </p:nvSpPr>
        <p:spPr>
          <a:xfrm>
            <a:off x="2365375" y="549275"/>
            <a:ext cx="4876800" cy="2743200"/>
          </a:xfrm>
          <a:ln/>
        </p:spPr>
      </p:sp>
      <p:sp>
        <p:nvSpPr>
          <p:cNvPr id="67587" name="Rectangle 3">
            <a:extLst>
              <a:ext uri="{FF2B5EF4-FFF2-40B4-BE49-F238E27FC236}">
                <a16:creationId xmlns:a16="http://schemas.microsoft.com/office/drawing/2014/main" id="{4BF0E8C6-9F52-4B42-ABD0-9C470441D1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0" dirty="0">
                <a:latin typeface="Times New Roman"/>
                <a:ea typeface="ＭＳ Ｐゴシック"/>
                <a:cs typeface="Times New Roman"/>
              </a:rPr>
              <a:t>Here, we have some guidelines to transform transistors into equivalent</a:t>
            </a:r>
            <a:r>
              <a:rPr lang="en-US" b="0" dirty="0">
                <a:ea typeface="ＭＳ Ｐゴシック"/>
                <a:cs typeface="Calibri"/>
              </a:rPr>
              <a:t> circuits. </a:t>
            </a:r>
          </a:p>
          <a:p>
            <a:pPr eaLnBrk="1" hangingPunct="1"/>
            <a:endParaRPr lang="en-US" b="0" dirty="0">
              <a:ea typeface="ＭＳ Ｐゴシック"/>
              <a:cs typeface="Calibri"/>
            </a:endParaRPr>
          </a:p>
          <a:p>
            <a:pPr eaLnBrk="1" hangingPunct="1"/>
            <a:r>
              <a:rPr lang="en-US" b="0" dirty="0">
                <a:ea typeface="ＭＳ Ｐゴシック"/>
                <a:cs typeface="Calibri"/>
              </a:rPr>
              <a:t>Treat the transistor as an</a:t>
            </a:r>
            <a:r>
              <a:rPr lang="en-US" altLang="en-US" b="0" dirty="0">
                <a:latin typeface="Times New Roman"/>
                <a:ea typeface="ＭＳ Ｐゴシック"/>
                <a:cs typeface="Times New Roman"/>
              </a:rPr>
              <a:t> ideal switch with Resistance (in on condition) and Capacitance (all connected to 0V/Vdd).</a:t>
            </a:r>
          </a:p>
          <a:p>
            <a:pPr eaLnBrk="1" hangingPunct="1"/>
            <a:endParaRPr lang="en-US" altLang="en-US" b="0"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b="0" dirty="0">
                <a:latin typeface="Times New Roman" panose="02020603050405020304" pitchFamily="18" charset="0"/>
                <a:ea typeface="ＭＳ Ｐゴシック" panose="020B0600070205080204" pitchFamily="34" charset="-128"/>
              </a:rPr>
              <a:t>nMOS has resistance R (between the gate to source) divided by the constant of the transistor and capacitance C (connected to Vdd) multiplied by the constant of the transistor.</a:t>
            </a:r>
          </a:p>
          <a:p>
            <a:pPr eaLnBrk="1" hangingPunct="1"/>
            <a:endParaRPr lang="en-US" altLang="en-US" b="0" dirty="0">
              <a:latin typeface="Times New Roman" panose="02020603050405020304" pitchFamily="18" charset="0"/>
              <a:ea typeface="ＭＳ Ｐゴシック" panose="020B0600070205080204" pitchFamily="34" charset="-128"/>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b="0" dirty="0">
                <a:latin typeface="Times New Roman" panose="02020603050405020304" pitchFamily="18" charset="0"/>
                <a:ea typeface="ＭＳ Ｐゴシック" panose="020B0600070205080204" pitchFamily="34" charset="-128"/>
              </a:rPr>
              <a:t>pMOS has resistance 2R (between the gate to the drain) divided by the constant of the transistor and capacitance C (connected to 0 V) multiplied by the constant of the transistor.</a:t>
            </a:r>
          </a:p>
          <a:p>
            <a:pPr eaLnBrk="1" hangingPunct="1"/>
            <a:endParaRPr lang="en-US" altLang="en-US" b="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866956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67F80F74-C73D-EE45-BC44-2C3596DF30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944194D-7639-C645-BE3F-A473AA612A61}" type="slidenum">
              <a:rPr lang="en-US" altLang="en-US"/>
              <a:pPr>
                <a:spcBef>
                  <a:spcPct val="0"/>
                </a:spcBef>
              </a:pPr>
              <a:t>14</a:t>
            </a:fld>
            <a:endParaRPr lang="en-US" altLang="en-US" dirty="0"/>
          </a:p>
        </p:txBody>
      </p:sp>
      <p:sp>
        <p:nvSpPr>
          <p:cNvPr id="69634" name="Rectangle 2">
            <a:extLst>
              <a:ext uri="{FF2B5EF4-FFF2-40B4-BE49-F238E27FC236}">
                <a16:creationId xmlns:a16="http://schemas.microsoft.com/office/drawing/2014/main" id="{37451788-4512-AF40-975E-E2A755D36A89}"/>
              </a:ext>
            </a:extLst>
          </p:cNvPr>
          <p:cNvSpPr>
            <a:spLocks noGrp="1" noRot="1" noChangeAspect="1" noChangeArrowheads="1" noTextEdit="1"/>
          </p:cNvSpPr>
          <p:nvPr>
            <p:ph type="sldImg"/>
          </p:nvPr>
        </p:nvSpPr>
        <p:spPr>
          <a:xfrm>
            <a:off x="2365375" y="549275"/>
            <a:ext cx="4876800" cy="2743200"/>
          </a:xfrm>
          <a:ln/>
        </p:spPr>
      </p:sp>
      <p:sp>
        <p:nvSpPr>
          <p:cNvPr id="69635" name="Rectangle 3">
            <a:extLst>
              <a:ext uri="{FF2B5EF4-FFF2-40B4-BE49-F238E27FC236}">
                <a16:creationId xmlns:a16="http://schemas.microsoft.com/office/drawing/2014/main" id="{5D7AEAAB-3BC6-B745-A1AA-3D3055D123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a:ea typeface="ＭＳ Ｐゴシック"/>
              <a:cs typeface="Times New Roman"/>
            </a:endParaRPr>
          </a:p>
        </p:txBody>
      </p:sp>
    </p:spTree>
    <p:extLst>
      <p:ext uri="{BB962C8B-B14F-4D97-AF65-F5344CB8AC3E}">
        <p14:creationId xmlns:p14="http://schemas.microsoft.com/office/powerpoint/2010/main" val="2647609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236FDCA7-4833-3E41-8D01-73FCA03EB7D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48885AC-AA43-E749-A9B1-309A35BC94C7}" type="slidenum">
              <a:rPr lang="en-US" altLang="en-US"/>
              <a:pPr>
                <a:spcBef>
                  <a:spcPct val="0"/>
                </a:spcBef>
              </a:pPr>
              <a:t>15</a:t>
            </a:fld>
            <a:endParaRPr lang="en-US" altLang="en-US" dirty="0"/>
          </a:p>
        </p:txBody>
      </p:sp>
      <p:sp>
        <p:nvSpPr>
          <p:cNvPr id="71682" name="Rectangle 2">
            <a:extLst>
              <a:ext uri="{FF2B5EF4-FFF2-40B4-BE49-F238E27FC236}">
                <a16:creationId xmlns:a16="http://schemas.microsoft.com/office/drawing/2014/main" id="{F748CCFE-12C0-4F46-B9D9-2A3356A66A97}"/>
              </a:ext>
            </a:extLst>
          </p:cNvPr>
          <p:cNvSpPr>
            <a:spLocks noGrp="1" noRot="1" noChangeAspect="1" noChangeArrowheads="1" noTextEdit="1"/>
          </p:cNvSpPr>
          <p:nvPr>
            <p:ph type="sldImg"/>
          </p:nvPr>
        </p:nvSpPr>
        <p:spPr>
          <a:xfrm>
            <a:off x="2365375" y="549275"/>
            <a:ext cx="4876800" cy="2743200"/>
          </a:xfrm>
          <a:ln/>
        </p:spPr>
      </p:sp>
      <p:sp>
        <p:nvSpPr>
          <p:cNvPr id="71683" name="Rectangle 3">
            <a:extLst>
              <a:ext uri="{FF2B5EF4-FFF2-40B4-BE49-F238E27FC236}">
                <a16:creationId xmlns:a16="http://schemas.microsoft.com/office/drawing/2014/main" id="{BDB23E5D-4940-8042-937D-0BDFA4C790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First, transform the transistors into the ideal switch with resistances and capacitances. </a:t>
            </a:r>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a:ea typeface="ＭＳ Ｐゴシック"/>
              <a:cs typeface="Times New Roman"/>
            </a:endParaRPr>
          </a:p>
          <a:p>
            <a:pPr eaLnBrk="1" hangingPunct="1"/>
            <a:r>
              <a:rPr lang="en-US" altLang="en-US" dirty="0">
                <a:latin typeface="Times New Roman"/>
                <a:ea typeface="ＭＳ Ｐゴシック"/>
                <a:cs typeface="Times New Roman"/>
              </a:rPr>
              <a:t>Next consider only the active network based on the input value. The delay through the active network can be calculated by multiplying the total resistance (R) with the total capacitance (6C because capacitances are in parallel).</a:t>
            </a:r>
          </a:p>
          <a:p>
            <a:pPr eaLnBrk="1" hangingPunct="1"/>
            <a:r>
              <a:rPr lang="en-US" altLang="en-US" dirty="0">
                <a:latin typeface="Times New Roman"/>
                <a:ea typeface="ＭＳ Ｐゴシック"/>
                <a:cs typeface="Times New Roman"/>
              </a:rPr>
              <a:t> tpd=6RC.</a:t>
            </a:r>
          </a:p>
        </p:txBody>
      </p:sp>
    </p:spTree>
    <p:extLst>
      <p:ext uri="{BB962C8B-B14F-4D97-AF65-F5344CB8AC3E}">
        <p14:creationId xmlns:p14="http://schemas.microsoft.com/office/powerpoint/2010/main" val="750721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a:extLst>
              <a:ext uri="{FF2B5EF4-FFF2-40B4-BE49-F238E27FC236}">
                <a16:creationId xmlns:a16="http://schemas.microsoft.com/office/drawing/2014/main" id="{6061CBC4-451C-9143-84D8-E59A2C1D570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A6CD1E5E-09F3-A645-BC97-759A98EA94DE}" type="slidenum">
              <a:rPr lang="en-US" altLang="en-US"/>
              <a:pPr>
                <a:spcBef>
                  <a:spcPct val="0"/>
                </a:spcBef>
              </a:pPr>
              <a:t>16</a:t>
            </a:fld>
            <a:endParaRPr lang="en-US" altLang="en-US" dirty="0"/>
          </a:p>
        </p:txBody>
      </p:sp>
      <p:sp>
        <p:nvSpPr>
          <p:cNvPr id="73730" name="Rectangle 2">
            <a:extLst>
              <a:ext uri="{FF2B5EF4-FFF2-40B4-BE49-F238E27FC236}">
                <a16:creationId xmlns:a16="http://schemas.microsoft.com/office/drawing/2014/main" id="{B40AE28C-5775-B94D-A1F0-0CFE1031DB41}"/>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971BDD90-2C98-7343-9DD7-04F7A4FF79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9495079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BA0F7038-AC0C-4E40-AF1D-812FA31C0A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6E2D488-B50A-5A4B-85CD-C11353B1CDEF}" type="slidenum">
              <a:rPr lang="en-US" altLang="en-US"/>
              <a:pPr>
                <a:spcBef>
                  <a:spcPct val="0"/>
                </a:spcBef>
              </a:pPr>
              <a:t>17</a:t>
            </a:fld>
            <a:endParaRPr lang="en-US" altLang="en-US" dirty="0"/>
          </a:p>
        </p:txBody>
      </p:sp>
      <p:sp>
        <p:nvSpPr>
          <p:cNvPr id="75778" name="Rectangle 2">
            <a:extLst>
              <a:ext uri="{FF2B5EF4-FFF2-40B4-BE49-F238E27FC236}">
                <a16:creationId xmlns:a16="http://schemas.microsoft.com/office/drawing/2014/main" id="{4E39E83B-0A14-8448-A11F-1EC031351AA1}"/>
              </a:ext>
            </a:extLst>
          </p:cNvPr>
          <p:cNvSpPr>
            <a:spLocks noGrp="1" noRot="1" noChangeAspect="1" noChangeArrowheads="1" noTextEdit="1"/>
          </p:cNvSpPr>
          <p:nvPr>
            <p:ph type="sldImg"/>
          </p:nvPr>
        </p:nvSpPr>
        <p:spPr>
          <a:xfrm>
            <a:off x="2365375" y="549275"/>
            <a:ext cx="4876800" cy="2743200"/>
          </a:xfrm>
          <a:ln/>
        </p:spPr>
      </p:sp>
      <p:sp>
        <p:nvSpPr>
          <p:cNvPr id="75779" name="Rectangle 3">
            <a:extLst>
              <a:ext uri="{FF2B5EF4-FFF2-40B4-BE49-F238E27FC236}">
                <a16:creationId xmlns:a16="http://schemas.microsoft.com/office/drawing/2014/main" id="{612A30C1-6727-CD42-88BC-73DB32F6A2D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a:ea typeface="ＭＳ Ｐゴシック"/>
                <a:cs typeface="Times New Roman"/>
              </a:rPr>
              <a:t>Example of a 3-input NAND gate with gate sizing to achieve effective rise and fall resistance equal to a unit inverter.</a:t>
            </a: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a:p>
            <a:pPr marL="0" marR="0" lvl="0" indent="0" algn="l" defTabSz="914400" rtl="0" eaLnBrk="1" fontAlgn="base" latinLnBrk="0" hangingPunct="1">
              <a:lnSpc>
                <a:spcPct val="100000"/>
              </a:lnSpc>
              <a:spcBef>
                <a:spcPts val="600"/>
              </a:spcBef>
              <a:spcAft>
                <a:spcPct val="0"/>
              </a:spcAft>
              <a:buClrTx/>
              <a:buSzTx/>
              <a:buFontTx/>
              <a:buNone/>
              <a:tabLst/>
              <a:defRPr/>
            </a:pPr>
            <a:r>
              <a:rPr lang="en-US" altLang="en-US" dirty="0">
                <a:latin typeface="Times New Roman"/>
                <a:ea typeface="ＭＳ Ｐゴシック"/>
                <a:cs typeface="Times New Roman"/>
              </a:rPr>
              <a:t>All the </a:t>
            </a:r>
            <a:r>
              <a:rPr lang="en-US" altLang="en-US" dirty="0" err="1">
                <a:latin typeface="Times New Roman"/>
                <a:ea typeface="ＭＳ Ｐゴシック"/>
                <a:cs typeface="Times New Roman"/>
              </a:rPr>
              <a:t>pMOS</a:t>
            </a:r>
            <a:r>
              <a:rPr lang="en-US" altLang="en-US" dirty="0">
                <a:latin typeface="Times New Roman"/>
                <a:ea typeface="ＭＳ Ｐゴシック"/>
                <a:cs typeface="Times New Roman"/>
              </a:rPr>
              <a:t> have constant k=2 and all the nMOS have constant k=3.</a:t>
            </a:r>
          </a:p>
          <a:p>
            <a:pPr marL="0" marR="0" lvl="0" indent="0" algn="l" defTabSz="914400" rtl="0" eaLnBrk="1" fontAlgn="base" latinLnBrk="0" hangingPunct="1">
              <a:lnSpc>
                <a:spcPct val="100000"/>
              </a:lnSpc>
              <a:spcBef>
                <a:spcPts val="600"/>
              </a:spcBef>
              <a:spcAft>
                <a:spcPct val="0"/>
              </a:spcAft>
              <a:buClrTx/>
              <a:buSzTx/>
              <a:buFontTx/>
              <a:buNone/>
              <a:tabLst/>
              <a:defRPr/>
            </a:pPr>
            <a:endParaRPr lang="en-US" altLang="en-US" dirty="0">
              <a:latin typeface="Times New Roman" panose="02020603050405020304" pitchFamily="18" charset="0"/>
              <a:ea typeface="ＭＳ Ｐゴシック" panose="020B0600070205080204" pitchFamily="34" charset="-128"/>
              <a:cs typeface="Times New Roman"/>
            </a:endParaRPr>
          </a:p>
          <a:p>
            <a:pPr eaLnBrk="1" hangingPunct="1"/>
            <a:endParaRPr lang="en-US" altLang="en-US" dirty="0">
              <a:latin typeface="Times New Roman" panose="02020603050405020304" pitchFamily="18" charset="0"/>
              <a:ea typeface="ＭＳ Ｐゴシック" panose="020B0600070205080204" pitchFamily="34" charset="-128"/>
              <a:cs typeface="Times New Roman"/>
            </a:endParaRPr>
          </a:p>
        </p:txBody>
      </p:sp>
    </p:spTree>
    <p:extLst>
      <p:ext uri="{BB962C8B-B14F-4D97-AF65-F5344CB8AC3E}">
        <p14:creationId xmlns:p14="http://schemas.microsoft.com/office/powerpoint/2010/main" val="1203977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A9100F90-1897-E94E-8937-5E29EEAD1DA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8C2C01D3-604E-6D48-8719-7C8350864D99}" type="slidenum">
              <a:rPr lang="en-US" altLang="en-US"/>
              <a:pPr>
                <a:spcBef>
                  <a:spcPct val="0"/>
                </a:spcBef>
              </a:pPr>
              <a:t>18</a:t>
            </a:fld>
            <a:endParaRPr lang="en-US" altLang="en-US" dirty="0"/>
          </a:p>
        </p:txBody>
      </p:sp>
      <p:sp>
        <p:nvSpPr>
          <p:cNvPr id="77826" name="Rectangle 2">
            <a:extLst>
              <a:ext uri="{FF2B5EF4-FFF2-40B4-BE49-F238E27FC236}">
                <a16:creationId xmlns:a16="http://schemas.microsoft.com/office/drawing/2014/main" id="{11E1FE5C-BEAA-C540-A70E-30D00AD1C070}"/>
              </a:ext>
            </a:extLst>
          </p:cNvPr>
          <p:cNvSpPr>
            <a:spLocks noGrp="1" noRot="1" noChangeAspect="1" noChangeArrowheads="1" noTextEdit="1"/>
          </p:cNvSpPr>
          <p:nvPr>
            <p:ph type="sldImg"/>
          </p:nvPr>
        </p:nvSpPr>
        <p:spPr>
          <a:xfrm>
            <a:off x="2365375" y="549275"/>
            <a:ext cx="4876800" cy="2743200"/>
          </a:xfrm>
          <a:ln/>
        </p:spPr>
      </p:sp>
      <p:sp>
        <p:nvSpPr>
          <p:cNvPr id="77827" name="Rectangle 3">
            <a:extLst>
              <a:ext uri="{FF2B5EF4-FFF2-40B4-BE49-F238E27FC236}">
                <a16:creationId xmlns:a16="http://schemas.microsoft.com/office/drawing/2014/main" id="{30E257F3-E134-4B43-AB61-6EEBD0F0272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0"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506711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E27CF6FA-074E-934C-A037-57EAF3B28D3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D0D35716-1203-7E48-9045-F02ECC1A063A}" type="slidenum">
              <a:rPr lang="en-US" altLang="en-US"/>
              <a:pPr>
                <a:spcBef>
                  <a:spcPct val="0"/>
                </a:spcBef>
              </a:pPr>
              <a:t>19</a:t>
            </a:fld>
            <a:endParaRPr lang="en-US" altLang="en-US" dirty="0"/>
          </a:p>
        </p:txBody>
      </p:sp>
      <p:sp>
        <p:nvSpPr>
          <p:cNvPr id="79874" name="Rectangle 2">
            <a:extLst>
              <a:ext uri="{FF2B5EF4-FFF2-40B4-BE49-F238E27FC236}">
                <a16:creationId xmlns:a16="http://schemas.microsoft.com/office/drawing/2014/main" id="{70974816-B35C-2D4D-BB9C-6D005E4BFE0E}"/>
              </a:ext>
            </a:extLst>
          </p:cNvPr>
          <p:cNvSpPr>
            <a:spLocks noGrp="1" noRot="1" noChangeAspect="1" noChangeArrowheads="1" noTextEdit="1"/>
          </p:cNvSpPr>
          <p:nvPr>
            <p:ph type="sldImg"/>
          </p:nvPr>
        </p:nvSpPr>
        <p:spPr>
          <a:xfrm>
            <a:off x="2365375" y="549275"/>
            <a:ext cx="4876800" cy="2743200"/>
          </a:xfrm>
          <a:ln/>
        </p:spPr>
      </p:sp>
      <p:sp>
        <p:nvSpPr>
          <p:cNvPr id="79875" name="Rectangle 3">
            <a:extLst>
              <a:ext uri="{FF2B5EF4-FFF2-40B4-BE49-F238E27FC236}">
                <a16:creationId xmlns:a16="http://schemas.microsoft.com/office/drawing/2014/main" id="{7854E1AF-37A0-2744-8B4D-B90E309CF9F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rtl="0" fontAlgn="base"/>
            <a:r>
              <a:rPr lang="en-GB" sz="1800" b="0" i="0" dirty="0">
                <a:solidFill>
                  <a:srgbClr val="444444"/>
                </a:solidFill>
                <a:effectLst/>
                <a:latin typeface="Times New Roman" panose="02020603050405020304" pitchFamily="18" charset="0"/>
              </a:rPr>
              <a:t>Elmore Delay: It is</a:t>
            </a:r>
            <a:r>
              <a:rPr lang="en-GB" sz="1800" b="0" i="0" dirty="0">
                <a:solidFill>
                  <a:srgbClr val="444444"/>
                </a:solidFill>
                <a:effectLst/>
                <a:latin typeface="Calibri" panose="020F0502020204030204" pitchFamily="34" charset="0"/>
              </a:rPr>
              <a:t> usually used for tree-structured networks where the formula is similar to the </a:t>
            </a:r>
            <a:r>
              <a:rPr lang="en-GB" sz="1800" b="0" i="0" dirty="0" err="1">
                <a:solidFill>
                  <a:srgbClr val="444444"/>
                </a:solidFill>
                <a:effectLst/>
                <a:latin typeface="Calibri" panose="020F0502020204030204" pitchFamily="34" charset="0"/>
              </a:rPr>
              <a:t>tpd</a:t>
            </a:r>
            <a:r>
              <a:rPr lang="en-GB" sz="1800" b="0" i="0" dirty="0">
                <a:solidFill>
                  <a:srgbClr val="444444"/>
                </a:solidFill>
                <a:effectLst/>
                <a:latin typeface="Calibri" panose="020F0502020204030204" pitchFamily="34" charset="0"/>
              </a:rPr>
              <a:t> where it is the sum of RC. </a:t>
            </a:r>
            <a:endParaRPr lang="en-GB" b="0" i="0" dirty="0">
              <a:solidFill>
                <a:srgbClr val="000000"/>
              </a:solidFill>
              <a:effectLst/>
              <a:latin typeface="Segoe UI" panose="020B0502040204020203" pitchFamily="34" charset="0"/>
            </a:endParaRPr>
          </a:p>
          <a:p>
            <a:pPr algn="l" rtl="0" fontAlgn="base"/>
            <a:r>
              <a:rPr lang="en-GB" sz="1800" b="0" i="0" dirty="0">
                <a:solidFill>
                  <a:srgbClr val="444444"/>
                </a:solidFill>
                <a:effectLst/>
                <a:latin typeface="Times New Roman" panose="02020603050405020304" pitchFamily="18" charset="0"/>
              </a:rPr>
              <a:t> </a:t>
            </a:r>
            <a:endParaRPr lang="en-GB" b="0" i="0" dirty="0">
              <a:solidFill>
                <a:srgbClr val="000000"/>
              </a:solidFill>
              <a:effectLst/>
              <a:latin typeface="Segoe UI" panose="020B0502040204020203" pitchFamily="34" charset="0"/>
            </a:endParaRPr>
          </a:p>
          <a:p>
            <a:pPr algn="l" rtl="0" fontAlgn="base"/>
            <a:r>
              <a:rPr lang="en-GB" sz="1800" b="0" i="0" dirty="0">
                <a:solidFill>
                  <a:srgbClr val="444444"/>
                </a:solidFill>
                <a:effectLst/>
                <a:latin typeface="Times New Roman" panose="02020603050405020304" pitchFamily="18" charset="0"/>
              </a:rPr>
              <a:t>Pullup and Pulldown network can be </a:t>
            </a:r>
            <a:r>
              <a:rPr lang="en-GB" sz="1800" b="0" i="0" dirty="0" err="1">
                <a:solidFill>
                  <a:srgbClr val="444444"/>
                </a:solidFill>
                <a:effectLst/>
                <a:latin typeface="Times New Roman" panose="02020603050405020304" pitchFamily="18" charset="0"/>
              </a:rPr>
              <a:t>modeled</a:t>
            </a:r>
            <a:r>
              <a:rPr lang="en-GB" sz="1800" b="0" i="0" dirty="0">
                <a:solidFill>
                  <a:srgbClr val="444444"/>
                </a:solidFill>
                <a:effectLst/>
                <a:latin typeface="Times New Roman" panose="02020603050405020304" pitchFamily="18" charset="0"/>
              </a:rPr>
              <a:t> as RC ladders. </a:t>
            </a:r>
            <a:endParaRPr lang="en-GB" b="0" i="0" dirty="0">
              <a:solidFill>
                <a:srgbClr val="000000"/>
              </a:solidFill>
              <a:effectLst/>
              <a:latin typeface="Segoe UI" panose="020B0502040204020203" pitchFamily="34" charset="0"/>
            </a:endParaRPr>
          </a:p>
          <a:p>
            <a:pPr algn="l" rtl="0" fontAlgn="base"/>
            <a:r>
              <a:rPr lang="en-GB" sz="1800" b="0" i="0" dirty="0">
                <a:solidFill>
                  <a:srgbClr val="444444"/>
                </a:solidFill>
                <a:effectLst/>
                <a:latin typeface="Times New Roman" panose="02020603050405020304" pitchFamily="18" charset="0"/>
              </a:rPr>
              <a:t> </a:t>
            </a:r>
            <a:endParaRPr lang="en-GB" b="0" i="0" dirty="0">
              <a:solidFill>
                <a:srgbClr val="000000"/>
              </a:solidFill>
              <a:effectLst/>
              <a:latin typeface="Segoe UI" panose="020B0502040204020203" pitchFamily="34" charset="0"/>
            </a:endParaRPr>
          </a:p>
          <a:p>
            <a:pPr algn="l" rtl="0" fontAlgn="base"/>
            <a:r>
              <a:rPr lang="en-GB" sz="1800" b="0" i="0" dirty="0">
                <a:solidFill>
                  <a:srgbClr val="444444"/>
                </a:solidFill>
                <a:effectLst/>
                <a:latin typeface="Times New Roman" panose="02020603050405020304" pitchFamily="18" charset="0"/>
              </a:rPr>
              <a:t>We can use this theory to continue working with the 3 input NAND CAPS and calculate the equivalent delay. </a:t>
            </a:r>
            <a:endParaRPr lang="en-GB" b="0" i="0" dirty="0">
              <a:solidFill>
                <a:srgbClr val="000000"/>
              </a:solidFill>
              <a:effectLst/>
              <a:latin typeface="Segoe UI" panose="020B0502040204020203" pitchFamily="34" charset="0"/>
            </a:endParaRPr>
          </a:p>
          <a:p>
            <a:pPr eaLnBrk="1" hangingPunct="1"/>
            <a:endParaRPr lang="en-US" altLang="en-US" dirty="0">
              <a:latin typeface="Times New Roman"/>
              <a:ea typeface="ＭＳ Ｐゴシック"/>
              <a:cs typeface="Times New Roman"/>
            </a:endParaRPr>
          </a:p>
        </p:txBody>
      </p:sp>
    </p:spTree>
    <p:extLst>
      <p:ext uri="{BB962C8B-B14F-4D97-AF65-F5344CB8AC3E}">
        <p14:creationId xmlns:p14="http://schemas.microsoft.com/office/powerpoint/2010/main" val="4074836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5B8D9A7D-6FD1-594F-A309-734FE02029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3497ED0F-D232-984F-A6AF-3C3B972CBEF2}" type="slidenum">
              <a:rPr lang="en-US" altLang="en-US"/>
              <a:pPr>
                <a:spcBef>
                  <a:spcPct val="0"/>
                </a:spcBef>
              </a:pPr>
              <a:t>20</a:t>
            </a:fld>
            <a:endParaRPr lang="en-US" altLang="en-US" dirty="0"/>
          </a:p>
        </p:txBody>
      </p:sp>
      <p:sp>
        <p:nvSpPr>
          <p:cNvPr id="81922" name="Rectangle 2">
            <a:extLst>
              <a:ext uri="{FF2B5EF4-FFF2-40B4-BE49-F238E27FC236}">
                <a16:creationId xmlns:a16="http://schemas.microsoft.com/office/drawing/2014/main" id="{89AB0C91-5D6D-0340-A00E-0815FEF3ED9B}"/>
              </a:ext>
            </a:extLst>
          </p:cNvPr>
          <p:cNvSpPr>
            <a:spLocks noGrp="1" noRot="1" noChangeAspect="1" noChangeArrowheads="1" noTextEdit="1"/>
          </p:cNvSpPr>
          <p:nvPr>
            <p:ph type="sldImg"/>
          </p:nvPr>
        </p:nvSpPr>
        <p:spPr>
          <a:xfrm>
            <a:off x="2365375" y="549275"/>
            <a:ext cx="4876800" cy="2743200"/>
          </a:xfrm>
          <a:ln/>
        </p:spPr>
      </p:sp>
      <p:sp>
        <p:nvSpPr>
          <p:cNvPr id="81923" name="Rectangle 3">
            <a:extLst>
              <a:ext uri="{FF2B5EF4-FFF2-40B4-BE49-F238E27FC236}">
                <a16:creationId xmlns:a16="http://schemas.microsoft.com/office/drawing/2014/main" id="{7A9E257A-37D3-814A-B0A7-0B7DA607FD0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Draw the RC equivalent of the transistors to estimate the rising and falling delay.</a:t>
            </a:r>
          </a:p>
          <a:p>
            <a:pPr eaLnBrk="1" hangingPunct="1"/>
            <a:endParaRPr lang="en-US" altLang="en-US" dirty="0">
              <a:latin typeface="Times New Roman" panose="02020603050405020304" pitchFamily="18" charset="0"/>
              <a:ea typeface="ＭＳ Ｐゴシック" panose="020B0600070205080204" pitchFamily="34" charset="-128"/>
            </a:endParaRPr>
          </a:p>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361022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216FF9CE-3567-EB47-8A52-863401D650C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B35D527B-6A42-954C-A3C2-0974ACBCCB34}" type="slidenum">
              <a:rPr lang="en-US" altLang="en-US"/>
              <a:pPr>
                <a:spcBef>
                  <a:spcPct val="0"/>
                </a:spcBef>
              </a:pPr>
              <a:t>21</a:t>
            </a:fld>
            <a:endParaRPr lang="en-US" altLang="en-US" dirty="0"/>
          </a:p>
        </p:txBody>
      </p:sp>
      <p:sp>
        <p:nvSpPr>
          <p:cNvPr id="83970" name="Rectangle 2">
            <a:extLst>
              <a:ext uri="{FF2B5EF4-FFF2-40B4-BE49-F238E27FC236}">
                <a16:creationId xmlns:a16="http://schemas.microsoft.com/office/drawing/2014/main" id="{9688C6EA-2EEF-0544-BD53-D97FA5064731}"/>
              </a:ext>
            </a:extLst>
          </p:cNvPr>
          <p:cNvSpPr>
            <a:spLocks noGrp="1" noRot="1" noChangeAspect="1" noChangeArrowheads="1" noTextEdit="1"/>
          </p:cNvSpPr>
          <p:nvPr>
            <p:ph type="sldImg"/>
          </p:nvPr>
        </p:nvSpPr>
        <p:spPr>
          <a:xfrm>
            <a:off x="2365375" y="549275"/>
            <a:ext cx="4876800" cy="2743200"/>
          </a:xfrm>
          <a:ln/>
        </p:spPr>
      </p:sp>
      <p:sp>
        <p:nvSpPr>
          <p:cNvPr id="83971" name="Rectangle 3">
            <a:extLst>
              <a:ext uri="{FF2B5EF4-FFF2-40B4-BE49-F238E27FC236}">
                <a16:creationId xmlns:a16="http://schemas.microsoft.com/office/drawing/2014/main" id="{59D26EE6-8A65-9F43-ACC6-157095C47E6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ea typeface="ＭＳ Ｐゴシック" panose="020B0600070205080204" pitchFamily="34" charset="-128"/>
              </a:rPr>
              <a:t>Delay in gates have two components</a:t>
            </a:r>
            <a:r>
              <a:rPr lang="en-US" altLang="en-US" b="0" dirty="0">
                <a:latin typeface="Times New Roman" panose="02020603050405020304" pitchFamily="18" charset="0"/>
                <a:ea typeface="ＭＳ Ｐゴシック" panose="020B0600070205080204" pitchFamily="34" charset="-128"/>
              </a:rPr>
              <a:t>:</a:t>
            </a:r>
          </a:p>
          <a:p>
            <a:pPr eaLnBrk="1" hangingPunct="1"/>
            <a:endParaRPr lang="en-US" altLang="en-US" dirty="0">
              <a:latin typeface="Times New Roman" panose="02020603050405020304" pitchFamily="18" charset="0"/>
              <a:ea typeface="ＭＳ Ｐゴシック" panose="020B0600070205080204" pitchFamily="34" charset="-128"/>
            </a:endParaRPr>
          </a:p>
          <a:p>
            <a:pPr marL="171450" indent="-171450" eaLnBrk="1" hangingPunct="1">
              <a:buFont typeface="Arial" panose="020B0604020202020204" pitchFamily="34" charset="0"/>
              <a:buChar char="•"/>
            </a:pPr>
            <a:r>
              <a:rPr lang="en-US" altLang="en-US" dirty="0">
                <a:latin typeface="Times New Roman" panose="02020603050405020304" pitchFamily="18" charset="0"/>
                <a:ea typeface="ＭＳ Ｐゴシック" panose="020B0600070205080204" pitchFamily="34" charset="-128"/>
              </a:rPr>
              <a:t>Parasitic delay. This is independent of the load as shown in previous </a:t>
            </a:r>
            <a:r>
              <a:rPr lang="en-US" altLang="en-US">
                <a:latin typeface="Times New Roman" panose="02020603050405020304" pitchFamily="18" charset="0"/>
                <a:ea typeface="ＭＳ Ｐゴシック" panose="020B0600070205080204" pitchFamily="34" charset="-128"/>
              </a:rPr>
              <a:t>examples modeling </a:t>
            </a:r>
            <a:r>
              <a:rPr lang="en-US" altLang="en-US" dirty="0">
                <a:latin typeface="Times New Roman" panose="02020603050405020304" pitchFamily="18" charset="0"/>
                <a:ea typeface="ＭＳ Ｐゴシック" panose="020B0600070205080204" pitchFamily="34" charset="-128"/>
              </a:rPr>
              <a:t>the RC equivalent of the transistors.</a:t>
            </a:r>
          </a:p>
          <a:p>
            <a:pPr marL="171450" indent="-171450" eaLnBrk="1" hangingPunct="1">
              <a:buFont typeface="Arial" panose="020B0604020202020204" pitchFamily="34" charset="0"/>
              <a:buChar char="•"/>
            </a:pPr>
            <a:r>
              <a:rPr lang="en-US" altLang="en-US" dirty="0">
                <a:latin typeface="Times New Roman" panose="02020603050405020304" pitchFamily="18" charset="0"/>
                <a:ea typeface="ＭＳ Ｐゴシック" panose="020B0600070205080204" pitchFamily="34" charset="-128"/>
              </a:rPr>
              <a:t>The effort delay is mainly or directly proportional to the load capacitance.  </a:t>
            </a:r>
          </a:p>
        </p:txBody>
      </p:sp>
    </p:spTree>
    <p:extLst>
      <p:ext uri="{BB962C8B-B14F-4D97-AF65-F5344CB8AC3E}">
        <p14:creationId xmlns:p14="http://schemas.microsoft.com/office/powerpoint/2010/main" val="40069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24C62C03-BE2E-504E-9911-02E374AD922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264F790C-C5B9-4845-AF13-95B250B4D5C5}" type="slidenum">
              <a:rPr lang="en-US" altLang="en-US"/>
              <a:pPr>
                <a:spcBef>
                  <a:spcPct val="0"/>
                </a:spcBef>
              </a:pPr>
              <a:t>22</a:t>
            </a:fld>
            <a:endParaRPr lang="en-US" altLang="en-US" dirty="0"/>
          </a:p>
        </p:txBody>
      </p:sp>
      <p:sp>
        <p:nvSpPr>
          <p:cNvPr id="86018" name="Rectangle 2">
            <a:extLst>
              <a:ext uri="{FF2B5EF4-FFF2-40B4-BE49-F238E27FC236}">
                <a16:creationId xmlns:a16="http://schemas.microsoft.com/office/drawing/2014/main" id="{10B1729B-DED8-3C45-A0C7-5D68CC643FED}"/>
              </a:ext>
            </a:extLst>
          </p:cNvPr>
          <p:cNvSpPr>
            <a:spLocks noGrp="1" noRot="1" noChangeAspect="1" noChangeArrowheads="1" noTextEdit="1"/>
          </p:cNvSpPr>
          <p:nvPr>
            <p:ph type="sldImg"/>
          </p:nvPr>
        </p:nvSpPr>
        <p:spPr>
          <a:xfrm>
            <a:off x="2365375" y="549275"/>
            <a:ext cx="4876800" cy="2743200"/>
          </a:xfrm>
          <a:ln/>
        </p:spPr>
      </p:sp>
      <p:sp>
        <p:nvSpPr>
          <p:cNvPr id="86019" name="Rectangle 3">
            <a:extLst>
              <a:ext uri="{FF2B5EF4-FFF2-40B4-BE49-F238E27FC236}">
                <a16:creationId xmlns:a16="http://schemas.microsoft.com/office/drawing/2014/main" id="{D074DFA9-3906-0C4C-88A3-731F4E83F5D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684805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1003D3A2-1B44-464F-A987-23CE63622D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E298CFB6-E467-DB47-BED2-0E9626D4BB04}" type="slidenum">
              <a:rPr lang="en-US" altLang="en-US"/>
              <a:pPr>
                <a:spcBef>
                  <a:spcPct val="0"/>
                </a:spcBef>
              </a:pPr>
              <a:t>23</a:t>
            </a:fld>
            <a:endParaRPr lang="en-US" altLang="en-US" dirty="0"/>
          </a:p>
        </p:txBody>
      </p:sp>
      <p:sp>
        <p:nvSpPr>
          <p:cNvPr id="88066" name="Rectangle 2">
            <a:extLst>
              <a:ext uri="{FF2B5EF4-FFF2-40B4-BE49-F238E27FC236}">
                <a16:creationId xmlns:a16="http://schemas.microsoft.com/office/drawing/2014/main" id="{BC7B4932-106E-C645-96C3-F8BFB335C105}"/>
              </a:ext>
            </a:extLst>
          </p:cNvPr>
          <p:cNvSpPr>
            <a:spLocks noGrp="1" noRot="1" noChangeAspect="1" noChangeArrowheads="1" noTextEdit="1"/>
          </p:cNvSpPr>
          <p:nvPr>
            <p:ph type="sldImg"/>
          </p:nvPr>
        </p:nvSpPr>
        <p:spPr>
          <a:xfrm>
            <a:off x="2365375" y="549275"/>
            <a:ext cx="4876800" cy="2743200"/>
          </a:xfrm>
          <a:ln/>
        </p:spPr>
      </p:sp>
      <p:sp>
        <p:nvSpPr>
          <p:cNvPr id="88067" name="Rectangle 3">
            <a:extLst>
              <a:ext uri="{FF2B5EF4-FFF2-40B4-BE49-F238E27FC236}">
                <a16:creationId xmlns:a16="http://schemas.microsoft.com/office/drawing/2014/main" id="{D4ACC6BB-7F55-9F4A-85E2-AE863170CE5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0" dirty="0">
                <a:latin typeface="Times New Roman" panose="02020603050405020304" pitchFamily="18" charset="0"/>
                <a:ea typeface="ＭＳ Ｐゴシック" panose="020B0600070205080204" pitchFamily="34" charset="-128"/>
              </a:rPr>
              <a:t>It is possible for transistor to share diffusion area to minimize diffusion capacitance. This is an optimization of the layout. </a:t>
            </a:r>
          </a:p>
        </p:txBody>
      </p:sp>
    </p:spTree>
    <p:extLst>
      <p:ext uri="{BB962C8B-B14F-4D97-AF65-F5344CB8AC3E}">
        <p14:creationId xmlns:p14="http://schemas.microsoft.com/office/powerpoint/2010/main" val="27277959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a:extLst>
              <a:ext uri="{FF2B5EF4-FFF2-40B4-BE49-F238E27FC236}">
                <a16:creationId xmlns:a16="http://schemas.microsoft.com/office/drawing/2014/main" id="{97A15085-3471-CF4D-A815-8A8E96EEE4B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6788">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511B7C47-F2D0-2B4C-ABB3-B63D51332496}" type="slidenum">
              <a:rPr lang="en-US" altLang="en-US"/>
              <a:pPr>
                <a:spcBef>
                  <a:spcPct val="0"/>
                </a:spcBef>
              </a:pPr>
              <a:t>24</a:t>
            </a:fld>
            <a:endParaRPr lang="en-US" altLang="en-US" dirty="0"/>
          </a:p>
        </p:txBody>
      </p:sp>
      <p:sp>
        <p:nvSpPr>
          <p:cNvPr id="90114" name="Rectangle 2">
            <a:extLst>
              <a:ext uri="{FF2B5EF4-FFF2-40B4-BE49-F238E27FC236}">
                <a16:creationId xmlns:a16="http://schemas.microsoft.com/office/drawing/2014/main" id="{F5164BD8-BA33-EA43-B3B7-A3F7A51F2B70}"/>
              </a:ext>
            </a:extLst>
          </p:cNvPr>
          <p:cNvSpPr>
            <a:spLocks noGrp="1" noRot="1" noChangeAspect="1" noChangeArrowheads="1" noTextEdit="1"/>
          </p:cNvSpPr>
          <p:nvPr>
            <p:ph type="sldImg"/>
          </p:nvPr>
        </p:nvSpPr>
        <p:spPr>
          <a:xfrm>
            <a:off x="2365375" y="549275"/>
            <a:ext cx="4876800" cy="2743200"/>
          </a:xfrm>
          <a:ln/>
        </p:spPr>
      </p:sp>
      <p:sp>
        <p:nvSpPr>
          <p:cNvPr id="90115" name="Rectangle 3">
            <a:extLst>
              <a:ext uri="{FF2B5EF4-FFF2-40B4-BE49-F238E27FC236}">
                <a16:creationId xmlns:a16="http://schemas.microsoft.com/office/drawing/2014/main" id="{63E37EC2-F8AE-1C47-AC94-C4CD2605409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New Roman"/>
              <a:ea typeface="ＭＳ Ｐゴシック"/>
              <a:cs typeface="Times New Roman"/>
            </a:endParaRPr>
          </a:p>
        </p:txBody>
      </p:sp>
    </p:spTree>
    <p:extLst>
      <p:ext uri="{BB962C8B-B14F-4D97-AF65-F5344CB8AC3E}">
        <p14:creationId xmlns:p14="http://schemas.microsoft.com/office/powerpoint/2010/main" val="3423910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6" y="1171111"/>
            <a:ext cx="11233151" cy="4086226"/>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marL="605504">
              <a:lnSpc>
                <a:spcPct val="100000"/>
              </a:lnSpc>
              <a:spcAft>
                <a:spcPts val="0"/>
              </a:spcAft>
              <a:buClr>
                <a:srgbClr val="990000"/>
              </a:buClr>
              <a:defRPr sz="1800">
                <a:solidFill>
                  <a:schemeClr val="tx2"/>
                </a:solidFill>
              </a:defRPr>
            </a:lvl2pPr>
            <a:lvl3pPr marL="852392">
              <a:lnSpc>
                <a:spcPct val="100000"/>
              </a:lnSpc>
              <a:spcAft>
                <a:spcPts val="0"/>
              </a:spcAft>
              <a:buClr>
                <a:srgbClr val="990000"/>
              </a:buClr>
              <a:defRPr sz="1620">
                <a:solidFill>
                  <a:schemeClr val="tx2"/>
                </a:solidFill>
              </a:defRPr>
            </a:lvl3pPr>
            <a:lvl4pPr marL="1163861">
              <a:lnSpc>
                <a:spcPct val="100000"/>
              </a:lnSpc>
              <a:spcAft>
                <a:spcPts val="0"/>
              </a:spcAft>
              <a:buClr>
                <a:srgbClr val="990000"/>
              </a:buClr>
              <a:defRPr sz="1620">
                <a:solidFill>
                  <a:schemeClr val="tx2"/>
                </a:solidFill>
              </a:defRPr>
            </a:lvl4pPr>
            <a:lvl5pPr marL="1366742">
              <a:lnSpc>
                <a:spcPct val="100000"/>
              </a:lnSpc>
              <a:spcAft>
                <a:spcPts val="0"/>
              </a:spcAft>
              <a:buClr>
                <a:srgbClr val="990000"/>
              </a:buClr>
              <a:defRPr sz="162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290649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44" name="Text Placeholder 43"/>
          <p:cNvSpPr>
            <a:spLocks noGrp="1"/>
          </p:cNvSpPr>
          <p:nvPr>
            <p:ph type="body" sz="quarter" idx="13"/>
          </p:nvPr>
        </p:nvSpPr>
        <p:spPr>
          <a:xfrm>
            <a:off x="479426" y="991132"/>
            <a:ext cx="11233151" cy="344488"/>
          </a:xfrm>
        </p:spPr>
        <p:txBody>
          <a:bodyPr/>
          <a:lstStyle>
            <a:lvl1pPr marL="0" indent="0">
              <a:buNone/>
              <a:defRPr lang="en-US" sz="216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6" y="1554490"/>
            <a:ext cx="11233151" cy="4087104"/>
          </a:xfrm>
          <a:prstGeom prst="rect">
            <a:avLst/>
          </a:prstGeom>
        </p:spPr>
        <p:txBody>
          <a:bodyPr/>
          <a:lstStyle>
            <a:lvl1pPr marL="308610" indent="-308610">
              <a:lnSpc>
                <a:spcPct val="100000"/>
              </a:lnSpc>
              <a:spcBef>
                <a:spcPts val="540"/>
              </a:spcBef>
              <a:spcAft>
                <a:spcPts val="0"/>
              </a:spcAft>
              <a:buClr>
                <a:srgbClr val="990000"/>
              </a:buClr>
              <a:buFont typeface="Arial" charset="0"/>
              <a:buChar char="•"/>
              <a:defRPr sz="2160">
                <a:solidFill>
                  <a:schemeClr val="tx2"/>
                </a:solidFill>
              </a:defRPr>
            </a:lvl1pPr>
            <a:lvl2pPr>
              <a:lnSpc>
                <a:spcPct val="100000"/>
              </a:lnSpc>
              <a:spcAft>
                <a:spcPts val="0"/>
              </a:spcAft>
              <a:buClr>
                <a:srgbClr val="990000"/>
              </a:buClr>
              <a:defRPr sz="1800">
                <a:solidFill>
                  <a:schemeClr val="tx2"/>
                </a:solidFill>
              </a:defRPr>
            </a:lvl2pPr>
            <a:lvl3pPr>
              <a:lnSpc>
                <a:spcPct val="100000"/>
              </a:lnSpc>
              <a:spcAft>
                <a:spcPts val="0"/>
              </a:spcAft>
              <a:buClr>
                <a:srgbClr val="990000"/>
              </a:buClr>
              <a:defRPr>
                <a:solidFill>
                  <a:schemeClr val="tx2"/>
                </a:solidFill>
              </a:defRPr>
            </a:lvl3pPr>
            <a:lvl4pPr>
              <a:lnSpc>
                <a:spcPct val="100000"/>
              </a:lnSpc>
              <a:spcAft>
                <a:spcPts val="0"/>
              </a:spcAft>
              <a:buClr>
                <a:srgbClr val="990000"/>
              </a:buClr>
              <a:defRPr>
                <a:solidFill>
                  <a:schemeClr val="tx2"/>
                </a:solidFill>
              </a:defRPr>
            </a:lvl4pPr>
            <a:lvl5pPr>
              <a:lnSpc>
                <a:spcPct val="100000"/>
              </a:lnSpc>
              <a:spcAft>
                <a:spcPts val="0"/>
              </a:spcAft>
              <a:buClr>
                <a:srgbClr val="990000"/>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1">
            <a:extLst>
              <a:ext uri="{FF2B5EF4-FFF2-40B4-BE49-F238E27FC236}">
                <a16:creationId xmlns:a16="http://schemas.microsoft.com/office/drawing/2014/main" id="{83FA1F9A-E603-30EE-5D98-2984F93C5FDA}"/>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1390629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133061"/>
            <a:ext cx="11243088" cy="46009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536C1463-1F0A-4DBE-D9B1-ED687057A4EF}"/>
              </a:ext>
            </a:extLst>
          </p:cNvPr>
          <p:cNvSpPr>
            <a:spLocks noGrp="1"/>
          </p:cNvSpPr>
          <p:nvPr>
            <p:ph type="title" hasCustomPrompt="1"/>
          </p:nvPr>
        </p:nvSpPr>
        <p:spPr>
          <a:xfrm>
            <a:off x="1300480" y="476250"/>
            <a:ext cx="10412096" cy="654760"/>
          </a:xfrm>
        </p:spPr>
        <p:txBody>
          <a:bodyPr anchor="t"/>
          <a:lstStyle>
            <a:lvl1pPr>
              <a:defRPr b="0"/>
            </a:lvl1pPr>
          </a:lstStyle>
          <a:p>
            <a:r>
              <a:rPr lang="en-US" dirty="0"/>
              <a:t>Click to Edit Master Title Style</a:t>
            </a:r>
          </a:p>
        </p:txBody>
      </p:sp>
    </p:spTree>
    <p:extLst>
      <p:ext uri="{BB962C8B-B14F-4D97-AF65-F5344CB8AC3E}">
        <p14:creationId xmlns:p14="http://schemas.microsoft.com/office/powerpoint/2010/main" val="3785141932"/>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Placeholder 6"/>
          <p:cNvSpPr>
            <a:spLocks noGrp="1"/>
          </p:cNvSpPr>
          <p:nvPr>
            <p:ph type="title"/>
          </p:nvPr>
        </p:nvSpPr>
        <p:spPr>
          <a:xfrm>
            <a:off x="609600" y="3064661"/>
            <a:ext cx="10972800" cy="1143000"/>
          </a:xfrm>
          <a:prstGeom prst="rect">
            <a:avLst/>
          </a:prstGeom>
        </p:spPr>
        <p:txBody>
          <a:bodyPr vert="horz" lIns="91440" tIns="45720" rIns="91440" bIns="45720" rtlCol="0" anchor="ctr">
            <a:normAutofit/>
          </a:bodyPr>
          <a:lstStyle/>
          <a:p>
            <a:r>
              <a:rPr lang="en-US" dirty="0"/>
              <a:t>Click to Enter Title Here</a:t>
            </a:r>
          </a:p>
        </p:txBody>
      </p:sp>
      <p:sp>
        <p:nvSpPr>
          <p:cNvPr id="10" name="Text Placeholder 9"/>
          <p:cNvSpPr>
            <a:spLocks noGrp="1"/>
          </p:cNvSpPr>
          <p:nvPr>
            <p:ph type="body" sz="quarter" idx="10" hasCustomPrompt="1"/>
          </p:nvPr>
        </p:nvSpPr>
        <p:spPr>
          <a:xfrm>
            <a:off x="611718" y="4656104"/>
            <a:ext cx="10964333" cy="1333500"/>
          </a:xfrm>
          <a:prstGeom prst="rect">
            <a:avLst/>
          </a:prstGeom>
        </p:spPr>
        <p:txBody>
          <a:bodyPr/>
          <a:lstStyle/>
          <a:p>
            <a:pPr lvl="0"/>
            <a:r>
              <a:rPr lang="en-US" dirty="0"/>
              <a:t>Click to Enter Name Here</a:t>
            </a:r>
          </a:p>
        </p:txBody>
      </p:sp>
    </p:spTree>
    <p:extLst>
      <p:ext uri="{BB962C8B-B14F-4D97-AF65-F5344CB8AC3E}">
        <p14:creationId xmlns:p14="http://schemas.microsoft.com/office/powerpoint/2010/main" val="893251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77258" y="478301"/>
            <a:ext cx="10435319" cy="654760"/>
          </a:xfrm>
          <a:prstGeom prst="rect">
            <a:avLst/>
          </a:prstGeom>
        </p:spPr>
        <p:txBody>
          <a:bodyPr vert="horz" lIns="0" tIns="0" rIns="0" bIns="0" rtlCol="0" anchor="t">
            <a:noAutofit/>
          </a:bodyPr>
          <a:lstStyle/>
          <a:p>
            <a:r>
              <a:rPr lang="en-US" dirty="0"/>
              <a:t>Click to edit Master title style</a:t>
            </a:r>
          </a:p>
        </p:txBody>
      </p:sp>
      <p:sp>
        <p:nvSpPr>
          <p:cNvPr id="1029" name="TextBox 26"/>
          <p:cNvSpPr txBox="1">
            <a:spLocks noChangeArrowheads="1"/>
          </p:cNvSpPr>
          <p:nvPr userDrawn="1"/>
        </p:nvSpPr>
        <p:spPr bwMode="auto">
          <a:xfrm>
            <a:off x="492124" y="6410644"/>
            <a:ext cx="312739" cy="12465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540"/>
              </a:spcAft>
              <a:buFont typeface="Arial" charset="0"/>
              <a:buNone/>
              <a:defRPr/>
            </a:pPr>
            <a:fld id="{2682C2D1-8EA8-E748-B66F-74D4D53CF8F8}" type="slidenum">
              <a:rPr lang="en-US" altLang="en-US" sz="900" smtClean="0">
                <a:solidFill>
                  <a:srgbClr val="7F7F7F"/>
                </a:solidFill>
              </a:rPr>
              <a:pPr eaLnBrk="1" hangingPunct="1">
                <a:lnSpc>
                  <a:spcPct val="90000"/>
                </a:lnSpc>
                <a:spcAft>
                  <a:spcPts val="540"/>
                </a:spcAft>
                <a:buFont typeface="Arial" charset="0"/>
                <a:buNone/>
                <a:defRPr/>
              </a:pPr>
              <a:t>‹#›</a:t>
            </a:fld>
            <a:endParaRPr lang="en-US" altLang="en-US" sz="90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60099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20"/>
          <p:cNvSpPr txBox="1">
            <a:spLocks noChangeArrowheads="1"/>
          </p:cNvSpPr>
          <p:nvPr userDrawn="1"/>
        </p:nvSpPr>
        <p:spPr bwMode="auto">
          <a:xfrm>
            <a:off x="982665" y="6413179"/>
            <a:ext cx="1561617" cy="12465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540"/>
              </a:spcAft>
              <a:buFont typeface="Arial" charset="0"/>
              <a:buNone/>
              <a:defRPr/>
            </a:pPr>
            <a:r>
              <a:rPr lang="en-US" altLang="en-US" sz="900">
                <a:solidFill>
                  <a:srgbClr val="7F7F7F"/>
                </a:solidFill>
              </a:rPr>
              <a:t>© 2020 Arm Limited </a:t>
            </a:r>
          </a:p>
        </p:txBody>
      </p:sp>
      <p:pic>
        <p:nvPicPr>
          <p:cNvPr id="3" name="Picture 2">
            <a:extLst>
              <a:ext uri="{FF2B5EF4-FFF2-40B4-BE49-F238E27FC236}">
                <a16:creationId xmlns:a16="http://schemas.microsoft.com/office/drawing/2014/main" id="{9A012347-3565-314A-935A-F06376FE34D5}"/>
              </a:ext>
            </a:extLst>
          </p:cNvPr>
          <p:cNvPicPr>
            <a:picLocks noChangeAspect="1"/>
          </p:cNvPicPr>
          <p:nvPr userDrawn="1"/>
        </p:nvPicPr>
        <p:blipFill>
          <a:blip r:embed="rId6"/>
          <a:stretch>
            <a:fillRect/>
          </a:stretch>
        </p:blipFill>
        <p:spPr>
          <a:xfrm>
            <a:off x="10938721" y="6378893"/>
            <a:ext cx="774267" cy="236834"/>
          </a:xfrm>
          <a:prstGeom prst="rect">
            <a:avLst/>
          </a:prstGeom>
        </p:spPr>
      </p:pic>
      <p:pic>
        <p:nvPicPr>
          <p:cNvPr id="4" name="Picture 3" descr="A black and white logo&#10;&#10;Description automatically generated">
            <a:extLst>
              <a:ext uri="{FF2B5EF4-FFF2-40B4-BE49-F238E27FC236}">
                <a16:creationId xmlns:a16="http://schemas.microsoft.com/office/drawing/2014/main" id="{4AB2B416-43B6-0517-6622-696EE085B405}"/>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36043" y="6161560"/>
            <a:ext cx="3776131" cy="645193"/>
          </a:xfrm>
          <a:prstGeom prst="rect">
            <a:avLst/>
          </a:prstGeom>
        </p:spPr>
      </p:pic>
      <p:sp>
        <p:nvSpPr>
          <p:cNvPr id="5" name="Rectangle 4">
            <a:extLst>
              <a:ext uri="{FF2B5EF4-FFF2-40B4-BE49-F238E27FC236}">
                <a16:creationId xmlns:a16="http://schemas.microsoft.com/office/drawing/2014/main" id="{806FE385-4105-D07A-642D-69D4DFFCA166}"/>
              </a:ext>
            </a:extLst>
          </p:cNvPr>
          <p:cNvSpPr/>
          <p:nvPr userDrawn="1"/>
        </p:nvSpPr>
        <p:spPr>
          <a:xfrm>
            <a:off x="163569" y="-1836844"/>
            <a:ext cx="977953" cy="2841024"/>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7463770-89F6-7D91-968B-6C9122741211}"/>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210937" y="-361258"/>
            <a:ext cx="1718861" cy="1698956"/>
          </a:xfrm>
          <a:prstGeom prst="rect">
            <a:avLst/>
          </a:prstGeom>
        </p:spPr>
      </p:pic>
    </p:spTree>
    <p:extLst>
      <p:ext uri="{BB962C8B-B14F-4D97-AF65-F5344CB8AC3E}">
        <p14:creationId xmlns:p14="http://schemas.microsoft.com/office/powerpoint/2010/main" val="860869757"/>
      </p:ext>
    </p:extLst>
  </p:cSld>
  <p:clrMap bg1="lt1" tx1="dk1" bg2="lt2" tx2="dk2" accent1="accent1" accent2="accent2" accent3="accent3" accent4="accent4" accent5="accent5" accent6="accent6" hlink="hlink" folHlink="folHlink"/>
  <p:sldLayoutIdLst>
    <p:sldLayoutId id="2147485515" r:id="rId1"/>
    <p:sldLayoutId id="2147485516" r:id="rId2"/>
    <p:sldLayoutId id="2147485517" r:id="rId3"/>
    <p:sldLayoutId id="2147485518" r:id="rId4"/>
  </p:sldLayoutIdLst>
  <p:hf sldNum="0" hdr="0" ftr="0" dt="0"/>
  <p:txStyles>
    <p:titleStyle>
      <a:lvl1pPr algn="l" rtl="0" eaLnBrk="1" fontAlgn="base" hangingPunct="1">
        <a:lnSpc>
          <a:spcPct val="85000"/>
        </a:lnSpc>
        <a:spcBef>
          <a:spcPct val="0"/>
        </a:spcBef>
        <a:spcAft>
          <a:spcPct val="0"/>
        </a:spcAft>
        <a:defRPr sz="3240" b="0" kern="1200" spc="-46">
          <a:solidFill>
            <a:srgbClr val="990000"/>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240" b="1">
          <a:solidFill>
            <a:schemeClr val="accent1"/>
          </a:solidFill>
          <a:latin typeface="Calibri" charset="0"/>
          <a:ea typeface="ＭＳ Ｐゴシック" charset="0"/>
          <a:cs typeface="ＭＳ Ｐゴシック" charset="0"/>
        </a:defRPr>
      </a:lvl5pPr>
      <a:lvl6pPr marL="411480" algn="l" rtl="0" eaLnBrk="1" fontAlgn="base" hangingPunct="1">
        <a:lnSpc>
          <a:spcPct val="85000"/>
        </a:lnSpc>
        <a:spcBef>
          <a:spcPct val="0"/>
        </a:spcBef>
        <a:spcAft>
          <a:spcPct val="0"/>
        </a:spcAft>
        <a:defRPr sz="3240" b="1">
          <a:solidFill>
            <a:schemeClr val="accent1"/>
          </a:solidFill>
          <a:latin typeface="Calibri" charset="0"/>
        </a:defRPr>
      </a:lvl6pPr>
      <a:lvl7pPr marL="822960" algn="l" rtl="0" eaLnBrk="1" fontAlgn="base" hangingPunct="1">
        <a:lnSpc>
          <a:spcPct val="85000"/>
        </a:lnSpc>
        <a:spcBef>
          <a:spcPct val="0"/>
        </a:spcBef>
        <a:spcAft>
          <a:spcPct val="0"/>
        </a:spcAft>
        <a:defRPr sz="3240" b="1">
          <a:solidFill>
            <a:schemeClr val="accent1"/>
          </a:solidFill>
          <a:latin typeface="Calibri" charset="0"/>
        </a:defRPr>
      </a:lvl7pPr>
      <a:lvl8pPr marL="1234440" algn="l" rtl="0" eaLnBrk="1" fontAlgn="base" hangingPunct="1">
        <a:lnSpc>
          <a:spcPct val="85000"/>
        </a:lnSpc>
        <a:spcBef>
          <a:spcPct val="0"/>
        </a:spcBef>
        <a:spcAft>
          <a:spcPct val="0"/>
        </a:spcAft>
        <a:defRPr sz="3240" b="1">
          <a:solidFill>
            <a:schemeClr val="accent1"/>
          </a:solidFill>
          <a:latin typeface="Calibri" charset="0"/>
        </a:defRPr>
      </a:lvl8pPr>
      <a:lvl9pPr marL="1645920" algn="l" rtl="0" eaLnBrk="1" fontAlgn="base" hangingPunct="1">
        <a:lnSpc>
          <a:spcPct val="85000"/>
        </a:lnSpc>
        <a:spcBef>
          <a:spcPct val="0"/>
        </a:spcBef>
        <a:spcAft>
          <a:spcPct val="0"/>
        </a:spcAft>
        <a:defRPr sz="3240" b="1">
          <a:solidFill>
            <a:schemeClr val="accent1"/>
          </a:solidFill>
          <a:latin typeface="Calibri" charset="0"/>
        </a:defRPr>
      </a:lvl9pPr>
    </p:titleStyle>
    <p:bodyStyle>
      <a:lvl1pPr marL="308610" indent="-308610" algn="l" rtl="0" eaLnBrk="1" fontAlgn="base" hangingPunct="1">
        <a:lnSpc>
          <a:spcPct val="100000"/>
        </a:lnSpc>
        <a:spcBef>
          <a:spcPts val="540"/>
        </a:spcBef>
        <a:spcAft>
          <a:spcPts val="0"/>
        </a:spcAft>
        <a:buClr>
          <a:srgbClr val="990000"/>
        </a:buClr>
        <a:buFont typeface="Arial" charset="0"/>
        <a:buChar char="•"/>
        <a:defRPr sz="2160" kern="1200">
          <a:solidFill>
            <a:schemeClr val="tx2"/>
          </a:solidFill>
          <a:latin typeface="+mn-lt"/>
          <a:ea typeface="ＭＳ Ｐゴシック" charset="0"/>
          <a:cs typeface="ＭＳ Ｐゴシック" charset="0"/>
        </a:defRPr>
      </a:lvl1pPr>
      <a:lvl2pPr marL="523208" indent="-150019" algn="l" rtl="0" eaLnBrk="1" fontAlgn="base" hangingPunct="1">
        <a:lnSpc>
          <a:spcPct val="100000"/>
        </a:lnSpc>
        <a:spcBef>
          <a:spcPts val="0"/>
        </a:spcBef>
        <a:spcAft>
          <a:spcPts val="0"/>
        </a:spcAft>
        <a:buClr>
          <a:srgbClr val="990000"/>
        </a:buClr>
        <a:buSzPct val="80000"/>
        <a:buFont typeface="Arial" charset="0"/>
        <a:buChar char="•"/>
        <a:defRPr sz="1800" kern="1200">
          <a:solidFill>
            <a:srgbClr val="383838"/>
          </a:solidFill>
          <a:latin typeface="+mn-lt"/>
          <a:ea typeface="ＭＳ Ｐゴシック" charset="0"/>
          <a:cs typeface="+mn-cs"/>
        </a:defRPr>
      </a:lvl2pPr>
      <a:lvl3pPr marL="770096" indent="-150019"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3pPr>
      <a:lvl4pPr marL="1081565" indent="-155735" algn="l" rtl="0" eaLnBrk="1" fontAlgn="base" hangingPunct="1">
        <a:lnSpc>
          <a:spcPct val="100000"/>
        </a:lnSpc>
        <a:spcBef>
          <a:spcPts val="0"/>
        </a:spcBef>
        <a:spcAft>
          <a:spcPts val="0"/>
        </a:spcAft>
        <a:buClr>
          <a:srgbClr val="990000"/>
        </a:buClr>
        <a:buSzPct val="80000"/>
        <a:buFont typeface="Wingdings" charset="2"/>
        <a:buChar char="§"/>
        <a:defRPr kern="1200">
          <a:solidFill>
            <a:srgbClr val="383838"/>
          </a:solidFill>
          <a:latin typeface="+mn-lt"/>
          <a:ea typeface="ＭＳ Ｐゴシック" charset="0"/>
          <a:cs typeface="+mn-cs"/>
        </a:defRPr>
      </a:lvl4pPr>
      <a:lvl5pPr marL="1284446" indent="-151447"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5pPr>
      <a:lvl6pPr marL="148955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6pPr>
      <a:lvl7pPr marL="169529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7pPr>
      <a:lvl8pPr marL="190103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8pPr>
      <a:lvl9pPr marL="210677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orient="horz" pos="300">
          <p15:clr>
            <a:srgbClr val="F26B43"/>
          </p15:clr>
        </p15:guide>
        <p15:guide id="5" orient="horz" pos="4020">
          <p15:clr>
            <a:srgbClr val="F26B43"/>
          </p15:clr>
        </p15:guide>
        <p15:guide id="6" pos="7378">
          <p15:clr>
            <a:srgbClr val="F26B43"/>
          </p15:clr>
        </p15:guide>
        <p15:guide id="7" pos="302">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dlovele@iu.edu"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emf"/><Relationship Id="rId5" Type="http://schemas.openxmlformats.org/officeDocument/2006/relationships/oleObject" Target="../embeddings/oleObject4.bin"/><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3.emf"/><Relationship Id="rId5" Type="http://schemas.openxmlformats.org/officeDocument/2006/relationships/oleObject" Target="../embeddings/oleObject6.bin"/><Relationship Id="rId4" Type="http://schemas.openxmlformats.org/officeDocument/2006/relationships/image" Target="../media/image12.emf"/></Relationships>
</file>

<file path=ppt/slides/_rels/slide6.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6.emf"/><Relationship Id="rId5" Type="http://schemas.openxmlformats.org/officeDocument/2006/relationships/oleObject" Target="../embeddings/oleObject8.bin"/><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8.emf"/></Relationships>
</file>

<file path=ppt/slides/_rels/slide8.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0.emf"/><Relationship Id="rId5" Type="http://schemas.openxmlformats.org/officeDocument/2006/relationships/oleObject" Target="../embeddings/oleObject12.bin"/><Relationship Id="rId4" Type="http://schemas.openxmlformats.org/officeDocument/2006/relationships/image" Target="../media/image19.emf"/></Relationships>
</file>

<file path=ppt/slides/_rels/slide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3.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0.emf"/><Relationship Id="rId5" Type="http://schemas.openxmlformats.org/officeDocument/2006/relationships/oleObject" Target="../embeddings/oleObject16.bin"/><Relationship Id="rId4" Type="http://schemas.openxmlformats.org/officeDocument/2006/relationships/image" Target="../media/image29.emf"/></Relationships>
</file>

<file path=ppt/slides/_rels/slide20.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31.emf"/><Relationship Id="rId7" Type="http://schemas.openxmlformats.org/officeDocument/2006/relationships/image" Target="../media/image33.emf"/><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oleObject" Target="../embeddings/oleObject18.bin"/><Relationship Id="rId5" Type="http://schemas.openxmlformats.org/officeDocument/2006/relationships/image" Target="../media/image32.emf"/><Relationship Id="rId4" Type="http://schemas.openxmlformats.org/officeDocument/2006/relationships/oleObject" Target="../embeddings/oleObject17.bin"/><Relationship Id="rId9"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3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6688A18-B31F-AE0B-7155-5F907357AD05}"/>
              </a:ext>
            </a:extLst>
          </p:cNvPr>
          <p:cNvSpPr>
            <a:spLocks noGrp="1"/>
          </p:cNvSpPr>
          <p:nvPr>
            <p:ph type="title"/>
          </p:nvPr>
        </p:nvSpPr>
        <p:spPr>
          <a:xfrm>
            <a:off x="1061507" y="1791025"/>
            <a:ext cx="10057805" cy="2043978"/>
          </a:xfrm>
        </p:spPr>
        <p:txBody>
          <a:bodyPr>
            <a:normAutofit/>
          </a:bodyPr>
          <a:lstStyle/>
          <a:p>
            <a:pPr>
              <a:spcBef>
                <a:spcPts val="0"/>
              </a:spcBef>
            </a:pPr>
            <a:r>
              <a:rPr lang="en-US" dirty="0"/>
              <a:t>Highlight Reel: Slide Decks 3.0 – 5.0</a:t>
            </a:r>
            <a:br>
              <a:rPr lang="en-US" dirty="0"/>
            </a:br>
            <a:br>
              <a:rPr lang="en-US" sz="840" dirty="0"/>
            </a:br>
            <a:r>
              <a:rPr lang="en-US" sz="3240" dirty="0"/>
              <a:t>ENGR-E 399/599: VLSI Design</a:t>
            </a:r>
            <a:br>
              <a:rPr lang="en-US" sz="3240" dirty="0"/>
            </a:br>
            <a:r>
              <a:rPr lang="en-US" sz="1680" dirty="0"/>
              <a:t>Prof. Daniel Loveless, </a:t>
            </a:r>
            <a:r>
              <a:rPr lang="en-US" sz="1680" dirty="0">
                <a:hlinkClick r:id="rId3"/>
              </a:rPr>
              <a:t>dlovele@iu.edu</a:t>
            </a:r>
            <a:r>
              <a:rPr lang="en-US" sz="1680" dirty="0"/>
              <a:t>, 812-856-0703</a:t>
            </a:r>
            <a:endParaRPr lang="en-US" sz="3240" dirty="0"/>
          </a:p>
        </p:txBody>
      </p:sp>
      <p:sp>
        <p:nvSpPr>
          <p:cNvPr id="8" name="Text Placeholder 19">
            <a:extLst>
              <a:ext uri="{FF2B5EF4-FFF2-40B4-BE49-F238E27FC236}">
                <a16:creationId xmlns:a16="http://schemas.microsoft.com/office/drawing/2014/main" id="{63ABFC7F-F271-4BC6-E646-D9044A132BCB}"/>
              </a:ext>
            </a:extLst>
          </p:cNvPr>
          <p:cNvSpPr>
            <a:spLocks noGrp="1"/>
          </p:cNvSpPr>
          <p:nvPr>
            <p:ph type="body" sz="quarter" idx="10"/>
          </p:nvPr>
        </p:nvSpPr>
        <p:spPr>
          <a:xfrm>
            <a:off x="1455467" y="5651785"/>
            <a:ext cx="9281066" cy="333185"/>
          </a:xfrm>
          <a:prstGeom prst="rect">
            <a:avLst/>
          </a:prstGeom>
        </p:spPr>
        <p:txBody>
          <a:bodyPr anchor="ctr">
            <a:noAutofit/>
          </a:bodyPr>
          <a:lstStyle>
            <a:lvl1pPr marL="0" indent="0">
              <a:buNone/>
              <a:defRPr sz="1100" b="1" spc="80" baseline="0">
                <a:solidFill>
                  <a:srgbClr val="A6A6A6"/>
                </a:solidFill>
                <a:latin typeface="Arial"/>
                <a:cs typeface="Arial"/>
              </a:defRPr>
            </a:lvl1pPr>
          </a:lstStyle>
          <a:p>
            <a:r>
              <a:rPr lang="en-US" sz="1320" dirty="0">
                <a:solidFill>
                  <a:schemeClr val="tx1"/>
                </a:solidFill>
              </a:rPr>
              <a:t>INDIANA UNIVERSITY – Reliable Electronics and Systems</a:t>
            </a:r>
          </a:p>
          <a:p>
            <a:r>
              <a:rPr lang="en-US" dirty="0">
                <a:solidFill>
                  <a:schemeClr val="tx1"/>
                </a:solidFill>
              </a:rPr>
              <a:t>Center for Reliable and Trusted Electronics (CREATE)</a:t>
            </a:r>
            <a:endParaRPr lang="en-US" sz="1320" dirty="0">
              <a:solidFill>
                <a:schemeClr val="tx1"/>
              </a:solidFill>
            </a:endParaRPr>
          </a:p>
        </p:txBody>
      </p:sp>
    </p:spTree>
    <p:extLst>
      <p:ext uri="{BB962C8B-B14F-4D97-AF65-F5344CB8AC3E}">
        <p14:creationId xmlns:p14="http://schemas.microsoft.com/office/powerpoint/2010/main" val="812067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a:extLst>
              <a:ext uri="{FF2B5EF4-FFF2-40B4-BE49-F238E27FC236}">
                <a16:creationId xmlns:a16="http://schemas.microsoft.com/office/drawing/2014/main" id="{7DA6EC41-5ED7-C546-98E4-B3C924294D86}"/>
              </a:ext>
            </a:extLst>
          </p:cNvPr>
          <p:cNvSpPr>
            <a:spLocks noGrp="1" noChangeArrowheads="1"/>
          </p:cNvSpPr>
          <p:nvPr>
            <p:ph idx="1"/>
          </p:nvPr>
        </p:nvSpPr>
        <p:spPr/>
        <p:txBody>
          <a:bodyPr vert="horz" lIns="0" tIns="0" rIns="0" bIns="0" rtlCol="0" anchor="t">
            <a:noAutofit/>
          </a:bodyPr>
          <a:lstStyle/>
          <a:p>
            <a:pPr eaLnBrk="1" hangingPunct="1"/>
            <a:r>
              <a:rPr lang="en-US" altLang="en-US" dirty="0"/>
              <a:t>Now we know</a:t>
            </a:r>
          </a:p>
          <a:p>
            <a:pPr marL="581025" lvl="1" indent="-166370" eaLnBrk="1" hangingPunct="1"/>
            <a:r>
              <a:rPr lang="en-US" altLang="en-US" dirty="0"/>
              <a:t>How much charge Q</a:t>
            </a:r>
            <a:r>
              <a:rPr lang="en-US" altLang="en-US" baseline="-25000" dirty="0"/>
              <a:t>channel</a:t>
            </a:r>
            <a:r>
              <a:rPr lang="en-US" altLang="en-US" dirty="0"/>
              <a:t> is in the channel</a:t>
            </a:r>
            <a:endParaRPr lang="en-US" altLang="en-US" dirty="0">
              <a:cs typeface="Calibri"/>
            </a:endParaRPr>
          </a:p>
          <a:p>
            <a:pPr marL="581025" lvl="1" indent="-166370" eaLnBrk="1" hangingPunct="1"/>
            <a:r>
              <a:rPr lang="en-US" altLang="en-US" dirty="0">
                <a:ea typeface="ＭＳ Ｐゴシック"/>
              </a:rPr>
              <a:t>How much time (</a:t>
            </a:r>
            <a:r>
              <a:rPr lang="en-US" altLang="en-US" i="1" dirty="0">
                <a:ea typeface="ＭＳ Ｐゴシック"/>
              </a:rPr>
              <a:t>t)</a:t>
            </a:r>
            <a:r>
              <a:rPr lang="en-US" altLang="en-US" dirty="0">
                <a:ea typeface="ＭＳ Ｐゴシック"/>
              </a:rPr>
              <a:t> each carrier takes to cross</a:t>
            </a:r>
            <a:endParaRPr lang="en-US" altLang="en-US" dirty="0">
              <a:ea typeface="ＭＳ Ｐゴシック"/>
              <a:cs typeface="Calibri"/>
            </a:endParaRPr>
          </a:p>
        </p:txBody>
      </p:sp>
      <p:sp>
        <p:nvSpPr>
          <p:cNvPr id="38915" name="Rectangle 2">
            <a:extLst>
              <a:ext uri="{FF2B5EF4-FFF2-40B4-BE49-F238E27FC236}">
                <a16:creationId xmlns:a16="http://schemas.microsoft.com/office/drawing/2014/main" id="{54766372-D885-3145-93DB-59D96817D7F0}"/>
              </a:ext>
            </a:extLst>
          </p:cNvPr>
          <p:cNvSpPr>
            <a:spLocks noGrp="1" noChangeArrowheads="1"/>
          </p:cNvSpPr>
          <p:nvPr>
            <p:ph type="title"/>
          </p:nvPr>
        </p:nvSpPr>
        <p:spPr/>
        <p:txBody>
          <a:bodyPr/>
          <a:lstStyle/>
          <a:p>
            <a:pPr eaLnBrk="1" hangingPunct="1"/>
            <a:r>
              <a:rPr lang="en-US" altLang="en-US" dirty="0"/>
              <a:t>nMOS Linear I-V</a:t>
            </a:r>
          </a:p>
        </p:txBody>
      </p:sp>
      <p:sp>
        <p:nvSpPr>
          <p:cNvPr id="38917" name="Rectangle 4">
            <a:extLst>
              <a:ext uri="{FF2B5EF4-FFF2-40B4-BE49-F238E27FC236}">
                <a16:creationId xmlns:a16="http://schemas.microsoft.com/office/drawing/2014/main" id="{2A215CED-7FD8-F944-9F44-83C2ABBBFAFB}"/>
              </a:ext>
            </a:extLst>
          </p:cNvPr>
          <p:cNvSpPr>
            <a:spLocks noChangeArrowheads="1"/>
          </p:cNvSpPr>
          <p:nvPr/>
        </p:nvSpPr>
        <p:spPr bwMode="auto">
          <a:xfrm>
            <a:off x="5059363" y="281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graphicFrame>
        <p:nvGraphicFramePr>
          <p:cNvPr id="38918" name="Object 5">
            <a:extLst>
              <a:ext uri="{FF2B5EF4-FFF2-40B4-BE49-F238E27FC236}">
                <a16:creationId xmlns:a16="http://schemas.microsoft.com/office/drawing/2014/main" id="{38A93BC0-BD04-4B48-AA49-B06F674F7EAC}"/>
              </a:ext>
            </a:extLst>
          </p:cNvPr>
          <p:cNvGraphicFramePr>
            <a:graphicFrameLocks noChangeAspect="1"/>
          </p:cNvGraphicFramePr>
          <p:nvPr>
            <p:extLst>
              <p:ext uri="{D42A27DB-BD31-4B8C-83A1-F6EECF244321}">
                <p14:modId xmlns:p14="http://schemas.microsoft.com/office/powerpoint/2010/main" val="2448326448"/>
              </p:ext>
            </p:extLst>
          </p:nvPr>
        </p:nvGraphicFramePr>
        <p:xfrm>
          <a:off x="2286000" y="2895601"/>
          <a:ext cx="4724400" cy="2778125"/>
        </p:xfrm>
        <a:graphic>
          <a:graphicData uri="http://schemas.openxmlformats.org/presentationml/2006/ole">
            <mc:AlternateContent xmlns:mc="http://schemas.openxmlformats.org/markup-compatibility/2006">
              <mc:Choice xmlns:v="urn:schemas-microsoft-com:vml" Requires="v">
                <p:oleObj name="Equation" r:id="rId3" imgW="47688500" imgH="28092400" progId="Equation.DSMT4">
                  <p:embed/>
                </p:oleObj>
              </mc:Choice>
              <mc:Fallback>
                <p:oleObj name="Equation" r:id="rId3" imgW="47688500" imgH="28092400" progId="Equation.DSMT4">
                  <p:embed/>
                  <p:pic>
                    <p:nvPicPr>
                      <p:cNvPr id="38918" name="Object 5">
                        <a:extLst>
                          <a:ext uri="{FF2B5EF4-FFF2-40B4-BE49-F238E27FC236}">
                            <a16:creationId xmlns:a16="http://schemas.microsoft.com/office/drawing/2014/main" id="{38A93BC0-BD04-4B48-AA49-B06F674F7E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895601"/>
                        <a:ext cx="4724400"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9" name="Rectangle 6">
            <a:extLst>
              <a:ext uri="{FF2B5EF4-FFF2-40B4-BE49-F238E27FC236}">
                <a16:creationId xmlns:a16="http://schemas.microsoft.com/office/drawing/2014/main" id="{AC7C6D85-4A31-0645-B412-8C0AA0A76EF1}"/>
              </a:ext>
            </a:extLst>
          </p:cNvPr>
          <p:cNvSpPr>
            <a:spLocks noChangeArrowheads="1"/>
          </p:cNvSpPr>
          <p:nvPr/>
        </p:nvSpPr>
        <p:spPr bwMode="auto">
          <a:xfrm>
            <a:off x="5695950" y="32305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graphicFrame>
        <p:nvGraphicFramePr>
          <p:cNvPr id="38920" name="Object 7">
            <a:extLst>
              <a:ext uri="{FF2B5EF4-FFF2-40B4-BE49-F238E27FC236}">
                <a16:creationId xmlns:a16="http://schemas.microsoft.com/office/drawing/2014/main" id="{8CAF0E66-4EC8-454C-BDDA-4EA6E6656C3E}"/>
              </a:ext>
            </a:extLst>
          </p:cNvPr>
          <p:cNvGraphicFramePr>
            <a:graphicFrameLocks noChangeAspect="1"/>
          </p:cNvGraphicFramePr>
          <p:nvPr/>
        </p:nvGraphicFramePr>
        <p:xfrm>
          <a:off x="7772400" y="4724400"/>
          <a:ext cx="1752600" cy="869950"/>
        </p:xfrm>
        <a:graphic>
          <a:graphicData uri="http://schemas.openxmlformats.org/presentationml/2006/ole">
            <mc:AlternateContent xmlns:mc="http://schemas.openxmlformats.org/markup-compatibility/2006">
              <mc:Choice xmlns:v="urn:schemas-microsoft-com:vml" Requires="v">
                <p:oleObj r:id="rId5" imgW="18427700" imgH="9067800" progId="Equation.DSMT4">
                  <p:embed/>
                </p:oleObj>
              </mc:Choice>
              <mc:Fallback>
                <p:oleObj r:id="rId5" imgW="18427700" imgH="9067800" progId="Equation.DSMT4">
                  <p:embed/>
                  <p:pic>
                    <p:nvPicPr>
                      <p:cNvPr id="38920" name="Object 7">
                        <a:extLst>
                          <a:ext uri="{FF2B5EF4-FFF2-40B4-BE49-F238E27FC236}">
                            <a16:creationId xmlns:a16="http://schemas.microsoft.com/office/drawing/2014/main" id="{8CAF0E66-4EC8-454C-BDDA-4EA6E6656C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2400" y="4724400"/>
                        <a:ext cx="17526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0104" name="Rectangle 8">
            <a:extLst>
              <a:ext uri="{FF2B5EF4-FFF2-40B4-BE49-F238E27FC236}">
                <a16:creationId xmlns:a16="http://schemas.microsoft.com/office/drawing/2014/main" id="{C8429378-0DBB-1A41-AA50-9F5650264DB9}"/>
              </a:ext>
            </a:extLst>
          </p:cNvPr>
          <p:cNvSpPr>
            <a:spLocks noChangeArrowheads="1"/>
          </p:cNvSpPr>
          <p:nvPr/>
        </p:nvSpPr>
        <p:spPr bwMode="auto">
          <a:xfrm>
            <a:off x="3048000" y="2895600"/>
            <a:ext cx="106680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sp>
        <p:nvSpPr>
          <p:cNvPr id="260105" name="Rectangle 9">
            <a:extLst>
              <a:ext uri="{FF2B5EF4-FFF2-40B4-BE49-F238E27FC236}">
                <a16:creationId xmlns:a16="http://schemas.microsoft.com/office/drawing/2014/main" id="{1A025F5B-D84C-CA47-88C1-5A06C7228CC3}"/>
              </a:ext>
            </a:extLst>
          </p:cNvPr>
          <p:cNvSpPr>
            <a:spLocks noChangeArrowheads="1"/>
          </p:cNvSpPr>
          <p:nvPr/>
        </p:nvSpPr>
        <p:spPr bwMode="auto">
          <a:xfrm>
            <a:off x="3048000" y="3810000"/>
            <a:ext cx="396240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sp>
        <p:nvSpPr>
          <p:cNvPr id="260106" name="Rectangle 10">
            <a:extLst>
              <a:ext uri="{FF2B5EF4-FFF2-40B4-BE49-F238E27FC236}">
                <a16:creationId xmlns:a16="http://schemas.microsoft.com/office/drawing/2014/main" id="{B844500A-86A1-704C-8F5A-EF4378BD418D}"/>
              </a:ext>
            </a:extLst>
          </p:cNvPr>
          <p:cNvSpPr>
            <a:spLocks noChangeArrowheads="1"/>
          </p:cNvSpPr>
          <p:nvPr/>
        </p:nvSpPr>
        <p:spPr bwMode="auto">
          <a:xfrm>
            <a:off x="3078163" y="4724399"/>
            <a:ext cx="6553200" cy="990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pic>
        <p:nvPicPr>
          <p:cNvPr id="2" name="Picture 1" descr="A picture containing control, remote, sitting, phone&#10;&#10;Description generated with very high confidence">
            <a:extLst>
              <a:ext uri="{FF2B5EF4-FFF2-40B4-BE49-F238E27FC236}">
                <a16:creationId xmlns:a16="http://schemas.microsoft.com/office/drawing/2014/main" id="{3B767749-C74E-8222-435A-BC00236AA616}"/>
              </a:ext>
            </a:extLst>
          </p:cNvPr>
          <p:cNvPicPr>
            <a:picLocks noChangeAspect="1"/>
          </p:cNvPicPr>
          <p:nvPr/>
        </p:nvPicPr>
        <p:blipFill>
          <a:blip r:embed="rId7"/>
          <a:stretch>
            <a:fillRect/>
          </a:stretch>
        </p:blipFill>
        <p:spPr>
          <a:xfrm>
            <a:off x="9152216" y="80964"/>
            <a:ext cx="3200576" cy="3293796"/>
          </a:xfrm>
          <a:prstGeom prst="rect">
            <a:avLst/>
          </a:prstGeom>
        </p:spPr>
      </p:pic>
      <p:sp>
        <p:nvSpPr>
          <p:cNvPr id="3" name="Rectangle 3">
            <a:extLst>
              <a:ext uri="{FF2B5EF4-FFF2-40B4-BE49-F238E27FC236}">
                <a16:creationId xmlns:a16="http://schemas.microsoft.com/office/drawing/2014/main" id="{98B29153-922E-4E95-3E80-05F242DA49B6}"/>
              </a:ext>
            </a:extLst>
          </p:cNvPr>
          <p:cNvSpPr txBox="1">
            <a:spLocks noChangeArrowheads="1"/>
          </p:cNvSpPr>
          <p:nvPr/>
        </p:nvSpPr>
        <p:spPr>
          <a:xfrm>
            <a:off x="9025627" y="3461396"/>
            <a:ext cx="3077886" cy="2778125"/>
          </a:xfrm>
          <a:prstGeom prst="rect">
            <a:avLst/>
          </a:prstGeom>
        </p:spPr>
        <p:txBody>
          <a:bodyPr vert="horz" lIns="0" tIns="0" rIns="0" bIns="0" rtlCol="0">
            <a:noAutofit/>
          </a:bodyPr>
          <a:lstStyle>
            <a:lvl1pPr marL="308610" indent="-308610" algn="l" rtl="0" eaLnBrk="1" fontAlgn="base" hangingPunct="1">
              <a:lnSpc>
                <a:spcPct val="100000"/>
              </a:lnSpc>
              <a:spcBef>
                <a:spcPts val="540"/>
              </a:spcBef>
              <a:spcAft>
                <a:spcPts val="0"/>
              </a:spcAft>
              <a:buClr>
                <a:srgbClr val="990000"/>
              </a:buClr>
              <a:buFont typeface="Arial" charset="0"/>
              <a:buChar char="•"/>
              <a:defRPr sz="2160" kern="1200">
                <a:solidFill>
                  <a:schemeClr val="tx2"/>
                </a:solidFill>
                <a:latin typeface="+mn-lt"/>
                <a:ea typeface="ＭＳ Ｐゴシック" charset="0"/>
                <a:cs typeface="ＭＳ Ｐゴシック" charset="0"/>
              </a:defRPr>
            </a:lvl1pPr>
            <a:lvl2pPr marL="523208" indent="-150019" algn="l" rtl="0" eaLnBrk="1" fontAlgn="base" hangingPunct="1">
              <a:lnSpc>
                <a:spcPct val="100000"/>
              </a:lnSpc>
              <a:spcBef>
                <a:spcPts val="0"/>
              </a:spcBef>
              <a:spcAft>
                <a:spcPts val="0"/>
              </a:spcAft>
              <a:buClr>
                <a:srgbClr val="990000"/>
              </a:buClr>
              <a:buSzPct val="80000"/>
              <a:buFont typeface="Arial" charset="0"/>
              <a:buChar char="•"/>
              <a:defRPr sz="1800" kern="1200">
                <a:solidFill>
                  <a:srgbClr val="383838"/>
                </a:solidFill>
                <a:latin typeface="+mn-lt"/>
                <a:ea typeface="ＭＳ Ｐゴシック" charset="0"/>
                <a:cs typeface="+mn-cs"/>
              </a:defRPr>
            </a:lvl2pPr>
            <a:lvl3pPr marL="770096" indent="-150019"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3pPr>
            <a:lvl4pPr marL="1081565" indent="-155735" algn="l" rtl="0" eaLnBrk="1" fontAlgn="base" hangingPunct="1">
              <a:lnSpc>
                <a:spcPct val="100000"/>
              </a:lnSpc>
              <a:spcBef>
                <a:spcPts val="0"/>
              </a:spcBef>
              <a:spcAft>
                <a:spcPts val="0"/>
              </a:spcAft>
              <a:buClr>
                <a:srgbClr val="990000"/>
              </a:buClr>
              <a:buSzPct val="80000"/>
              <a:buFont typeface="Wingdings" charset="2"/>
              <a:buChar char="§"/>
              <a:defRPr kern="1200">
                <a:solidFill>
                  <a:srgbClr val="383838"/>
                </a:solidFill>
                <a:latin typeface="+mn-lt"/>
                <a:ea typeface="ＭＳ Ｐゴシック" charset="0"/>
                <a:cs typeface="+mn-cs"/>
              </a:defRPr>
            </a:lvl4pPr>
            <a:lvl5pPr marL="1284446" indent="-151447"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5pPr>
            <a:lvl6pPr marL="148955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6pPr>
            <a:lvl7pPr marL="169529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7pPr>
            <a:lvl8pPr marL="190103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8pPr>
            <a:lvl9pPr marL="210677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9pPr>
          </a:lstStyle>
          <a:p>
            <a:r>
              <a:rPr lang="en-US" altLang="en-US"/>
              <a:t>V</a:t>
            </a:r>
            <a:r>
              <a:rPr lang="en-US" altLang="en-US" baseline="-25000"/>
              <a:t>gs</a:t>
            </a:r>
            <a:r>
              <a:rPr lang="en-US" altLang="en-US"/>
              <a:t> &gt; V</a:t>
            </a:r>
            <a:r>
              <a:rPr lang="en-US" altLang="en-US" baseline="-25000"/>
              <a:t>t</a:t>
            </a:r>
          </a:p>
          <a:p>
            <a:r>
              <a:rPr lang="en-US" altLang="en-US"/>
              <a:t>But V</a:t>
            </a:r>
            <a:r>
              <a:rPr lang="en-US" altLang="en-US" baseline="-25000"/>
              <a:t>ds</a:t>
            </a:r>
            <a:r>
              <a:rPr lang="en-US" altLang="en-US"/>
              <a:t> small</a:t>
            </a:r>
          </a:p>
          <a:p>
            <a:r>
              <a:rPr lang="en-US" altLang="en-US"/>
              <a:t>Channel forms</a:t>
            </a:r>
          </a:p>
          <a:p>
            <a:r>
              <a:rPr lang="en-US" altLang="en-US"/>
              <a:t>Current flows from d to s </a:t>
            </a:r>
          </a:p>
          <a:p>
            <a:pPr lvl="1"/>
            <a:r>
              <a:rPr lang="en-US" altLang="en-US"/>
              <a:t>e</a:t>
            </a:r>
            <a:r>
              <a:rPr lang="en-US" altLang="en-US" baseline="30000"/>
              <a:t>-</a:t>
            </a:r>
            <a:r>
              <a:rPr lang="en-US" altLang="en-US"/>
              <a:t> from s to d</a:t>
            </a:r>
          </a:p>
          <a:p>
            <a:r>
              <a:rPr lang="en-US" altLang="en-US"/>
              <a:t>I</a:t>
            </a:r>
            <a:r>
              <a:rPr lang="en-US" altLang="en-US" baseline="-25000"/>
              <a:t>ds</a:t>
            </a:r>
            <a:r>
              <a:rPr lang="en-US" altLang="en-US"/>
              <a:t> increases with V</a:t>
            </a:r>
            <a:r>
              <a:rPr lang="en-US" altLang="en-US" baseline="-25000"/>
              <a:t>ds</a:t>
            </a:r>
          </a:p>
          <a:p>
            <a:r>
              <a:rPr lang="en-US" altLang="en-US"/>
              <a:t>Similar to linear resistor</a:t>
            </a:r>
            <a:endParaRPr lang="en-US" altLang="en-US" dirty="0"/>
          </a:p>
        </p:txBody>
      </p:sp>
    </p:spTree>
    <p:extLst>
      <p:ext uri="{BB962C8B-B14F-4D97-AF65-F5344CB8AC3E}">
        <p14:creationId xmlns:p14="http://schemas.microsoft.com/office/powerpoint/2010/main" val="586088356"/>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260104"/>
                                        </p:tgtEl>
                                      </p:cBhvr>
                                    </p:animEffect>
                                    <p:set>
                                      <p:cBhvr>
                                        <p:cTn id="7" dur="1" fill="hold">
                                          <p:stCondLst>
                                            <p:cond delay="499"/>
                                          </p:stCondLst>
                                        </p:cTn>
                                        <p:tgtEl>
                                          <p:spTgt spid="260104"/>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260105"/>
                                        </p:tgtEl>
                                      </p:cBhvr>
                                    </p:animEffect>
                                    <p:set>
                                      <p:cBhvr>
                                        <p:cTn id="12" dur="1" fill="hold">
                                          <p:stCondLst>
                                            <p:cond delay="499"/>
                                          </p:stCondLst>
                                        </p:cTn>
                                        <p:tgtEl>
                                          <p:spTgt spid="260105"/>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260106"/>
                                        </p:tgtEl>
                                      </p:cBhvr>
                                    </p:animEffect>
                                    <p:set>
                                      <p:cBhvr>
                                        <p:cTn id="17" dur="1" fill="hold">
                                          <p:stCondLst>
                                            <p:cond delay="499"/>
                                          </p:stCondLst>
                                        </p:cTn>
                                        <p:tgtEl>
                                          <p:spTgt spid="2601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4" grpId="0" animBg="1"/>
      <p:bldP spid="260105" grpId="0" animBg="1"/>
      <p:bldP spid="26010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3">
            <a:extLst>
              <a:ext uri="{FF2B5EF4-FFF2-40B4-BE49-F238E27FC236}">
                <a16:creationId xmlns:a16="http://schemas.microsoft.com/office/drawing/2014/main" id="{733065CD-79BC-6140-94B3-564BEA80D4B0}"/>
              </a:ext>
            </a:extLst>
          </p:cNvPr>
          <p:cNvSpPr>
            <a:spLocks noGrp="1" noChangeArrowheads="1"/>
          </p:cNvSpPr>
          <p:nvPr>
            <p:ph idx="1"/>
          </p:nvPr>
        </p:nvSpPr>
        <p:spPr/>
        <p:txBody>
          <a:bodyPr/>
          <a:lstStyle/>
          <a:p>
            <a:pPr eaLnBrk="1" hangingPunct="1"/>
            <a:r>
              <a:rPr lang="en-US" altLang="en-US" dirty="0"/>
              <a:t>If V</a:t>
            </a:r>
            <a:r>
              <a:rPr lang="en-US" altLang="en-US" baseline="-25000" dirty="0"/>
              <a:t>gd</a:t>
            </a:r>
            <a:r>
              <a:rPr lang="en-US" altLang="en-US" dirty="0"/>
              <a:t> &lt; V</a:t>
            </a:r>
            <a:r>
              <a:rPr lang="en-US" altLang="en-US" baseline="-25000" dirty="0"/>
              <a:t>t</a:t>
            </a:r>
            <a:r>
              <a:rPr lang="en-US" altLang="en-US" dirty="0"/>
              <a:t>, channel pinches off near drain</a:t>
            </a:r>
          </a:p>
          <a:p>
            <a:pPr lvl="1" eaLnBrk="1" hangingPunct="1"/>
            <a:r>
              <a:rPr lang="en-US" altLang="en-US" dirty="0"/>
              <a:t>When V</a:t>
            </a:r>
            <a:r>
              <a:rPr lang="en-US" altLang="en-US" baseline="-25000" dirty="0"/>
              <a:t>ds</a:t>
            </a:r>
            <a:r>
              <a:rPr lang="en-US" altLang="en-US" dirty="0"/>
              <a:t> &gt; V</a:t>
            </a:r>
            <a:r>
              <a:rPr lang="en-US" altLang="en-US" baseline="-25000" dirty="0"/>
              <a:t>dsat</a:t>
            </a:r>
            <a:r>
              <a:rPr lang="en-US" altLang="en-US" dirty="0"/>
              <a:t> = V</a:t>
            </a:r>
            <a:r>
              <a:rPr lang="en-US" altLang="en-US" baseline="-25000" dirty="0"/>
              <a:t>gs</a:t>
            </a:r>
            <a:r>
              <a:rPr lang="en-US" altLang="en-US" dirty="0"/>
              <a:t> – V</a:t>
            </a:r>
            <a:r>
              <a:rPr lang="en-US" altLang="en-US" baseline="-25000" dirty="0"/>
              <a:t>t</a:t>
            </a:r>
          </a:p>
          <a:p>
            <a:pPr eaLnBrk="1" hangingPunct="1"/>
            <a:r>
              <a:rPr lang="en-US" altLang="en-US" dirty="0"/>
              <a:t>Now drain voltage no longer increases current</a:t>
            </a:r>
          </a:p>
        </p:txBody>
      </p:sp>
      <p:sp>
        <p:nvSpPr>
          <p:cNvPr id="40963" name="Rectangle 2">
            <a:extLst>
              <a:ext uri="{FF2B5EF4-FFF2-40B4-BE49-F238E27FC236}">
                <a16:creationId xmlns:a16="http://schemas.microsoft.com/office/drawing/2014/main" id="{26BC6DC3-35C2-B247-87BB-041E2AE1C43B}"/>
              </a:ext>
            </a:extLst>
          </p:cNvPr>
          <p:cNvSpPr>
            <a:spLocks noGrp="1" noChangeArrowheads="1"/>
          </p:cNvSpPr>
          <p:nvPr>
            <p:ph type="title"/>
          </p:nvPr>
        </p:nvSpPr>
        <p:spPr/>
        <p:txBody>
          <a:bodyPr/>
          <a:lstStyle/>
          <a:p>
            <a:pPr eaLnBrk="1" hangingPunct="1"/>
            <a:r>
              <a:rPr lang="en-US" altLang="en-US" dirty="0"/>
              <a:t>nMOS Saturation I-V</a:t>
            </a:r>
          </a:p>
        </p:txBody>
      </p:sp>
      <p:sp>
        <p:nvSpPr>
          <p:cNvPr id="40965" name="Rectangle 4">
            <a:extLst>
              <a:ext uri="{FF2B5EF4-FFF2-40B4-BE49-F238E27FC236}">
                <a16:creationId xmlns:a16="http://schemas.microsoft.com/office/drawing/2014/main" id="{2F0D34BF-0BE9-CE48-8B4C-C6FB773F317D}"/>
              </a:ext>
            </a:extLst>
          </p:cNvPr>
          <p:cNvSpPr>
            <a:spLocks noChangeArrowheads="1"/>
          </p:cNvSpPr>
          <p:nvPr/>
        </p:nvSpPr>
        <p:spPr bwMode="auto">
          <a:xfrm>
            <a:off x="5535613" y="323056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graphicFrame>
        <p:nvGraphicFramePr>
          <p:cNvPr id="40966" name="Object 5">
            <a:extLst>
              <a:ext uri="{FF2B5EF4-FFF2-40B4-BE49-F238E27FC236}">
                <a16:creationId xmlns:a16="http://schemas.microsoft.com/office/drawing/2014/main" id="{5446748B-8FB6-B941-AD2E-CC4FE77AFF2B}"/>
              </a:ext>
            </a:extLst>
          </p:cNvPr>
          <p:cNvGraphicFramePr>
            <a:graphicFrameLocks noChangeAspect="1"/>
          </p:cNvGraphicFramePr>
          <p:nvPr/>
        </p:nvGraphicFramePr>
        <p:xfrm>
          <a:off x="2743200" y="2971801"/>
          <a:ext cx="4267200" cy="1897063"/>
        </p:xfrm>
        <a:graphic>
          <a:graphicData uri="http://schemas.openxmlformats.org/presentationml/2006/ole">
            <mc:AlternateContent xmlns:mc="http://schemas.openxmlformats.org/markup-compatibility/2006">
              <mc:Choice xmlns:v="urn:schemas-microsoft-com:vml" Requires="v">
                <p:oleObj name="Equation" r:id="rId3" imgW="42125900" imgH="18719800" progId="Equation.DSMT4">
                  <p:embed/>
                </p:oleObj>
              </mc:Choice>
              <mc:Fallback>
                <p:oleObj name="Equation" r:id="rId3" imgW="42125900" imgH="18719800" progId="Equation.DSMT4">
                  <p:embed/>
                  <p:pic>
                    <p:nvPicPr>
                      <p:cNvPr id="40966" name="Object 5">
                        <a:extLst>
                          <a:ext uri="{FF2B5EF4-FFF2-40B4-BE49-F238E27FC236}">
                            <a16:creationId xmlns:a16="http://schemas.microsoft.com/office/drawing/2014/main" id="{5446748B-8FB6-B941-AD2E-CC4FE77AFF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971801"/>
                        <a:ext cx="4267200" cy="1897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258054" name="Rectangle 6">
            <a:extLst>
              <a:ext uri="{FF2B5EF4-FFF2-40B4-BE49-F238E27FC236}">
                <a16:creationId xmlns:a16="http://schemas.microsoft.com/office/drawing/2014/main" id="{E28C3639-5FDD-E24E-A8A7-B743A9A408FA}"/>
              </a:ext>
            </a:extLst>
          </p:cNvPr>
          <p:cNvSpPr>
            <a:spLocks noChangeArrowheads="1"/>
          </p:cNvSpPr>
          <p:nvPr/>
        </p:nvSpPr>
        <p:spPr bwMode="auto">
          <a:xfrm>
            <a:off x="5095009" y="1795165"/>
            <a:ext cx="11430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sp>
        <p:nvSpPr>
          <p:cNvPr id="258055" name="Rectangle 7">
            <a:extLst>
              <a:ext uri="{FF2B5EF4-FFF2-40B4-BE49-F238E27FC236}">
                <a16:creationId xmlns:a16="http://schemas.microsoft.com/office/drawing/2014/main" id="{892E95B7-0407-AA4B-8ADD-BE13F490D408}"/>
              </a:ext>
            </a:extLst>
          </p:cNvPr>
          <p:cNvSpPr>
            <a:spLocks noChangeArrowheads="1"/>
          </p:cNvSpPr>
          <p:nvPr/>
        </p:nvSpPr>
        <p:spPr bwMode="auto">
          <a:xfrm>
            <a:off x="3505200" y="2971800"/>
            <a:ext cx="3505200" cy="990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sp>
        <p:nvSpPr>
          <p:cNvPr id="258056" name="Rectangle 8">
            <a:extLst>
              <a:ext uri="{FF2B5EF4-FFF2-40B4-BE49-F238E27FC236}">
                <a16:creationId xmlns:a16="http://schemas.microsoft.com/office/drawing/2014/main" id="{A245FDF5-E9E7-3B48-A8F7-3B30B2210989}"/>
              </a:ext>
            </a:extLst>
          </p:cNvPr>
          <p:cNvSpPr>
            <a:spLocks noChangeArrowheads="1"/>
          </p:cNvSpPr>
          <p:nvPr/>
        </p:nvSpPr>
        <p:spPr bwMode="auto">
          <a:xfrm>
            <a:off x="3505200" y="3962400"/>
            <a:ext cx="182880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sp>
        <p:nvSpPr>
          <p:cNvPr id="2" name="Rectangle 3">
            <a:extLst>
              <a:ext uri="{FF2B5EF4-FFF2-40B4-BE49-F238E27FC236}">
                <a16:creationId xmlns:a16="http://schemas.microsoft.com/office/drawing/2014/main" id="{35B78EFC-7231-336A-E822-5F16E2BC6FC7}"/>
              </a:ext>
            </a:extLst>
          </p:cNvPr>
          <p:cNvSpPr txBox="1">
            <a:spLocks noChangeArrowheads="1"/>
          </p:cNvSpPr>
          <p:nvPr/>
        </p:nvSpPr>
        <p:spPr>
          <a:xfrm>
            <a:off x="8911771" y="2181811"/>
            <a:ext cx="3280229" cy="3552239"/>
          </a:xfrm>
          <a:prstGeom prst="rect">
            <a:avLst/>
          </a:prstGeom>
        </p:spPr>
        <p:txBody>
          <a:bodyPr vert="horz" lIns="0" tIns="0" rIns="0" bIns="0" rtlCol="0">
            <a:noAutofit/>
          </a:bodyPr>
          <a:lstStyle>
            <a:lvl1pPr marL="308610" indent="-308610" algn="l" rtl="0" eaLnBrk="1" fontAlgn="base" hangingPunct="1">
              <a:lnSpc>
                <a:spcPct val="100000"/>
              </a:lnSpc>
              <a:spcBef>
                <a:spcPts val="540"/>
              </a:spcBef>
              <a:spcAft>
                <a:spcPts val="0"/>
              </a:spcAft>
              <a:buClr>
                <a:srgbClr val="990000"/>
              </a:buClr>
              <a:buFont typeface="Arial" charset="0"/>
              <a:buChar char="•"/>
              <a:defRPr sz="2160" kern="1200">
                <a:solidFill>
                  <a:schemeClr val="tx2"/>
                </a:solidFill>
                <a:latin typeface="+mn-lt"/>
                <a:ea typeface="ＭＳ Ｐゴシック" charset="0"/>
                <a:cs typeface="ＭＳ Ｐゴシック" charset="0"/>
              </a:defRPr>
            </a:lvl1pPr>
            <a:lvl2pPr marL="523208" indent="-150019" algn="l" rtl="0" eaLnBrk="1" fontAlgn="base" hangingPunct="1">
              <a:lnSpc>
                <a:spcPct val="100000"/>
              </a:lnSpc>
              <a:spcBef>
                <a:spcPts val="0"/>
              </a:spcBef>
              <a:spcAft>
                <a:spcPts val="0"/>
              </a:spcAft>
              <a:buClr>
                <a:srgbClr val="990000"/>
              </a:buClr>
              <a:buSzPct val="80000"/>
              <a:buFont typeface="Arial" charset="0"/>
              <a:buChar char="•"/>
              <a:defRPr sz="1800" kern="1200">
                <a:solidFill>
                  <a:srgbClr val="383838"/>
                </a:solidFill>
                <a:latin typeface="+mn-lt"/>
                <a:ea typeface="ＭＳ Ｐゴシック" charset="0"/>
                <a:cs typeface="+mn-cs"/>
              </a:defRPr>
            </a:lvl2pPr>
            <a:lvl3pPr marL="770096" indent="-150019"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3pPr>
            <a:lvl4pPr marL="1081565" indent="-155735" algn="l" rtl="0" eaLnBrk="1" fontAlgn="base" hangingPunct="1">
              <a:lnSpc>
                <a:spcPct val="100000"/>
              </a:lnSpc>
              <a:spcBef>
                <a:spcPts val="0"/>
              </a:spcBef>
              <a:spcAft>
                <a:spcPts val="0"/>
              </a:spcAft>
              <a:buClr>
                <a:srgbClr val="990000"/>
              </a:buClr>
              <a:buSzPct val="80000"/>
              <a:buFont typeface="Wingdings" charset="2"/>
              <a:buChar char="§"/>
              <a:defRPr kern="1200">
                <a:solidFill>
                  <a:srgbClr val="383838"/>
                </a:solidFill>
                <a:latin typeface="+mn-lt"/>
                <a:ea typeface="ＭＳ Ｐゴシック" charset="0"/>
                <a:cs typeface="+mn-cs"/>
              </a:defRPr>
            </a:lvl4pPr>
            <a:lvl5pPr marL="1284446" indent="-151447" algn="l" rtl="0" eaLnBrk="1" fontAlgn="base" hangingPunct="1">
              <a:lnSpc>
                <a:spcPct val="100000"/>
              </a:lnSpc>
              <a:spcBef>
                <a:spcPts val="0"/>
              </a:spcBef>
              <a:spcAft>
                <a:spcPts val="0"/>
              </a:spcAft>
              <a:buClr>
                <a:srgbClr val="990000"/>
              </a:buClr>
              <a:buSzPct val="80000"/>
              <a:buFont typeface="Calibri" charset="0"/>
              <a:buChar char="–"/>
              <a:defRPr kern="1200">
                <a:solidFill>
                  <a:srgbClr val="383838"/>
                </a:solidFill>
                <a:latin typeface="+mn-lt"/>
                <a:ea typeface="ＭＳ Ｐゴシック" charset="0"/>
                <a:cs typeface="+mn-cs"/>
              </a:defRPr>
            </a:lvl5pPr>
            <a:lvl6pPr marL="148955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6pPr>
            <a:lvl7pPr marL="169529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7pPr>
            <a:lvl8pPr marL="1901038" indent="-148133" algn="l" defTabSz="82296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440" kern="1200" dirty="0" smtClean="0">
                <a:solidFill>
                  <a:srgbClr val="383838"/>
                </a:solidFill>
                <a:latin typeface="+mn-lt"/>
                <a:ea typeface="+mn-ea"/>
                <a:cs typeface="+mn-cs"/>
              </a:defRPr>
            </a:lvl8pPr>
            <a:lvl9pPr marL="2106778" indent="-148133" algn="l" defTabSz="82296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440" kern="1200" dirty="0" smtClean="0">
                <a:solidFill>
                  <a:srgbClr val="383838"/>
                </a:solidFill>
                <a:latin typeface="+mn-lt"/>
                <a:ea typeface="+mn-ea"/>
                <a:cs typeface="+mn-cs"/>
              </a:defRPr>
            </a:lvl9pPr>
          </a:lstStyle>
          <a:p>
            <a:r>
              <a:rPr lang="en-US" altLang="en-US" dirty="0" err="1"/>
              <a:t>V</a:t>
            </a:r>
            <a:r>
              <a:rPr lang="en-US" altLang="en-US" baseline="-25000" dirty="0" err="1"/>
              <a:t>gs</a:t>
            </a:r>
            <a:r>
              <a:rPr lang="en-US" altLang="en-US" dirty="0"/>
              <a:t> &gt; V</a:t>
            </a:r>
            <a:r>
              <a:rPr lang="en-US" altLang="en-US" baseline="-25000" dirty="0"/>
              <a:t>t</a:t>
            </a:r>
          </a:p>
          <a:p>
            <a:r>
              <a:rPr lang="en-US" altLang="en-US" dirty="0" err="1"/>
              <a:t>V</a:t>
            </a:r>
            <a:r>
              <a:rPr lang="en-US" altLang="en-US" baseline="-25000" dirty="0" err="1"/>
              <a:t>ds</a:t>
            </a:r>
            <a:r>
              <a:rPr lang="en-US" altLang="en-US" dirty="0"/>
              <a:t> &gt; </a:t>
            </a:r>
            <a:r>
              <a:rPr lang="en-US" altLang="en-US" dirty="0" err="1"/>
              <a:t>V</a:t>
            </a:r>
            <a:r>
              <a:rPr lang="en-US" altLang="en-US" baseline="-25000" dirty="0" err="1"/>
              <a:t>gs</a:t>
            </a:r>
            <a:r>
              <a:rPr lang="en-US" altLang="en-US" dirty="0"/>
              <a:t> - V</a:t>
            </a:r>
            <a:r>
              <a:rPr lang="en-US" altLang="en-US" baseline="-25000" dirty="0"/>
              <a:t>t</a:t>
            </a:r>
          </a:p>
          <a:p>
            <a:r>
              <a:rPr lang="en-US" altLang="en-US" dirty="0"/>
              <a:t>Channel pinches off</a:t>
            </a:r>
          </a:p>
          <a:p>
            <a:r>
              <a:rPr lang="en-US" altLang="en-US" dirty="0"/>
              <a:t>I</a:t>
            </a:r>
            <a:r>
              <a:rPr lang="en-US" altLang="en-US" baseline="-25000" dirty="0"/>
              <a:t>ds</a:t>
            </a:r>
            <a:r>
              <a:rPr lang="en-US" altLang="en-US" dirty="0"/>
              <a:t> independent of </a:t>
            </a:r>
            <a:r>
              <a:rPr lang="en-US" altLang="en-US" dirty="0" err="1"/>
              <a:t>V</a:t>
            </a:r>
            <a:r>
              <a:rPr lang="en-US" altLang="en-US" baseline="-25000" dirty="0" err="1"/>
              <a:t>ds</a:t>
            </a:r>
            <a:endParaRPr lang="en-US" altLang="en-US" baseline="-25000" dirty="0"/>
          </a:p>
          <a:p>
            <a:r>
              <a:rPr lang="en-US" altLang="en-US" dirty="0"/>
              <a:t>We say current </a:t>
            </a:r>
            <a:r>
              <a:rPr lang="en-US" altLang="en-US" i="1" dirty="0"/>
              <a:t>saturates</a:t>
            </a:r>
          </a:p>
          <a:p>
            <a:r>
              <a:rPr lang="en-US" altLang="en-US" dirty="0"/>
              <a:t>Similar to current source</a:t>
            </a:r>
          </a:p>
        </p:txBody>
      </p:sp>
      <p:pic>
        <p:nvPicPr>
          <p:cNvPr id="3" name="Picture 2" descr="A picture containing computer, clock&#10;&#10;Description generated with very high confidence">
            <a:extLst>
              <a:ext uri="{FF2B5EF4-FFF2-40B4-BE49-F238E27FC236}">
                <a16:creationId xmlns:a16="http://schemas.microsoft.com/office/drawing/2014/main" id="{6B4C247D-B295-17CC-9FE2-EC992F3A414C}"/>
              </a:ext>
            </a:extLst>
          </p:cNvPr>
          <p:cNvPicPr>
            <a:picLocks noChangeAspect="1"/>
          </p:cNvPicPr>
          <p:nvPr/>
        </p:nvPicPr>
        <p:blipFill>
          <a:blip r:embed="rId5"/>
          <a:stretch>
            <a:fillRect/>
          </a:stretch>
        </p:blipFill>
        <p:spPr>
          <a:xfrm>
            <a:off x="8739909" y="343847"/>
            <a:ext cx="3675929" cy="1837965"/>
          </a:xfrm>
          <a:prstGeom prst="rect">
            <a:avLst/>
          </a:prstGeom>
        </p:spPr>
      </p:pic>
    </p:spTree>
    <p:extLst>
      <p:ext uri="{BB962C8B-B14F-4D97-AF65-F5344CB8AC3E}">
        <p14:creationId xmlns:p14="http://schemas.microsoft.com/office/powerpoint/2010/main" val="3264687995"/>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258054"/>
                                        </p:tgtEl>
                                      </p:cBhvr>
                                    </p:animEffect>
                                    <p:set>
                                      <p:cBhvr>
                                        <p:cTn id="7" dur="1" fill="hold">
                                          <p:stCondLst>
                                            <p:cond delay="499"/>
                                          </p:stCondLst>
                                        </p:cTn>
                                        <p:tgtEl>
                                          <p:spTgt spid="258054"/>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258055"/>
                                        </p:tgtEl>
                                      </p:cBhvr>
                                    </p:animEffect>
                                    <p:set>
                                      <p:cBhvr>
                                        <p:cTn id="12" dur="1" fill="hold">
                                          <p:stCondLst>
                                            <p:cond delay="499"/>
                                          </p:stCondLst>
                                        </p:cTn>
                                        <p:tgtEl>
                                          <p:spTgt spid="258055"/>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258056"/>
                                        </p:tgtEl>
                                      </p:cBhvr>
                                    </p:animEffect>
                                    <p:set>
                                      <p:cBhvr>
                                        <p:cTn id="17" dur="1" fill="hold">
                                          <p:stCondLst>
                                            <p:cond delay="499"/>
                                          </p:stCondLst>
                                        </p:cTn>
                                        <p:tgtEl>
                                          <p:spTgt spid="2580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4" grpId="0" animBg="1"/>
      <p:bldP spid="258055" grpId="0" animBg="1"/>
      <p:bldP spid="25805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8" name="Rectangle 9">
            <a:extLst>
              <a:ext uri="{FF2B5EF4-FFF2-40B4-BE49-F238E27FC236}">
                <a16:creationId xmlns:a16="http://schemas.microsoft.com/office/drawing/2014/main" id="{7F053FD1-1132-8A40-A8A0-CD6A5E99FFC8}"/>
              </a:ext>
            </a:extLst>
          </p:cNvPr>
          <p:cNvSpPr>
            <a:spLocks noGrp="1" noChangeArrowheads="1"/>
          </p:cNvSpPr>
          <p:nvPr>
            <p:ph idx="1"/>
          </p:nvPr>
        </p:nvSpPr>
        <p:spPr/>
        <p:txBody>
          <a:bodyPr/>
          <a:lstStyle/>
          <a:p>
            <a:pPr eaLnBrk="1" hangingPunct="1"/>
            <a:r>
              <a:rPr lang="en-US" altLang="en-US" i="1" dirty="0"/>
              <a:t>Shockley</a:t>
            </a:r>
            <a:r>
              <a:rPr lang="en-US" altLang="en-US" dirty="0"/>
              <a:t> 1st order transistor models</a:t>
            </a:r>
          </a:p>
        </p:txBody>
      </p:sp>
      <p:sp>
        <p:nvSpPr>
          <p:cNvPr id="43011" name="Rectangle 2">
            <a:extLst>
              <a:ext uri="{FF2B5EF4-FFF2-40B4-BE49-F238E27FC236}">
                <a16:creationId xmlns:a16="http://schemas.microsoft.com/office/drawing/2014/main" id="{A937AF7D-34A3-6E40-BB6D-770BC013291D}"/>
              </a:ext>
            </a:extLst>
          </p:cNvPr>
          <p:cNvSpPr>
            <a:spLocks noGrp="1" noChangeArrowheads="1"/>
          </p:cNvSpPr>
          <p:nvPr>
            <p:ph type="title"/>
          </p:nvPr>
        </p:nvSpPr>
        <p:spPr/>
        <p:txBody>
          <a:bodyPr/>
          <a:lstStyle/>
          <a:p>
            <a:pPr eaLnBrk="1" hangingPunct="1"/>
            <a:r>
              <a:rPr lang="en-US" altLang="en-US" dirty="0"/>
              <a:t>I-V Summary</a:t>
            </a:r>
          </a:p>
        </p:txBody>
      </p:sp>
      <p:sp>
        <p:nvSpPr>
          <p:cNvPr id="43012" name="Rectangle 3">
            <a:extLst>
              <a:ext uri="{FF2B5EF4-FFF2-40B4-BE49-F238E27FC236}">
                <a16:creationId xmlns:a16="http://schemas.microsoft.com/office/drawing/2014/main" id="{F99389A8-BB8F-4943-95D6-847BA9DA6620}"/>
              </a:ext>
            </a:extLst>
          </p:cNvPr>
          <p:cNvSpPr>
            <a:spLocks noChangeArrowheads="1"/>
          </p:cNvSpPr>
          <p:nvPr/>
        </p:nvSpPr>
        <p:spPr bwMode="auto">
          <a:xfrm>
            <a:off x="4484688" y="28082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sp>
        <p:nvSpPr>
          <p:cNvPr id="43013" name="Rectangle 4">
            <a:extLst>
              <a:ext uri="{FF2B5EF4-FFF2-40B4-BE49-F238E27FC236}">
                <a16:creationId xmlns:a16="http://schemas.microsoft.com/office/drawing/2014/main" id="{FDDE1DEE-7610-434F-99E6-6B626C6E5B19}"/>
              </a:ext>
            </a:extLst>
          </p:cNvPr>
          <p:cNvSpPr>
            <a:spLocks noChangeArrowheads="1"/>
          </p:cNvSpPr>
          <p:nvPr/>
        </p:nvSpPr>
        <p:spPr bwMode="auto">
          <a:xfrm>
            <a:off x="4484688" y="28082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sp>
        <p:nvSpPr>
          <p:cNvPr id="43014" name="Rectangle 5">
            <a:extLst>
              <a:ext uri="{FF2B5EF4-FFF2-40B4-BE49-F238E27FC236}">
                <a16:creationId xmlns:a16="http://schemas.microsoft.com/office/drawing/2014/main" id="{7368D302-8477-DE4B-B57A-C15DD86F3E98}"/>
              </a:ext>
            </a:extLst>
          </p:cNvPr>
          <p:cNvSpPr>
            <a:spLocks noChangeArrowheads="1"/>
          </p:cNvSpPr>
          <p:nvPr/>
        </p:nvSpPr>
        <p:spPr bwMode="auto">
          <a:xfrm>
            <a:off x="4484688" y="28082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p:sp>
        <p:nvSpPr>
          <p:cNvPr id="43016" name="Rectangle 7">
            <a:extLst>
              <a:ext uri="{FF2B5EF4-FFF2-40B4-BE49-F238E27FC236}">
                <a16:creationId xmlns:a16="http://schemas.microsoft.com/office/drawing/2014/main" id="{01B75C05-7846-5E4A-A948-439D5591DD0B}"/>
              </a:ext>
            </a:extLst>
          </p:cNvPr>
          <p:cNvSpPr>
            <a:spLocks noChangeArrowheads="1"/>
          </p:cNvSpPr>
          <p:nvPr/>
        </p:nvSpPr>
        <p:spPr bwMode="auto">
          <a:xfrm>
            <a:off x="4484688" y="28082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itchFamily="2" charset="2"/>
              <a:buChar char="q"/>
              <a:defRPr sz="24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4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endParaRPr lang="en-US" altLang="en-US" dirty="0">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43017" name="Object 8">
                <a:extLst>
                  <a:ext uri="{FF2B5EF4-FFF2-40B4-BE49-F238E27FC236}">
                    <a16:creationId xmlns:a16="http://schemas.microsoft.com/office/drawing/2014/main" id="{880AA973-1183-2440-B111-E6ECF5112929}"/>
                  </a:ext>
                </a:extLst>
              </p:cNvPr>
              <p:cNvSpPr txBox="1"/>
              <p:nvPr/>
            </p:nvSpPr>
            <p:spPr bwMode="auto">
              <a:xfrm>
                <a:off x="335729" y="4410491"/>
                <a:ext cx="7772400" cy="29987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𝐼</m:t>
                          </m:r>
                        </m:e>
                        <m:sub>
                          <m:r>
                            <a:rPr lang="en-US" i="1">
                              <a:solidFill>
                                <a:srgbClr val="000000"/>
                              </a:solidFill>
                              <a:latin typeface="Cambria Math" panose="02040503050406030204" pitchFamily="18" charset="0"/>
                            </a:rPr>
                            <m:t>𝑑𝑠</m:t>
                          </m:r>
                        </m:sub>
                      </m:sSub>
                      <m:r>
                        <a:rPr lang="en-US" i="1">
                          <a:solidFill>
                            <a:srgbClr val="000000"/>
                          </a:solidFill>
                          <a:latin typeface="Cambria Math" panose="02040503050406030204" pitchFamily="18" charset="0"/>
                        </a:rPr>
                        <m:t>=</m:t>
                      </m:r>
                      <m:d>
                        <m:dPr>
                          <m:begChr m:val="{"/>
                          <m:endChr m:val=""/>
                          <m:ctrlPr>
                            <a:rPr lang="en-US" i="1">
                              <a:solidFill>
                                <a:srgbClr val="000000"/>
                              </a:solidFill>
                              <a:latin typeface="Cambria Math" panose="02040503050406030204" pitchFamily="18" charset="0"/>
                            </a:rPr>
                          </m:ctrlPr>
                        </m:dPr>
                        <m:e>
                          <m:m>
                            <m:mPr>
                              <m:plcHide m:val="on"/>
                              <m:mcs>
                                <m:mc>
                                  <m:mcPr>
                                    <m:count m:val="3"/>
                                    <m:mcJc m:val="center"/>
                                  </m:mcPr>
                                </m:mc>
                              </m:mcs>
                              <m:ctrlPr>
                                <a:rPr lang="en-US" i="1">
                                  <a:solidFill>
                                    <a:srgbClr val="000000"/>
                                  </a:solidFill>
                                  <a:latin typeface="Cambria Math" panose="02040503050406030204" pitchFamily="18" charset="0"/>
                                </a:rPr>
                              </m:ctrlPr>
                            </m:mPr>
                            <m:mr>
                              <m:e>
                                <m:r>
                                  <a:rPr lang="en-US" i="1">
                                    <a:solidFill>
                                      <a:srgbClr val="000000"/>
                                    </a:solidFill>
                                    <a:latin typeface="Cambria Math" panose="02040503050406030204" pitchFamily="18" charset="0"/>
                                  </a:rPr>
                                  <m:t>0</m:t>
                                </m:r>
                              </m:e>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𝑔𝑠</m:t>
                                    </m:r>
                                  </m:sub>
                                </m:sSub>
                                <m:r>
                                  <a:rPr lang="en-US" i="1">
                                    <a:solidFill>
                                      <a:srgbClr val="000000"/>
                                    </a:solidFill>
                                    <a:latin typeface="Cambria Math" panose="02040503050406030204" pitchFamily="18" charset="0"/>
                                  </a:rPr>
                                  <m:t>&lt;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𝑡</m:t>
                                    </m:r>
                                  </m:sub>
                                </m:sSub>
                              </m:e>
                              <m:e>
                                <m:r>
                                  <m:rPr>
                                    <m:nor/>
                                  </m:rPr>
                                  <a:rPr lang="en-US" i="0">
                                    <a:solidFill>
                                      <a:srgbClr val="0000FF"/>
                                    </a:solidFill>
                                    <a:latin typeface="Cambria Math" panose="02040503050406030204" pitchFamily="18" charset="0"/>
                                  </a:rPr>
                                  <m:t>cutoff</m:t>
                                </m:r>
                              </m:e>
                            </m:mr>
                            <m:mr>
                              <m:e>
                                <m:r>
                                  <a:rPr lang="en-US" i="1">
                                    <a:solidFill>
                                      <a:srgbClr val="000000"/>
                                    </a:solidFill>
                                    <a:latin typeface="Cambria Math" panose="02040503050406030204" pitchFamily="18" charset="0"/>
                                  </a:rPr>
                                  <m:t>𝛽</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𝑔𝑠</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𝑡</m:t>
                                        </m:r>
                                      </m:sub>
                                    </m:sSub>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𝑑𝑠</m:t>
                                            </m:r>
                                          </m:sub>
                                        </m:sSub>
                                      </m:num>
                                      <m:den>
                                        <m:r>
                                          <a:rPr lang="en-US" i="1">
                                            <a:solidFill>
                                              <a:srgbClr val="000000"/>
                                            </a:solidFill>
                                            <a:latin typeface="Cambria Math" panose="02040503050406030204" pitchFamily="18" charset="0"/>
                                          </a:rPr>
                                          <m:t>2</m:t>
                                        </m:r>
                                      </m:den>
                                    </m:f>
                                  </m:e>
                                </m:d>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𝑑𝑠</m:t>
                                    </m:r>
                                  </m:sub>
                                </m:sSub>
                              </m:e>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𝑑𝑠</m:t>
                                    </m:r>
                                  </m:sub>
                                </m:sSub>
                                <m:r>
                                  <a:rPr lang="en-US" i="1">
                                    <a:solidFill>
                                      <a:srgbClr val="000000"/>
                                    </a:solidFill>
                                    <a:latin typeface="Cambria Math" panose="02040503050406030204" pitchFamily="18" charset="0"/>
                                  </a:rPr>
                                  <m:t>&lt;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𝑑𝑠𝑎𝑡</m:t>
                                    </m:r>
                                  </m:sub>
                                </m:sSub>
                              </m:e>
                              <m:e>
                                <m:r>
                                  <m:rPr>
                                    <m:nor/>
                                  </m:rPr>
                                  <a:rPr lang="en-US" i="0">
                                    <a:solidFill>
                                      <a:srgbClr val="0000FF"/>
                                    </a:solidFill>
                                    <a:latin typeface="Cambria Math" panose="02040503050406030204" pitchFamily="18" charset="0"/>
                                  </a:rPr>
                                  <m:t>linear</m:t>
                                </m:r>
                              </m:e>
                            </m:mr>
                            <m:mr>
                              <m:e>
                                <m:f>
                                  <m:fPr>
                                    <m:ctrlPr>
                                      <a:rPr lang="en-US" i="1">
                                        <a:solidFill>
                                          <a:srgbClr val="0000FF"/>
                                        </a:solidFill>
                                        <a:latin typeface="Cambria Math" panose="02040503050406030204" pitchFamily="18" charset="0"/>
                                      </a:rPr>
                                    </m:ctrlPr>
                                  </m:fPr>
                                  <m:num>
                                    <m:r>
                                      <a:rPr lang="en-US" i="1">
                                        <a:solidFill>
                                          <a:srgbClr val="000000"/>
                                        </a:solidFill>
                                        <a:latin typeface="Cambria Math" panose="02040503050406030204" pitchFamily="18" charset="0"/>
                                      </a:rPr>
                                      <m:t>𝛽</m:t>
                                    </m:r>
                                  </m:num>
                                  <m:den>
                                    <m:r>
                                      <a:rPr lang="en-US" i="1">
                                        <a:solidFill>
                                          <a:srgbClr val="000000"/>
                                        </a:solidFill>
                                        <a:latin typeface="Cambria Math" panose="02040503050406030204" pitchFamily="18" charset="0"/>
                                      </a:rPr>
                                      <m:t>2</m:t>
                                    </m:r>
                                  </m:den>
                                </m:f>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𝑔𝑠</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𝑡</m:t>
                                            </m:r>
                                          </m:sub>
                                        </m:sSub>
                                      </m:e>
                                    </m:d>
                                  </m:e>
                                  <m:sup>
                                    <m:r>
                                      <a:rPr lang="en-US" i="1">
                                        <a:solidFill>
                                          <a:srgbClr val="000000"/>
                                        </a:solidFill>
                                        <a:latin typeface="Cambria Math" panose="02040503050406030204" pitchFamily="18" charset="0"/>
                                      </a:rPr>
                                      <m:t>2</m:t>
                                    </m:r>
                                  </m:sup>
                                </m:sSup>
                              </m:e>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𝑑𝑠</m:t>
                                    </m:r>
                                  </m:sub>
                                </m:sSub>
                                <m:r>
                                  <a:rPr lang="en-US" i="1">
                                    <a:solidFill>
                                      <a:srgbClr val="000000"/>
                                    </a:solidFill>
                                    <a:latin typeface="Cambria Math" panose="02040503050406030204" pitchFamily="18" charset="0"/>
                                  </a:rPr>
                                  <m:t>&gt;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𝑑𝑠𝑎𝑡</m:t>
                                    </m:r>
                                  </m:sub>
                                </m:sSub>
                              </m:e>
                              <m:e>
                                <m:r>
                                  <m:rPr>
                                    <m:nor/>
                                  </m:rPr>
                                  <a:rPr lang="en-US" i="0">
                                    <a:solidFill>
                                      <a:srgbClr val="0000FF"/>
                                    </a:solidFill>
                                    <a:latin typeface="Cambria Math" panose="02040503050406030204" pitchFamily="18" charset="0"/>
                                  </a:rPr>
                                  <m:t>saturation</m:t>
                                </m:r>
                              </m:e>
                            </m:mr>
                          </m:m>
                        </m:e>
                      </m:d>
                    </m:oMath>
                  </m:oMathPara>
                </a14:m>
                <a:endParaRPr lang="en-US" dirty="0"/>
              </a:p>
            </p:txBody>
          </p:sp>
        </mc:Choice>
        <mc:Fallback>
          <p:sp>
            <p:nvSpPr>
              <p:cNvPr id="43017" name="Object 8">
                <a:extLst>
                  <a:ext uri="{FF2B5EF4-FFF2-40B4-BE49-F238E27FC236}">
                    <a16:creationId xmlns:a16="http://schemas.microsoft.com/office/drawing/2014/main" id="{880AA973-1183-2440-B111-E6ECF5112929}"/>
                  </a:ext>
                </a:extLst>
              </p:cNvPr>
              <p:cNvSpPr txBox="1">
                <a:spLocks noRot="1" noChangeAspect="1" noMove="1" noResize="1" noEditPoints="1" noAdjustHandles="1" noChangeArrowheads="1" noChangeShapeType="1" noTextEdit="1"/>
              </p:cNvSpPr>
              <p:nvPr/>
            </p:nvSpPr>
            <p:spPr bwMode="auto">
              <a:xfrm>
                <a:off x="335729" y="4410491"/>
                <a:ext cx="7772400" cy="2998788"/>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Object 8">
                <a:extLst>
                  <a:ext uri="{FF2B5EF4-FFF2-40B4-BE49-F238E27FC236}">
                    <a16:creationId xmlns:a16="http://schemas.microsoft.com/office/drawing/2014/main" id="{C46642AF-E3D7-7F8A-1ACB-6746B5CFEB37}"/>
                  </a:ext>
                </a:extLst>
              </p:cNvPr>
              <p:cNvSpPr txBox="1"/>
              <p:nvPr/>
            </p:nvSpPr>
            <p:spPr bwMode="auto">
              <a:xfrm>
                <a:off x="6088117" y="4410491"/>
                <a:ext cx="7772400" cy="299878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𝐼</m:t>
                          </m:r>
                        </m:e>
                        <m:sub>
                          <m:r>
                            <a:rPr lang="en-US" i="1">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𝑑</m:t>
                          </m:r>
                        </m:sub>
                      </m:sSub>
                      <m:r>
                        <a:rPr lang="en-US" i="1">
                          <a:solidFill>
                            <a:srgbClr val="000000"/>
                          </a:solidFill>
                          <a:latin typeface="Cambria Math" panose="02040503050406030204" pitchFamily="18" charset="0"/>
                        </a:rPr>
                        <m:t>=</m:t>
                      </m:r>
                      <m:d>
                        <m:dPr>
                          <m:begChr m:val="{"/>
                          <m:endChr m:val=""/>
                          <m:ctrlPr>
                            <a:rPr lang="en-US" i="1">
                              <a:solidFill>
                                <a:srgbClr val="000000"/>
                              </a:solidFill>
                              <a:latin typeface="Cambria Math" panose="02040503050406030204" pitchFamily="18" charset="0"/>
                            </a:rPr>
                          </m:ctrlPr>
                        </m:dPr>
                        <m:e>
                          <m:m>
                            <m:mPr>
                              <m:plcHide m:val="on"/>
                              <m:mcs>
                                <m:mc>
                                  <m:mcPr>
                                    <m:count m:val="3"/>
                                    <m:mcJc m:val="center"/>
                                  </m:mcPr>
                                </m:mc>
                              </m:mcs>
                              <m:ctrlPr>
                                <a:rPr lang="en-US" i="1">
                                  <a:solidFill>
                                    <a:srgbClr val="000000"/>
                                  </a:solidFill>
                                  <a:latin typeface="Cambria Math" panose="02040503050406030204" pitchFamily="18" charset="0"/>
                                </a:rPr>
                              </m:ctrlPr>
                            </m:mPr>
                            <m:mr>
                              <m:e>
                                <m:r>
                                  <a:rPr lang="en-US" i="1">
                                    <a:solidFill>
                                      <a:srgbClr val="000000"/>
                                    </a:solidFill>
                                    <a:latin typeface="Cambria Math" panose="02040503050406030204" pitchFamily="18" charset="0"/>
                                  </a:rPr>
                                  <m:t>0</m:t>
                                </m:r>
                              </m:e>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b="0" i="1" smtClean="0">
                                        <a:solidFill>
                                          <a:srgbClr val="000000"/>
                                        </a:solidFill>
                                        <a:latin typeface="Cambria Math" panose="02040503050406030204" pitchFamily="18" charset="0"/>
                                      </a:rPr>
                                      <m:t>𝑠𝑑</m:t>
                                    </m:r>
                                  </m:sub>
                                </m:sSub>
                                <m:r>
                                  <a:rPr lang="en-US" i="1">
                                    <a:solidFill>
                                      <a:srgbClr val="000000"/>
                                    </a:solidFill>
                                    <a:latin typeface="Cambria Math" panose="02040503050406030204" pitchFamily="18" charset="0"/>
                                  </a:rPr>
                                  <m:t>&lt;</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𝑡</m:t>
                                    </m:r>
                                  </m:sub>
                                </m:sSub>
                                <m:r>
                                  <a:rPr lang="en-US" b="0" i="1" smtClean="0">
                                    <a:solidFill>
                                      <a:srgbClr val="000000"/>
                                    </a:solidFill>
                                    <a:latin typeface="Cambria Math" panose="02040503050406030204" pitchFamily="18" charset="0"/>
                                  </a:rPr>
                                  <m:t>|</m:t>
                                </m:r>
                              </m:e>
                              <m:e>
                                <m:r>
                                  <m:rPr>
                                    <m:nor/>
                                  </m:rPr>
                                  <a:rPr lang="en-US" i="0">
                                    <a:solidFill>
                                      <a:srgbClr val="0000FF"/>
                                    </a:solidFill>
                                    <a:latin typeface="Cambria Math" panose="02040503050406030204" pitchFamily="18" charset="0"/>
                                  </a:rPr>
                                  <m:t>cutoff</m:t>
                                </m:r>
                              </m:e>
                            </m:mr>
                            <m:mr>
                              <m:e>
                                <m:r>
                                  <a:rPr lang="en-US" i="1">
                                    <a:solidFill>
                                      <a:srgbClr val="000000"/>
                                    </a:solidFill>
                                    <a:latin typeface="Cambria Math" panose="02040503050406030204" pitchFamily="18" charset="0"/>
                                  </a:rPr>
                                  <m:t>𝛽</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𝑔</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𝑡</m:t>
                                        </m:r>
                                      </m:sub>
                                    </m:sSub>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𝑑</m:t>
                                            </m:r>
                                          </m:sub>
                                        </m:sSub>
                                      </m:num>
                                      <m:den>
                                        <m:r>
                                          <a:rPr lang="en-US" i="1">
                                            <a:solidFill>
                                              <a:srgbClr val="000000"/>
                                            </a:solidFill>
                                            <a:latin typeface="Cambria Math" panose="02040503050406030204" pitchFamily="18" charset="0"/>
                                          </a:rPr>
                                          <m:t>2</m:t>
                                        </m:r>
                                      </m:den>
                                    </m:f>
                                  </m:e>
                                </m:d>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𝑑</m:t>
                                    </m:r>
                                  </m:sub>
                                </m:sSub>
                              </m:e>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𝑑</m:t>
                                    </m:r>
                                  </m:sub>
                                </m:sSub>
                                <m:r>
                                  <a:rPr lang="en-US" i="1">
                                    <a:solidFill>
                                      <a:srgbClr val="000000"/>
                                    </a:solidFill>
                                    <a:latin typeface="Cambria Math" panose="02040503050406030204" pitchFamily="18" charset="0"/>
                                  </a:rPr>
                                  <m:t>&lt;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𝑎𝑡</m:t>
                                    </m:r>
                                  </m:sub>
                                </m:sSub>
                              </m:e>
                              <m:e>
                                <m:r>
                                  <m:rPr>
                                    <m:nor/>
                                  </m:rPr>
                                  <a:rPr lang="en-US" i="0">
                                    <a:solidFill>
                                      <a:srgbClr val="0000FF"/>
                                    </a:solidFill>
                                    <a:latin typeface="Cambria Math" panose="02040503050406030204" pitchFamily="18" charset="0"/>
                                  </a:rPr>
                                  <m:t>linear</m:t>
                                </m:r>
                              </m:e>
                            </m:mr>
                            <m:mr>
                              <m:e>
                                <m:f>
                                  <m:fPr>
                                    <m:ctrlPr>
                                      <a:rPr lang="en-US" i="1">
                                        <a:solidFill>
                                          <a:srgbClr val="0000FF"/>
                                        </a:solidFill>
                                        <a:latin typeface="Cambria Math" panose="02040503050406030204" pitchFamily="18" charset="0"/>
                                      </a:rPr>
                                    </m:ctrlPr>
                                  </m:fPr>
                                  <m:num>
                                    <m:r>
                                      <a:rPr lang="en-US" i="1">
                                        <a:solidFill>
                                          <a:srgbClr val="000000"/>
                                        </a:solidFill>
                                        <a:latin typeface="Cambria Math" panose="02040503050406030204" pitchFamily="18" charset="0"/>
                                      </a:rPr>
                                      <m:t>𝛽</m:t>
                                    </m:r>
                                  </m:num>
                                  <m:den>
                                    <m:r>
                                      <a:rPr lang="en-US" i="1">
                                        <a:solidFill>
                                          <a:srgbClr val="000000"/>
                                        </a:solidFill>
                                        <a:latin typeface="Cambria Math" panose="02040503050406030204" pitchFamily="18" charset="0"/>
                                      </a:rPr>
                                      <m:t>2</m:t>
                                    </m:r>
                                  </m:den>
                                </m:f>
                                <m:sSup>
                                  <m:sSupPr>
                                    <m:ctrlPr>
                                      <a:rPr lang="en-US" i="1">
                                        <a:solidFill>
                                          <a:srgbClr val="000000"/>
                                        </a:solidFill>
                                        <a:latin typeface="Cambria Math" panose="02040503050406030204" pitchFamily="18" charset="0"/>
                                      </a:rPr>
                                    </m:ctrlPr>
                                  </m:sSupPr>
                                  <m:e>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𝑔</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b="0"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𝑡</m:t>
                                            </m:r>
                                          </m:sub>
                                        </m:sSub>
                                        <m:r>
                                          <a:rPr lang="en-US" b="0" i="1" smtClean="0">
                                            <a:solidFill>
                                              <a:srgbClr val="000000"/>
                                            </a:solidFill>
                                            <a:latin typeface="Cambria Math" panose="02040503050406030204" pitchFamily="18" charset="0"/>
                                          </a:rPr>
                                          <m:t>|</m:t>
                                        </m:r>
                                      </m:e>
                                    </m:d>
                                  </m:e>
                                  <m:sup>
                                    <m:r>
                                      <a:rPr lang="en-US" i="1">
                                        <a:solidFill>
                                          <a:srgbClr val="000000"/>
                                        </a:solidFill>
                                        <a:latin typeface="Cambria Math" panose="02040503050406030204" pitchFamily="18" charset="0"/>
                                      </a:rPr>
                                      <m:t>2</m:t>
                                    </m:r>
                                  </m:sup>
                                </m:sSup>
                              </m:e>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𝑑</m:t>
                                    </m:r>
                                  </m:sub>
                                </m:sSub>
                                <m:r>
                                  <a:rPr lang="en-US" i="1">
                                    <a:solidFill>
                                      <a:srgbClr val="000000"/>
                                    </a:solidFill>
                                    <a:latin typeface="Cambria Math" panose="02040503050406030204" pitchFamily="18" charset="0"/>
                                  </a:rPr>
                                  <m:t>&gt;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𝑉</m:t>
                                    </m:r>
                                  </m:e>
                                  <m:sub>
                                    <m:r>
                                      <a:rPr lang="en-US" i="1">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𝑎𝑡</m:t>
                                    </m:r>
                                  </m:sub>
                                </m:sSub>
                              </m:e>
                              <m:e>
                                <m:r>
                                  <m:rPr>
                                    <m:nor/>
                                  </m:rPr>
                                  <a:rPr lang="en-US" i="0">
                                    <a:solidFill>
                                      <a:srgbClr val="0000FF"/>
                                    </a:solidFill>
                                    <a:latin typeface="Cambria Math" panose="02040503050406030204" pitchFamily="18" charset="0"/>
                                  </a:rPr>
                                  <m:t>saturation</m:t>
                                </m:r>
                              </m:e>
                            </m:mr>
                          </m:m>
                        </m:e>
                      </m:d>
                    </m:oMath>
                  </m:oMathPara>
                </a14:m>
                <a:endParaRPr lang="en-US" dirty="0"/>
              </a:p>
            </p:txBody>
          </p:sp>
        </mc:Choice>
        <mc:Fallback>
          <p:sp>
            <p:nvSpPr>
              <p:cNvPr id="4" name="Object 8">
                <a:extLst>
                  <a:ext uri="{FF2B5EF4-FFF2-40B4-BE49-F238E27FC236}">
                    <a16:creationId xmlns:a16="http://schemas.microsoft.com/office/drawing/2014/main" id="{C46642AF-E3D7-7F8A-1ACB-6746B5CFEB37}"/>
                  </a:ext>
                </a:extLst>
              </p:cNvPr>
              <p:cNvSpPr txBox="1">
                <a:spLocks noRot="1" noChangeAspect="1" noMove="1" noResize="1" noEditPoints="1" noAdjustHandles="1" noChangeArrowheads="1" noChangeShapeType="1" noTextEdit="1"/>
              </p:cNvSpPr>
              <p:nvPr/>
            </p:nvSpPr>
            <p:spPr bwMode="auto">
              <a:xfrm>
                <a:off x="6088117" y="4410491"/>
                <a:ext cx="7772400" cy="2998788"/>
              </a:xfrm>
              <a:prstGeom prst="rect">
                <a:avLst/>
              </a:prstGeom>
              <a:blipFill>
                <a:blip r:embed="rId4"/>
                <a:stretch>
                  <a:fillRect/>
                </a:stretch>
              </a:blipFill>
              <a:ln>
                <a:noFill/>
              </a:ln>
              <a:effectLst/>
            </p:spPr>
            <p:txBody>
              <a:bodyPr/>
              <a:lstStyle/>
              <a:p>
                <a:r>
                  <a:rPr lang="en-US">
                    <a:noFill/>
                  </a:rPr>
                  <a:t> </a:t>
                </a:r>
              </a:p>
            </p:txBody>
          </p:sp>
        </mc:Fallback>
      </mc:AlternateContent>
      <p:sp>
        <p:nvSpPr>
          <p:cNvPr id="6" name="TextBox 5">
            <a:extLst>
              <a:ext uri="{FF2B5EF4-FFF2-40B4-BE49-F238E27FC236}">
                <a16:creationId xmlns:a16="http://schemas.microsoft.com/office/drawing/2014/main" id="{A4A8BD85-30ED-19D9-25B7-58AA42CB358B}"/>
              </a:ext>
            </a:extLst>
          </p:cNvPr>
          <p:cNvSpPr txBox="1"/>
          <p:nvPr/>
        </p:nvSpPr>
        <p:spPr>
          <a:xfrm>
            <a:off x="2668455" y="3948826"/>
            <a:ext cx="1300600" cy="461665"/>
          </a:xfrm>
          <a:prstGeom prst="rect">
            <a:avLst/>
          </a:prstGeom>
          <a:noFill/>
        </p:spPr>
        <p:txBody>
          <a:bodyPr wrap="square">
            <a:spAutoFit/>
          </a:bodyPr>
          <a:lstStyle/>
          <a:p>
            <a:r>
              <a:rPr kumimoji="0" lang="en-US" altLang="en-US" sz="2400" b="0" i="1" u="none" strike="noStrike" kern="1200" cap="none" spc="-46" normalizeH="0" baseline="0" noProof="0" dirty="0" err="1">
                <a:ln>
                  <a:noFill/>
                </a:ln>
                <a:solidFill>
                  <a:srgbClr val="990000"/>
                </a:solidFill>
                <a:effectLst/>
                <a:uLnTx/>
                <a:uFillTx/>
                <a:latin typeface="Calibri"/>
                <a:ea typeface="ＭＳ Ｐゴシック" charset="0"/>
              </a:rPr>
              <a:t>nMOS</a:t>
            </a:r>
            <a:endParaRPr lang="en-US" sz="1200" i="1" dirty="0"/>
          </a:p>
        </p:txBody>
      </p:sp>
      <p:sp>
        <p:nvSpPr>
          <p:cNvPr id="7" name="TextBox 6">
            <a:extLst>
              <a:ext uri="{FF2B5EF4-FFF2-40B4-BE49-F238E27FC236}">
                <a16:creationId xmlns:a16="http://schemas.microsoft.com/office/drawing/2014/main" id="{5ACC6367-AC92-0B83-A2BD-F97B622E9B5F}"/>
              </a:ext>
            </a:extLst>
          </p:cNvPr>
          <p:cNvSpPr txBox="1"/>
          <p:nvPr/>
        </p:nvSpPr>
        <p:spPr>
          <a:xfrm>
            <a:off x="8455989" y="3948825"/>
            <a:ext cx="1823544" cy="461665"/>
          </a:xfrm>
          <a:prstGeom prst="rect">
            <a:avLst/>
          </a:prstGeom>
          <a:noFill/>
        </p:spPr>
        <p:txBody>
          <a:bodyPr wrap="square">
            <a:spAutoFit/>
          </a:bodyPr>
          <a:lstStyle/>
          <a:p>
            <a:r>
              <a:rPr kumimoji="0" lang="en-US" altLang="en-US" sz="2400" b="0" i="1" u="none" strike="noStrike" kern="1200" cap="none" spc="-46" normalizeH="0" baseline="0" noProof="0" dirty="0" err="1">
                <a:ln>
                  <a:noFill/>
                </a:ln>
                <a:solidFill>
                  <a:srgbClr val="990000"/>
                </a:solidFill>
                <a:effectLst/>
                <a:uLnTx/>
                <a:uFillTx/>
                <a:latin typeface="Calibri"/>
                <a:ea typeface="ＭＳ Ｐゴシック" charset="0"/>
              </a:rPr>
              <a:t>pMOS</a:t>
            </a:r>
            <a:endParaRPr lang="en-US" sz="1200" i="1" dirty="0"/>
          </a:p>
        </p:txBody>
      </p:sp>
      <p:graphicFrame>
        <p:nvGraphicFramePr>
          <p:cNvPr id="8" name="Object 4">
            <a:extLst>
              <a:ext uri="{FF2B5EF4-FFF2-40B4-BE49-F238E27FC236}">
                <a16:creationId xmlns:a16="http://schemas.microsoft.com/office/drawing/2014/main" id="{D5F1E1FA-6440-2A1F-5550-FC0C6BF42C78}"/>
              </a:ext>
            </a:extLst>
          </p:cNvPr>
          <p:cNvGraphicFramePr>
            <a:graphicFrameLocks noChangeAspect="1"/>
          </p:cNvGraphicFramePr>
          <p:nvPr>
            <p:extLst>
              <p:ext uri="{D42A27DB-BD31-4B8C-83A1-F6EECF244321}">
                <p14:modId xmlns:p14="http://schemas.microsoft.com/office/powerpoint/2010/main" val="1808632024"/>
              </p:ext>
            </p:extLst>
          </p:nvPr>
        </p:nvGraphicFramePr>
        <p:xfrm>
          <a:off x="4703409" y="0"/>
          <a:ext cx="7162800" cy="4141788"/>
        </p:xfrm>
        <a:graphic>
          <a:graphicData uri="http://schemas.openxmlformats.org/presentationml/2006/ole">
            <mc:AlternateContent xmlns:mc="http://schemas.openxmlformats.org/markup-compatibility/2006">
              <mc:Choice xmlns:v="urn:schemas-microsoft-com:vml" Requires="v">
                <p:oleObj name="Visio" r:id="rId5" imgW="3949700" imgH="2298700" progId="Visio.Drawing.11">
                  <p:embed/>
                </p:oleObj>
              </mc:Choice>
              <mc:Fallback>
                <p:oleObj name="Visio" r:id="rId5" imgW="3949700" imgH="2298700" progId="Visio.Drawing.11">
                  <p:embed/>
                  <p:pic>
                    <p:nvPicPr>
                      <p:cNvPr id="33797" name="Object 4">
                        <a:extLst>
                          <a:ext uri="{FF2B5EF4-FFF2-40B4-BE49-F238E27FC236}">
                            <a16:creationId xmlns:a16="http://schemas.microsoft.com/office/drawing/2014/main" id="{0A07EBC9-1976-8844-A31D-455CD3D10FE1}"/>
                          </a:ext>
                        </a:extLst>
                      </p:cNvPr>
                      <p:cNvPicPr>
                        <a:picLocks noChangeAspect="1" noChangeArrowheads="1"/>
                      </p:cNvPicPr>
                      <p:nvPr/>
                    </p:nvPicPr>
                    <p:blipFill>
                      <a:blip r:embed="rId6">
                        <a:lum bright="-100000" contrast="94000"/>
                        <a:extLst>
                          <a:ext uri="{28A0092B-C50C-407E-A947-70E740481C1C}">
                            <a14:useLocalDpi xmlns:a14="http://schemas.microsoft.com/office/drawing/2010/main" val="0"/>
                          </a:ext>
                        </a:extLst>
                      </a:blip>
                      <a:srcRect/>
                      <a:stretch>
                        <a:fillRect/>
                      </a:stretch>
                    </p:blipFill>
                    <p:spPr bwMode="auto">
                      <a:xfrm>
                        <a:off x="4703409" y="0"/>
                        <a:ext cx="7162800" cy="41417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195059739"/>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8" name="Object 12">
            <a:extLst>
              <a:ext uri="{FF2B5EF4-FFF2-40B4-BE49-F238E27FC236}">
                <a16:creationId xmlns:a16="http://schemas.microsoft.com/office/drawing/2014/main" id="{B2CAF86A-FCAA-2B4A-8917-02DFAE1E37FF}"/>
              </a:ext>
            </a:extLst>
          </p:cNvPr>
          <p:cNvGraphicFramePr>
            <a:graphicFrameLocks noGrp="1" noChangeAspect="1"/>
          </p:cNvGraphicFramePr>
          <p:nvPr>
            <p:ph idx="1"/>
            <p:extLst>
              <p:ext uri="{D42A27DB-BD31-4B8C-83A1-F6EECF244321}">
                <p14:modId xmlns:p14="http://schemas.microsoft.com/office/powerpoint/2010/main" val="1484945982"/>
              </p:ext>
            </p:extLst>
          </p:nvPr>
        </p:nvGraphicFramePr>
        <p:xfrm>
          <a:off x="5454869" y="284272"/>
          <a:ext cx="5275028" cy="3144728"/>
        </p:xfrm>
        <a:graphic>
          <a:graphicData uri="http://schemas.openxmlformats.org/presentationml/2006/ole">
            <mc:AlternateContent xmlns:mc="http://schemas.openxmlformats.org/markup-compatibility/2006">
              <mc:Choice xmlns:v="urn:schemas-microsoft-com:vml" Requires="v">
                <p:oleObj name="Visio" r:id="rId3" imgW="5943600" imgH="3543300" progId="Visio.Drawing.11">
                  <p:embed/>
                </p:oleObj>
              </mc:Choice>
              <mc:Fallback>
                <p:oleObj name="Visio" r:id="rId3" imgW="5943600" imgH="3543300" progId="Visio.Drawing.11">
                  <p:embed/>
                  <p:pic>
                    <p:nvPicPr>
                      <p:cNvPr id="23558" name="Object 12">
                        <a:extLst>
                          <a:ext uri="{FF2B5EF4-FFF2-40B4-BE49-F238E27FC236}">
                            <a16:creationId xmlns:a16="http://schemas.microsoft.com/office/drawing/2014/main" id="{B2CAF86A-FCAA-2B4A-8917-02DFAE1E37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4869" y="284272"/>
                        <a:ext cx="5275028" cy="3144728"/>
                      </a:xfrm>
                      <a:prstGeom prst="rect">
                        <a:avLst/>
                      </a:prstGeom>
                      <a:noFill/>
                      <a:ln>
                        <a:noFill/>
                      </a:ln>
                      <a:effectLst/>
                    </p:spPr>
                  </p:pic>
                </p:oleObj>
              </mc:Fallback>
            </mc:AlternateContent>
          </a:graphicData>
        </a:graphic>
      </p:graphicFrame>
      <p:sp>
        <p:nvSpPr>
          <p:cNvPr id="714754" name="Rectangle 2">
            <a:extLst>
              <a:ext uri="{FF2B5EF4-FFF2-40B4-BE49-F238E27FC236}">
                <a16:creationId xmlns:a16="http://schemas.microsoft.com/office/drawing/2014/main" id="{8AA31956-9105-5E46-86C1-21B67BFF6DB0}"/>
              </a:ext>
            </a:extLst>
          </p:cNvPr>
          <p:cNvSpPr>
            <a:spLocks noGrp="1" noChangeArrowheads="1"/>
          </p:cNvSpPr>
          <p:nvPr>
            <p:ph type="title"/>
          </p:nvPr>
        </p:nvSpPr>
        <p:spPr/>
        <p:txBody>
          <a:bodyPr/>
          <a:lstStyle/>
          <a:p>
            <a:pPr eaLnBrk="1" hangingPunct="1">
              <a:defRPr/>
            </a:pPr>
            <a:r>
              <a:rPr lang="en-US" sz="3200" dirty="0">
                <a:cs typeface="+mj-cs"/>
              </a:rPr>
              <a:t>Non-Ideal Transistors</a:t>
            </a:r>
          </a:p>
        </p:txBody>
      </p:sp>
      <p:sp>
        <p:nvSpPr>
          <p:cNvPr id="714755" name="Rectangle 3">
            <a:extLst>
              <a:ext uri="{FF2B5EF4-FFF2-40B4-BE49-F238E27FC236}">
                <a16:creationId xmlns:a16="http://schemas.microsoft.com/office/drawing/2014/main" id="{47EE83B8-8526-5C4C-A3AB-E792BEBAA9B7}"/>
              </a:ext>
            </a:extLst>
          </p:cNvPr>
          <p:cNvSpPr>
            <a:spLocks noGrp="1" noChangeArrowheads="1"/>
          </p:cNvSpPr>
          <p:nvPr>
            <p:ph type="body" sz="half" idx="4294967295"/>
          </p:nvPr>
        </p:nvSpPr>
        <p:spPr>
          <a:xfrm>
            <a:off x="826265" y="1143000"/>
            <a:ext cx="6019800" cy="4572000"/>
          </a:xfrm>
        </p:spPr>
        <p:txBody>
          <a:bodyPr/>
          <a:lstStyle/>
          <a:p>
            <a:pPr>
              <a:defRPr/>
            </a:pPr>
            <a:r>
              <a:rPr lang="en-US" sz="2000" dirty="0">
                <a:cs typeface="+mn-cs"/>
              </a:rPr>
              <a:t>Non-ideal effects include:</a:t>
            </a:r>
          </a:p>
          <a:p>
            <a:pPr lvl="1">
              <a:defRPr/>
            </a:pPr>
            <a:r>
              <a:rPr lang="en-US" sz="1640" dirty="0"/>
              <a:t>Short channel effect</a:t>
            </a:r>
          </a:p>
          <a:p>
            <a:pPr lvl="1">
              <a:defRPr/>
            </a:pPr>
            <a:r>
              <a:rPr lang="en-US" sz="1640" dirty="0">
                <a:cs typeface="+mn-cs"/>
              </a:rPr>
              <a:t>Leakage:</a:t>
            </a:r>
          </a:p>
          <a:p>
            <a:pPr lvl="2">
              <a:defRPr/>
            </a:pPr>
            <a:r>
              <a:rPr lang="en-US" sz="1640" dirty="0"/>
              <a:t>Subthreshold conduction</a:t>
            </a:r>
          </a:p>
          <a:p>
            <a:pPr lvl="2">
              <a:defRPr/>
            </a:pPr>
            <a:r>
              <a:rPr lang="en-US" sz="1640" dirty="0">
                <a:cs typeface="+mn-cs"/>
              </a:rPr>
              <a:t>Gate</a:t>
            </a:r>
          </a:p>
          <a:p>
            <a:pPr lvl="2">
              <a:defRPr/>
            </a:pPr>
            <a:r>
              <a:rPr lang="en-US" sz="1640" dirty="0"/>
              <a:t>Junction</a:t>
            </a:r>
            <a:endParaRPr lang="en-US" sz="1640" dirty="0">
              <a:cs typeface="+mn-cs"/>
            </a:endParaRPr>
          </a:p>
          <a:p>
            <a:pPr marL="523208" marR="0" lvl="1" indent="-150019" algn="l" defTabSz="914400" rtl="0" eaLnBrk="1" fontAlgn="base" latinLnBrk="0" hangingPunct="1">
              <a:lnSpc>
                <a:spcPct val="100000"/>
              </a:lnSpc>
              <a:spcBef>
                <a:spcPts val="0"/>
              </a:spcBef>
              <a:spcAft>
                <a:spcPts val="0"/>
              </a:spcAft>
              <a:buClr>
                <a:srgbClr val="990000"/>
              </a:buClr>
              <a:buSzPct val="80000"/>
              <a:buFont typeface="Arial" charset="0"/>
              <a:buChar char="•"/>
              <a:tabLst/>
              <a:defRPr/>
            </a:pPr>
            <a:r>
              <a:rPr kumimoji="0" lang="en-US" sz="1640" b="0" i="0" u="none" strike="noStrike" kern="1200" cap="none" spc="0" normalizeH="0" baseline="0" noProof="0" dirty="0">
                <a:ln>
                  <a:noFill/>
                </a:ln>
                <a:solidFill>
                  <a:srgbClr val="383838"/>
                </a:solidFill>
                <a:effectLst/>
                <a:uLnTx/>
                <a:uFillTx/>
                <a:latin typeface="Calibri"/>
                <a:ea typeface="ＭＳ Ｐゴシック" charset="0"/>
                <a:cs typeface="+mn-cs"/>
              </a:rPr>
              <a:t>Temperature sensitivity</a:t>
            </a:r>
          </a:p>
          <a:p>
            <a:pPr marL="523208" marR="0" lvl="1" indent="-150019" algn="l" defTabSz="914400" rtl="0" eaLnBrk="1" fontAlgn="base" latinLnBrk="0" hangingPunct="1">
              <a:lnSpc>
                <a:spcPct val="100000"/>
              </a:lnSpc>
              <a:spcBef>
                <a:spcPts val="0"/>
              </a:spcBef>
              <a:spcAft>
                <a:spcPts val="0"/>
              </a:spcAft>
              <a:buClr>
                <a:srgbClr val="990000"/>
              </a:buClr>
              <a:buSzPct val="80000"/>
              <a:buFont typeface="Arial" charset="0"/>
              <a:buChar char="•"/>
              <a:tabLst/>
              <a:defRPr/>
            </a:pPr>
            <a:r>
              <a:rPr lang="en-US" sz="1640" dirty="0">
                <a:latin typeface="Calibri"/>
              </a:rPr>
              <a:t>Parameter variation</a:t>
            </a:r>
            <a:endParaRPr kumimoji="0" lang="en-US" sz="1640" b="0" i="0" u="none" strike="noStrike" kern="1200" cap="none" spc="0" normalizeH="0" baseline="0" noProof="0" dirty="0">
              <a:ln>
                <a:noFill/>
              </a:ln>
              <a:solidFill>
                <a:srgbClr val="383838"/>
              </a:solidFill>
              <a:effectLst/>
              <a:uLnTx/>
              <a:uFillTx/>
              <a:latin typeface="Calibri"/>
              <a:ea typeface="ＭＳ Ｐゴシック" charset="0"/>
              <a:cs typeface="+mn-cs"/>
            </a:endParaRPr>
          </a:p>
          <a:p>
            <a:pPr eaLnBrk="1" hangingPunct="1">
              <a:buFont typeface="Wingdings" charset="0"/>
              <a:buNone/>
              <a:defRPr/>
            </a:pPr>
            <a:endParaRPr lang="en-US" sz="2000" dirty="0">
              <a:cs typeface="+mn-cs"/>
            </a:endParaRPr>
          </a:p>
        </p:txBody>
      </p:sp>
      <p:graphicFrame>
        <p:nvGraphicFramePr>
          <p:cNvPr id="3" name="Object 4">
            <a:extLst>
              <a:ext uri="{FF2B5EF4-FFF2-40B4-BE49-F238E27FC236}">
                <a16:creationId xmlns:a16="http://schemas.microsoft.com/office/drawing/2014/main" id="{B2A30F6D-F065-DA9F-EA7B-956DAF486F7B}"/>
              </a:ext>
            </a:extLst>
          </p:cNvPr>
          <p:cNvGraphicFramePr>
            <a:graphicFrameLocks noChangeAspect="1"/>
          </p:cNvGraphicFramePr>
          <p:nvPr>
            <p:extLst>
              <p:ext uri="{D42A27DB-BD31-4B8C-83A1-F6EECF244321}">
                <p14:modId xmlns:p14="http://schemas.microsoft.com/office/powerpoint/2010/main" val="4226747434"/>
              </p:ext>
            </p:extLst>
          </p:nvPr>
        </p:nvGraphicFramePr>
        <p:xfrm>
          <a:off x="8801922" y="3790950"/>
          <a:ext cx="2563813" cy="2590800"/>
        </p:xfrm>
        <a:graphic>
          <a:graphicData uri="http://schemas.openxmlformats.org/presentationml/2006/ole">
            <mc:AlternateContent xmlns:mc="http://schemas.openxmlformats.org/markup-compatibility/2006">
              <mc:Choice xmlns:v="urn:schemas-microsoft-com:vml" Requires="v">
                <p:oleObj name="VISIO" r:id="rId5" imgW="13296900" imgH="13436600" progId="Visio.Drawing.6">
                  <p:embed/>
                </p:oleObj>
              </mc:Choice>
              <mc:Fallback>
                <p:oleObj name="VISIO" r:id="rId5" imgW="13296900" imgH="13436600" progId="Visio.Drawing.6">
                  <p:embed/>
                  <p:pic>
                    <p:nvPicPr>
                      <p:cNvPr id="74757" name="Object 4">
                        <a:extLst>
                          <a:ext uri="{FF2B5EF4-FFF2-40B4-BE49-F238E27FC236}">
                            <a16:creationId xmlns:a16="http://schemas.microsoft.com/office/drawing/2014/main" id="{56B2E09E-1112-5D47-BAB0-368E463AF2B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01922" y="3790950"/>
                        <a:ext cx="2563813"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pic>
        <p:nvPicPr>
          <p:cNvPr id="4" name="Picture 14" descr="0220">
            <a:extLst>
              <a:ext uri="{FF2B5EF4-FFF2-40B4-BE49-F238E27FC236}">
                <a16:creationId xmlns:a16="http://schemas.microsoft.com/office/drawing/2014/main" id="{1A8AED05-1074-F9E7-88AE-D867A12E6B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31790" y="3790950"/>
            <a:ext cx="30480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5945522"/>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E297B-CFE8-80B1-C631-B1E61E212BB3}"/>
            </a:ext>
          </a:extLst>
        </p:cNvPr>
        <p:cNvGrpSpPr/>
        <p:nvPr/>
      </p:nvGrpSpPr>
      <p:grpSpPr>
        <a:xfrm>
          <a:off x="0" y="0"/>
          <a:ext cx="0" cy="0"/>
          <a:chOff x="0" y="0"/>
          <a:chExt cx="0" cy="0"/>
        </a:xfrm>
      </p:grpSpPr>
      <p:sp>
        <p:nvSpPr>
          <p:cNvPr id="714754" name="Rectangle 2">
            <a:extLst>
              <a:ext uri="{FF2B5EF4-FFF2-40B4-BE49-F238E27FC236}">
                <a16:creationId xmlns:a16="http://schemas.microsoft.com/office/drawing/2014/main" id="{0DE98E3B-401D-3C1B-CEFF-9EFFD191769F}"/>
              </a:ext>
            </a:extLst>
          </p:cNvPr>
          <p:cNvSpPr>
            <a:spLocks noGrp="1" noChangeArrowheads="1"/>
          </p:cNvSpPr>
          <p:nvPr>
            <p:ph type="title"/>
          </p:nvPr>
        </p:nvSpPr>
        <p:spPr/>
        <p:txBody>
          <a:bodyPr/>
          <a:lstStyle/>
          <a:p>
            <a:pPr eaLnBrk="1" hangingPunct="1">
              <a:defRPr/>
            </a:pPr>
            <a:r>
              <a:rPr lang="en-US" sz="3200" dirty="0">
                <a:cs typeface="+mj-cs"/>
              </a:rPr>
              <a:t>Operation</a:t>
            </a:r>
          </a:p>
        </p:txBody>
      </p:sp>
      <p:graphicFrame>
        <p:nvGraphicFramePr>
          <p:cNvPr id="7" name="Object 5">
            <a:extLst>
              <a:ext uri="{FF2B5EF4-FFF2-40B4-BE49-F238E27FC236}">
                <a16:creationId xmlns:a16="http://schemas.microsoft.com/office/drawing/2014/main" id="{E710302C-D8E8-0565-928F-9811B5A08676}"/>
              </a:ext>
            </a:extLst>
          </p:cNvPr>
          <p:cNvGraphicFramePr>
            <a:graphicFrameLocks noChangeAspect="1"/>
          </p:cNvGraphicFramePr>
          <p:nvPr>
            <p:extLst>
              <p:ext uri="{D42A27DB-BD31-4B8C-83A1-F6EECF244321}">
                <p14:modId xmlns:p14="http://schemas.microsoft.com/office/powerpoint/2010/main" val="4015132985"/>
              </p:ext>
            </p:extLst>
          </p:nvPr>
        </p:nvGraphicFramePr>
        <p:xfrm>
          <a:off x="10134600" y="117036"/>
          <a:ext cx="2057400" cy="1373188"/>
        </p:xfrm>
        <a:graphic>
          <a:graphicData uri="http://schemas.openxmlformats.org/presentationml/2006/ole">
            <mc:AlternateContent xmlns:mc="http://schemas.openxmlformats.org/markup-compatibility/2006">
              <mc:Choice xmlns:v="urn:schemas-microsoft-com:vml" Requires="v">
                <p:oleObj name="VISIO" r:id="rId3" imgW="7200900" imgH="4800600" progId="Visio.Drawing.6">
                  <p:embed/>
                </p:oleObj>
              </mc:Choice>
              <mc:Fallback>
                <p:oleObj name="VISIO" r:id="rId3" imgW="7200900" imgH="4800600" progId="Visio.Drawing.6">
                  <p:embed/>
                  <p:pic>
                    <p:nvPicPr>
                      <p:cNvPr id="37894" name="Object 5">
                        <a:extLst>
                          <a:ext uri="{FF2B5EF4-FFF2-40B4-BE49-F238E27FC236}">
                            <a16:creationId xmlns:a16="http://schemas.microsoft.com/office/drawing/2014/main" id="{1B811643-9F74-B74B-902D-9B14D61CEE06}"/>
                          </a:ext>
                        </a:extLst>
                      </p:cNvPr>
                      <p:cNvPicPr>
                        <a:picLocks noChangeAspect="1" noChangeArrowheads="1"/>
                      </p:cNvPicPr>
                      <p:nvPr/>
                    </p:nvPicPr>
                    <p:blipFill>
                      <a:blip r:embed="rId4">
                        <a:lum bright="-100000" contrast="100000"/>
                        <a:extLst>
                          <a:ext uri="{28A0092B-C50C-407E-A947-70E740481C1C}">
                            <a14:useLocalDpi xmlns:a14="http://schemas.microsoft.com/office/drawing/2010/main" val="0"/>
                          </a:ext>
                        </a:extLst>
                      </a:blip>
                      <a:srcRect/>
                      <a:stretch>
                        <a:fillRect/>
                      </a:stretch>
                    </p:blipFill>
                    <p:spPr bwMode="auto">
                      <a:xfrm>
                        <a:off x="10134600" y="117036"/>
                        <a:ext cx="2057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 name="Object 6">
            <a:extLst>
              <a:ext uri="{FF2B5EF4-FFF2-40B4-BE49-F238E27FC236}">
                <a16:creationId xmlns:a16="http://schemas.microsoft.com/office/drawing/2014/main" id="{6BFFDFB5-5CCF-55CD-E183-5704E205CEB8}"/>
              </a:ext>
            </a:extLst>
          </p:cNvPr>
          <p:cNvGraphicFramePr>
            <a:graphicFrameLocks noChangeAspect="1"/>
          </p:cNvGraphicFramePr>
          <p:nvPr>
            <p:extLst>
              <p:ext uri="{D42A27DB-BD31-4B8C-83A1-F6EECF244321}">
                <p14:modId xmlns:p14="http://schemas.microsoft.com/office/powerpoint/2010/main" val="2370406585"/>
              </p:ext>
            </p:extLst>
          </p:nvPr>
        </p:nvGraphicFramePr>
        <p:xfrm>
          <a:off x="115614" y="1288779"/>
          <a:ext cx="6603612" cy="3261929"/>
        </p:xfrm>
        <a:graphic>
          <a:graphicData uri="http://schemas.openxmlformats.org/presentationml/2006/ole">
            <mc:AlternateContent xmlns:mc="http://schemas.openxmlformats.org/markup-compatibility/2006">
              <mc:Choice xmlns:v="urn:schemas-microsoft-com:vml" Requires="v">
                <p:oleObj name="VISIO" r:id="rId5" imgW="18554700" imgH="9156700" progId="Visio.Drawing.6">
                  <p:embed/>
                </p:oleObj>
              </mc:Choice>
              <mc:Fallback>
                <p:oleObj name="VISIO" r:id="rId5" imgW="18554700" imgH="9156700" progId="Visio.Drawing.6">
                  <p:embed/>
                  <p:pic>
                    <p:nvPicPr>
                      <p:cNvPr id="41989" name="Object 6">
                        <a:extLst>
                          <a:ext uri="{FF2B5EF4-FFF2-40B4-BE49-F238E27FC236}">
                            <a16:creationId xmlns:a16="http://schemas.microsoft.com/office/drawing/2014/main" id="{3A8B0E8A-7771-4A47-8C06-B034E6B936B8}"/>
                          </a:ext>
                        </a:extLst>
                      </p:cNvPr>
                      <p:cNvPicPr>
                        <a:picLocks noChangeAspect="1" noChangeArrowheads="1"/>
                      </p:cNvPicPr>
                      <p:nvPr/>
                    </p:nvPicPr>
                    <p:blipFill>
                      <a:blip r:embed="rId6">
                        <a:lum bright="-100000" contrast="100000"/>
                        <a:extLst>
                          <a:ext uri="{28A0092B-C50C-407E-A947-70E740481C1C}">
                            <a14:useLocalDpi xmlns:a14="http://schemas.microsoft.com/office/drawing/2010/main" val="0"/>
                          </a:ext>
                        </a:extLst>
                      </a:blip>
                      <a:srcRect/>
                      <a:stretch>
                        <a:fillRect/>
                      </a:stretch>
                    </p:blipFill>
                    <p:spPr bwMode="auto">
                      <a:xfrm>
                        <a:off x="115614" y="1288779"/>
                        <a:ext cx="6603612" cy="3261929"/>
                      </a:xfrm>
                      <a:prstGeom prst="rect">
                        <a:avLst/>
                      </a:prstGeom>
                      <a:noFill/>
                      <a:ln>
                        <a:noFill/>
                      </a:ln>
                      <a:effectLst/>
                    </p:spPr>
                  </p:pic>
                </p:oleObj>
              </mc:Fallback>
            </mc:AlternateContent>
          </a:graphicData>
        </a:graphic>
      </p:graphicFrame>
      <p:graphicFrame>
        <p:nvGraphicFramePr>
          <p:cNvPr id="9" name="Object 7">
            <a:extLst>
              <a:ext uri="{FF2B5EF4-FFF2-40B4-BE49-F238E27FC236}">
                <a16:creationId xmlns:a16="http://schemas.microsoft.com/office/drawing/2014/main" id="{ED12F904-5F67-B8B9-475D-856BA2243A75}"/>
              </a:ext>
            </a:extLst>
          </p:cNvPr>
          <p:cNvGraphicFramePr>
            <a:graphicFrameLocks noChangeAspect="1"/>
          </p:cNvGraphicFramePr>
          <p:nvPr>
            <p:extLst>
              <p:ext uri="{D42A27DB-BD31-4B8C-83A1-F6EECF244321}">
                <p14:modId xmlns:p14="http://schemas.microsoft.com/office/powerpoint/2010/main" val="870652214"/>
              </p:ext>
            </p:extLst>
          </p:nvPr>
        </p:nvGraphicFramePr>
        <p:xfrm>
          <a:off x="6719226" y="1131010"/>
          <a:ext cx="4721772" cy="3577465"/>
        </p:xfrm>
        <a:graphic>
          <a:graphicData uri="http://schemas.openxmlformats.org/presentationml/2006/ole">
            <mc:AlternateContent xmlns:mc="http://schemas.openxmlformats.org/markup-compatibility/2006">
              <mc:Choice xmlns:v="urn:schemas-microsoft-com:vml" Requires="v">
                <p:oleObj name="VISIO" r:id="rId7" imgW="13335000" imgH="10096500" progId="Visio.Drawing.6">
                  <p:embed/>
                </p:oleObj>
              </mc:Choice>
              <mc:Fallback>
                <p:oleObj name="VISIO" r:id="rId7" imgW="13335000" imgH="10096500" progId="Visio.Drawing.6">
                  <p:embed/>
                  <p:pic>
                    <p:nvPicPr>
                      <p:cNvPr id="41990" name="Object 7">
                        <a:extLst>
                          <a:ext uri="{FF2B5EF4-FFF2-40B4-BE49-F238E27FC236}">
                            <a16:creationId xmlns:a16="http://schemas.microsoft.com/office/drawing/2014/main" id="{2871B0B7-9F06-2F42-B132-940F7D82DC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19226" y="1131010"/>
                        <a:ext cx="4721772" cy="3577465"/>
                      </a:xfrm>
                      <a:prstGeom prst="rect">
                        <a:avLst/>
                      </a:prstGeom>
                      <a:noFill/>
                      <a:ln>
                        <a:noFill/>
                      </a:ln>
                      <a:effectLst/>
                    </p:spPr>
                  </p:pic>
                </p:oleObj>
              </mc:Fallback>
            </mc:AlternateContent>
          </a:graphicData>
        </a:graphic>
      </p:graphicFrame>
      <p:graphicFrame>
        <p:nvGraphicFramePr>
          <p:cNvPr id="10" name="Group 5">
            <a:extLst>
              <a:ext uri="{FF2B5EF4-FFF2-40B4-BE49-F238E27FC236}">
                <a16:creationId xmlns:a16="http://schemas.microsoft.com/office/drawing/2014/main" id="{EDAB1A3A-CA53-246D-7121-74CD229547A8}"/>
              </a:ext>
            </a:extLst>
          </p:cNvPr>
          <p:cNvGraphicFramePr>
            <a:graphicFrameLocks noGrp="1"/>
          </p:cNvGraphicFramePr>
          <p:nvPr>
            <p:extLst>
              <p:ext uri="{D42A27DB-BD31-4B8C-83A1-F6EECF244321}">
                <p14:modId xmlns:p14="http://schemas.microsoft.com/office/powerpoint/2010/main" val="803179752"/>
              </p:ext>
            </p:extLst>
          </p:nvPr>
        </p:nvGraphicFramePr>
        <p:xfrm>
          <a:off x="7332523" y="4812518"/>
          <a:ext cx="3495177" cy="1828944"/>
        </p:xfrm>
        <a:graphic>
          <a:graphicData uri="http://schemas.openxmlformats.org/drawingml/2006/table">
            <a:tbl>
              <a:tblPr/>
              <a:tblGrid>
                <a:gridCol w="1165059">
                  <a:extLst>
                    <a:ext uri="{9D8B030D-6E8A-4147-A177-3AD203B41FA5}">
                      <a16:colId xmlns:a16="http://schemas.microsoft.com/office/drawing/2014/main" val="20000"/>
                    </a:ext>
                  </a:extLst>
                </a:gridCol>
                <a:gridCol w="1165059">
                  <a:extLst>
                    <a:ext uri="{9D8B030D-6E8A-4147-A177-3AD203B41FA5}">
                      <a16:colId xmlns:a16="http://schemas.microsoft.com/office/drawing/2014/main" val="20001"/>
                    </a:ext>
                  </a:extLst>
                </a:gridCol>
                <a:gridCol w="1165059">
                  <a:extLst>
                    <a:ext uri="{9D8B030D-6E8A-4147-A177-3AD203B41FA5}">
                      <a16:colId xmlns:a16="http://schemas.microsoft.com/office/drawing/2014/main" val="20002"/>
                    </a:ext>
                  </a:extLst>
                </a:gridCol>
              </a:tblGrid>
              <a:tr h="293021">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1" i="0" u="none" strike="noStrike" cap="none" normalizeH="0" baseline="0" dirty="0">
                          <a:ln>
                            <a:noFill/>
                          </a:ln>
                          <a:solidFill>
                            <a:schemeClr val="tx1"/>
                          </a:solidFill>
                          <a:effectLst/>
                          <a:latin typeface="Arial" charset="0"/>
                          <a:ea typeface="ＭＳ Ｐゴシック" charset="0"/>
                        </a:rPr>
                        <a:t>Region</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1" i="0" u="none" strike="noStrike" cap="none" normalizeH="0" baseline="0" dirty="0">
                          <a:ln>
                            <a:noFill/>
                          </a:ln>
                          <a:solidFill>
                            <a:schemeClr val="tx1"/>
                          </a:solidFill>
                          <a:effectLst/>
                          <a:latin typeface="Arial" charset="0"/>
                          <a:ea typeface="ＭＳ Ｐゴシック" charset="0"/>
                        </a:rPr>
                        <a:t>nMOS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1" i="0" u="none" strike="noStrike" cap="none" normalizeH="0" baseline="0" dirty="0">
                          <a:ln>
                            <a:noFill/>
                          </a:ln>
                          <a:solidFill>
                            <a:schemeClr val="tx1"/>
                          </a:solidFill>
                          <a:effectLst/>
                          <a:latin typeface="Arial" charset="0"/>
                          <a:ea typeface="ＭＳ Ｐゴシック" charset="0"/>
                        </a:rPr>
                        <a:t>pMOS</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3021">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A</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Cutoff</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Linear</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3021">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B</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Saturation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Linear</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93021">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C</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Saturation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Saturation</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93021">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Linear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Saturation</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3021">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E</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Linear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 typeface="Wingdings" charset="0"/>
                        <a:buNone/>
                        <a:tabLst/>
                      </a:pPr>
                      <a:r>
                        <a:rPr kumimoji="0" lang="en-US" sz="1400" b="0" i="0" u="none" strike="noStrike" cap="none" normalizeH="0" baseline="0" dirty="0">
                          <a:ln>
                            <a:noFill/>
                          </a:ln>
                          <a:solidFill>
                            <a:schemeClr val="tx1"/>
                          </a:solidFill>
                          <a:effectLst/>
                          <a:latin typeface="Arial" charset="0"/>
                          <a:ea typeface="ＭＳ Ｐゴシック" charset="0"/>
                        </a:rPr>
                        <a:t>Cutoff</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90117483"/>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EC9A3-A6BD-CD0F-C9AB-AB5BC4B58180}"/>
            </a:ext>
          </a:extLst>
        </p:cNvPr>
        <p:cNvGrpSpPr/>
        <p:nvPr/>
      </p:nvGrpSpPr>
      <p:grpSpPr>
        <a:xfrm>
          <a:off x="0" y="0"/>
          <a:ext cx="0" cy="0"/>
          <a:chOff x="0" y="0"/>
          <a:chExt cx="0" cy="0"/>
        </a:xfrm>
      </p:grpSpPr>
      <p:sp>
        <p:nvSpPr>
          <p:cNvPr id="714754" name="Rectangle 2">
            <a:extLst>
              <a:ext uri="{FF2B5EF4-FFF2-40B4-BE49-F238E27FC236}">
                <a16:creationId xmlns:a16="http://schemas.microsoft.com/office/drawing/2014/main" id="{3FE608E7-99AF-CC32-D3E3-E910D72A7EF9}"/>
              </a:ext>
            </a:extLst>
          </p:cNvPr>
          <p:cNvSpPr>
            <a:spLocks noGrp="1" noChangeArrowheads="1"/>
          </p:cNvSpPr>
          <p:nvPr>
            <p:ph type="title"/>
          </p:nvPr>
        </p:nvSpPr>
        <p:spPr/>
        <p:txBody>
          <a:bodyPr/>
          <a:lstStyle/>
          <a:p>
            <a:pPr eaLnBrk="1" hangingPunct="1">
              <a:defRPr/>
            </a:pPr>
            <a:r>
              <a:rPr lang="en-US" sz="3200" dirty="0">
                <a:cs typeface="+mj-cs"/>
              </a:rPr>
              <a:t>Matching</a:t>
            </a:r>
          </a:p>
        </p:txBody>
      </p:sp>
      <p:graphicFrame>
        <p:nvGraphicFramePr>
          <p:cNvPr id="2" name="Object 4">
            <a:extLst>
              <a:ext uri="{FF2B5EF4-FFF2-40B4-BE49-F238E27FC236}">
                <a16:creationId xmlns:a16="http://schemas.microsoft.com/office/drawing/2014/main" id="{C594860D-BAFE-A39C-D82F-5A3DB7D70626}"/>
              </a:ext>
            </a:extLst>
          </p:cNvPr>
          <p:cNvGraphicFramePr>
            <a:graphicFrameLocks noChangeAspect="1"/>
          </p:cNvGraphicFramePr>
          <p:nvPr>
            <p:extLst>
              <p:ext uri="{D42A27DB-BD31-4B8C-83A1-F6EECF244321}">
                <p14:modId xmlns:p14="http://schemas.microsoft.com/office/powerpoint/2010/main" val="1370630940"/>
              </p:ext>
            </p:extLst>
          </p:nvPr>
        </p:nvGraphicFramePr>
        <p:xfrm>
          <a:off x="3132083" y="1131010"/>
          <a:ext cx="6876393" cy="5081896"/>
        </p:xfrm>
        <a:graphic>
          <a:graphicData uri="http://schemas.openxmlformats.org/presentationml/2006/ole">
            <mc:AlternateContent xmlns:mc="http://schemas.openxmlformats.org/markup-compatibility/2006">
              <mc:Choice xmlns:v="urn:schemas-microsoft-com:vml" Requires="v">
                <p:oleObj name="VISIO" r:id="rId3" imgW="13335000" imgH="9842500" progId="Visio.Drawing.6">
                  <p:embed/>
                </p:oleObj>
              </mc:Choice>
              <mc:Fallback>
                <p:oleObj name="VISIO" r:id="rId3" imgW="13335000" imgH="9842500" progId="Visio.Drawing.6">
                  <p:embed/>
                  <p:pic>
                    <p:nvPicPr>
                      <p:cNvPr id="46085" name="Object 4">
                        <a:extLst>
                          <a:ext uri="{FF2B5EF4-FFF2-40B4-BE49-F238E27FC236}">
                            <a16:creationId xmlns:a16="http://schemas.microsoft.com/office/drawing/2014/main" id="{44FD4D93-1AAC-4E4A-85A8-8601DB264A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083" y="1131010"/>
                        <a:ext cx="6876393" cy="508189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88544108"/>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3">
            <a:extLst>
              <a:ext uri="{FF2B5EF4-FFF2-40B4-BE49-F238E27FC236}">
                <a16:creationId xmlns:a16="http://schemas.microsoft.com/office/drawing/2014/main" id="{A4E2C11B-1752-7F48-8FBE-82D21C6BD67C}"/>
              </a:ext>
            </a:extLst>
          </p:cNvPr>
          <p:cNvSpPr>
            <a:spLocks noGrp="1" noChangeArrowheads="1"/>
          </p:cNvSpPr>
          <p:nvPr>
            <p:ph idx="1"/>
          </p:nvPr>
        </p:nvSpPr>
        <p:spPr/>
        <p:txBody>
          <a:bodyPr vert="horz" lIns="0" tIns="0" rIns="0" bIns="0" rtlCol="0" anchor="t">
            <a:noAutofit/>
          </a:bodyPr>
          <a:lstStyle/>
          <a:p>
            <a:pPr eaLnBrk="1" hangingPunct="1"/>
            <a:r>
              <a:rPr lang="en-US" altLang="en-US" dirty="0">
                <a:solidFill>
                  <a:schemeClr val="tx1"/>
                </a:solidFill>
                <a:ea typeface="ＭＳ Ｐゴシック"/>
              </a:rPr>
              <a:t>E.g.,</a:t>
            </a:r>
            <a:r>
              <a:rPr lang="en-US" altLang="en-US" dirty="0">
                <a:ea typeface="ＭＳ Ｐゴシック"/>
              </a:rPr>
              <a:t> find step response of inverter driving load cap</a:t>
            </a:r>
          </a:p>
        </p:txBody>
      </p:sp>
      <p:sp>
        <p:nvSpPr>
          <p:cNvPr id="54275" name="Rectangle 2">
            <a:extLst>
              <a:ext uri="{FF2B5EF4-FFF2-40B4-BE49-F238E27FC236}">
                <a16:creationId xmlns:a16="http://schemas.microsoft.com/office/drawing/2014/main" id="{2F6A5E0B-6C91-FC47-8755-3D6B2E1EE948}"/>
              </a:ext>
            </a:extLst>
          </p:cNvPr>
          <p:cNvSpPr>
            <a:spLocks noGrp="1" noChangeArrowheads="1"/>
          </p:cNvSpPr>
          <p:nvPr>
            <p:ph type="title"/>
          </p:nvPr>
        </p:nvSpPr>
        <p:spPr/>
        <p:txBody>
          <a:bodyPr/>
          <a:lstStyle/>
          <a:p>
            <a:pPr eaLnBrk="1" hangingPunct="1"/>
            <a:r>
              <a:rPr lang="en-US" altLang="en-US" dirty="0"/>
              <a:t>Inverter Step Response</a:t>
            </a:r>
          </a:p>
        </p:txBody>
      </p:sp>
      <p:graphicFrame>
        <p:nvGraphicFramePr>
          <p:cNvPr id="54277" name="Object 4">
            <a:extLst>
              <a:ext uri="{FF2B5EF4-FFF2-40B4-BE49-F238E27FC236}">
                <a16:creationId xmlns:a16="http://schemas.microsoft.com/office/drawing/2014/main" id="{E7EAF26B-A80A-3D4F-80A1-C75D720BB5F5}"/>
              </a:ext>
            </a:extLst>
          </p:cNvPr>
          <p:cNvGraphicFramePr>
            <a:graphicFrameLocks noChangeAspect="1"/>
          </p:cNvGraphicFramePr>
          <p:nvPr/>
        </p:nvGraphicFramePr>
        <p:xfrm>
          <a:off x="2362201" y="1981200"/>
          <a:ext cx="3090863" cy="2319338"/>
        </p:xfrm>
        <a:graphic>
          <a:graphicData uri="http://schemas.openxmlformats.org/presentationml/2006/ole">
            <mc:AlternateContent xmlns:mc="http://schemas.openxmlformats.org/markup-compatibility/2006">
              <mc:Choice xmlns:v="urn:schemas-microsoft-com:vml" Requires="v">
                <p:oleObj name="Equation" r:id="rId3" imgW="23406100" imgH="17551400" progId="Equation.DSMT4">
                  <p:embed/>
                </p:oleObj>
              </mc:Choice>
              <mc:Fallback>
                <p:oleObj name="Equation" r:id="rId3" imgW="23406100" imgH="17551400" progId="Equation.DSMT4">
                  <p:embed/>
                  <p:pic>
                    <p:nvPicPr>
                      <p:cNvPr id="54277" name="Object 4">
                        <a:extLst>
                          <a:ext uri="{FF2B5EF4-FFF2-40B4-BE49-F238E27FC236}">
                            <a16:creationId xmlns:a16="http://schemas.microsoft.com/office/drawing/2014/main" id="{E7EAF26B-A80A-3D4F-80A1-C75D720BB5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1" y="1981200"/>
                        <a:ext cx="3090863" cy="2319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4279" name="Object 6">
            <a:extLst>
              <a:ext uri="{FF2B5EF4-FFF2-40B4-BE49-F238E27FC236}">
                <a16:creationId xmlns:a16="http://schemas.microsoft.com/office/drawing/2014/main" id="{EC47772D-E577-714D-B4EA-63F078F537CE}"/>
              </a:ext>
            </a:extLst>
          </p:cNvPr>
          <p:cNvGraphicFramePr>
            <a:graphicFrameLocks noChangeAspect="1"/>
          </p:cNvGraphicFramePr>
          <p:nvPr/>
        </p:nvGraphicFramePr>
        <p:xfrm>
          <a:off x="7543800" y="4114800"/>
          <a:ext cx="2743200" cy="1735138"/>
        </p:xfrm>
        <a:graphic>
          <a:graphicData uri="http://schemas.openxmlformats.org/presentationml/2006/ole">
            <mc:AlternateContent xmlns:mc="http://schemas.openxmlformats.org/markup-compatibility/2006">
              <mc:Choice xmlns:v="urn:schemas-microsoft-com:vml" Requires="v">
                <p:oleObj name="VISIO" r:id="rId5" imgW="8636000" imgH="5461000" progId="Visio.Drawing.6">
                  <p:embed/>
                </p:oleObj>
              </mc:Choice>
              <mc:Fallback>
                <p:oleObj name="VISIO" r:id="rId5" imgW="8636000" imgH="5461000" progId="Visio.Drawing.6">
                  <p:embed/>
                  <p:pic>
                    <p:nvPicPr>
                      <p:cNvPr id="54279" name="Object 6">
                        <a:extLst>
                          <a:ext uri="{FF2B5EF4-FFF2-40B4-BE49-F238E27FC236}">
                            <a16:creationId xmlns:a16="http://schemas.microsoft.com/office/drawing/2014/main" id="{EC47772D-E577-714D-B4EA-63F078F537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4114800"/>
                        <a:ext cx="2743200" cy="173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4280" name="Object 7">
            <a:extLst>
              <a:ext uri="{FF2B5EF4-FFF2-40B4-BE49-F238E27FC236}">
                <a16:creationId xmlns:a16="http://schemas.microsoft.com/office/drawing/2014/main" id="{7741DC0A-E93C-1642-BC60-AFD2FB70DB50}"/>
              </a:ext>
            </a:extLst>
          </p:cNvPr>
          <p:cNvGraphicFramePr>
            <a:graphicFrameLocks noChangeAspect="1"/>
          </p:cNvGraphicFramePr>
          <p:nvPr/>
        </p:nvGraphicFramePr>
        <p:xfrm>
          <a:off x="7010401" y="1981200"/>
          <a:ext cx="2936875" cy="1938338"/>
        </p:xfrm>
        <a:graphic>
          <a:graphicData uri="http://schemas.openxmlformats.org/presentationml/2006/ole">
            <mc:AlternateContent xmlns:mc="http://schemas.openxmlformats.org/markup-compatibility/2006">
              <mc:Choice xmlns:v="urn:schemas-microsoft-com:vml" Requires="v">
                <p:oleObj name="VISIO" r:id="rId7" imgW="7569200" imgH="4991100" progId="Visio.Drawing.6">
                  <p:embed/>
                </p:oleObj>
              </mc:Choice>
              <mc:Fallback>
                <p:oleObj name="VISIO" r:id="rId7" imgW="7569200" imgH="4991100" progId="Visio.Drawing.6">
                  <p:embed/>
                  <p:pic>
                    <p:nvPicPr>
                      <p:cNvPr id="54280" name="Object 7">
                        <a:extLst>
                          <a:ext uri="{FF2B5EF4-FFF2-40B4-BE49-F238E27FC236}">
                            <a16:creationId xmlns:a16="http://schemas.microsoft.com/office/drawing/2014/main" id="{7741DC0A-E93C-1642-BC60-AFD2FB70DB5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0401" y="1981200"/>
                        <a:ext cx="2936875"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13353" name="Rectangle 9">
            <a:extLst>
              <a:ext uri="{FF2B5EF4-FFF2-40B4-BE49-F238E27FC236}">
                <a16:creationId xmlns:a16="http://schemas.microsoft.com/office/drawing/2014/main" id="{97F98844-247D-F249-89DD-EC58C3EE74F3}"/>
              </a:ext>
            </a:extLst>
          </p:cNvPr>
          <p:cNvSpPr>
            <a:spLocks noChangeArrowheads="1"/>
          </p:cNvSpPr>
          <p:nvPr/>
        </p:nvSpPr>
        <p:spPr bwMode="auto">
          <a:xfrm>
            <a:off x="7543800" y="4038600"/>
            <a:ext cx="2514600" cy="1752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
        <p:nvSpPr>
          <p:cNvPr id="313354" name="Rectangle 10">
            <a:extLst>
              <a:ext uri="{FF2B5EF4-FFF2-40B4-BE49-F238E27FC236}">
                <a16:creationId xmlns:a16="http://schemas.microsoft.com/office/drawing/2014/main" id="{76AB598C-3B2E-AC44-B239-087BC949CF0A}"/>
              </a:ext>
            </a:extLst>
          </p:cNvPr>
          <p:cNvSpPr>
            <a:spLocks noChangeArrowheads="1"/>
          </p:cNvSpPr>
          <p:nvPr/>
        </p:nvSpPr>
        <p:spPr bwMode="auto">
          <a:xfrm>
            <a:off x="3048000" y="4267200"/>
            <a:ext cx="2743200" cy="1752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Tree>
    <p:extLst>
      <p:ext uri="{BB962C8B-B14F-4D97-AF65-F5344CB8AC3E}">
        <p14:creationId xmlns:p14="http://schemas.microsoft.com/office/powerpoint/2010/main" val="3618298563"/>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grpId="0" nodeType="clickEffect">
                                  <p:stCondLst>
                                    <p:cond delay="0"/>
                                  </p:stCondLst>
                                  <p:childTnLst>
                                    <p:animEffect transition="out" filter="checkerboard(across)">
                                      <p:cBhvr>
                                        <p:cTn id="6" dur="500"/>
                                        <p:tgtEl>
                                          <p:spTgt spid="313354"/>
                                        </p:tgtEl>
                                      </p:cBhvr>
                                    </p:animEffect>
                                    <p:set>
                                      <p:cBhvr>
                                        <p:cTn id="7" dur="1" fill="hold">
                                          <p:stCondLst>
                                            <p:cond delay="499"/>
                                          </p:stCondLst>
                                        </p:cTn>
                                        <p:tgtEl>
                                          <p:spTgt spid="313354"/>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313353"/>
                                        </p:tgtEl>
                                      </p:cBhvr>
                                    </p:animEffect>
                                    <p:set>
                                      <p:cBhvr>
                                        <p:cTn id="12" dur="1" fill="hold">
                                          <p:stCondLst>
                                            <p:cond delay="499"/>
                                          </p:stCondLst>
                                        </p:cTn>
                                        <p:tgtEl>
                                          <p:spTgt spid="3133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53" grpId="0" animBg="1"/>
      <p:bldP spid="31335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5" name="Rectangle 3">
            <a:extLst>
              <a:ext uri="{FF2B5EF4-FFF2-40B4-BE49-F238E27FC236}">
                <a16:creationId xmlns:a16="http://schemas.microsoft.com/office/drawing/2014/main" id="{E744FE36-6EBB-A144-82D7-961B5908F124}"/>
              </a:ext>
            </a:extLst>
          </p:cNvPr>
          <p:cNvSpPr>
            <a:spLocks noGrp="1" noChangeArrowheads="1"/>
          </p:cNvSpPr>
          <p:nvPr>
            <p:ph idx="1"/>
          </p:nvPr>
        </p:nvSpPr>
        <p:spPr/>
        <p:txBody>
          <a:bodyPr/>
          <a:lstStyle/>
          <a:p>
            <a:pPr eaLnBrk="1" hangingPunct="1">
              <a:lnSpc>
                <a:spcPct val="90000"/>
              </a:lnSpc>
            </a:pPr>
            <a:r>
              <a:rPr lang="en-US" altLang="en-US" sz="2000" b="1" dirty="0"/>
              <a:t>t</a:t>
            </a:r>
            <a:r>
              <a:rPr lang="en-US" altLang="en-US" sz="2000" b="1" baseline="-25000" dirty="0"/>
              <a:t>pdr</a:t>
            </a:r>
            <a:r>
              <a:rPr lang="en-US" altLang="en-US" sz="2000" dirty="0"/>
              <a:t>: </a:t>
            </a:r>
            <a:r>
              <a:rPr lang="en-US" altLang="en-US" sz="2000" i="1" dirty="0"/>
              <a:t>rising propagation delay</a:t>
            </a:r>
          </a:p>
          <a:p>
            <a:pPr lvl="1" eaLnBrk="1" hangingPunct="1">
              <a:lnSpc>
                <a:spcPct val="90000"/>
              </a:lnSpc>
            </a:pPr>
            <a:r>
              <a:rPr lang="en-US" altLang="en-US" dirty="0"/>
              <a:t>From input to rising output crossing V</a:t>
            </a:r>
            <a:r>
              <a:rPr lang="en-US" altLang="en-US" baseline="-25000" dirty="0"/>
              <a:t>DD</a:t>
            </a:r>
            <a:r>
              <a:rPr lang="en-US" altLang="en-US" dirty="0"/>
              <a:t>/2</a:t>
            </a:r>
          </a:p>
          <a:p>
            <a:pPr eaLnBrk="1" hangingPunct="1">
              <a:lnSpc>
                <a:spcPct val="90000"/>
              </a:lnSpc>
            </a:pPr>
            <a:r>
              <a:rPr lang="en-US" altLang="en-US" sz="2000" b="1" dirty="0"/>
              <a:t>t</a:t>
            </a:r>
            <a:r>
              <a:rPr lang="en-US" altLang="en-US" sz="2000" b="1" baseline="-25000" dirty="0"/>
              <a:t>pdf</a:t>
            </a:r>
            <a:r>
              <a:rPr lang="en-US" altLang="en-US" sz="2000" dirty="0"/>
              <a:t>: </a:t>
            </a:r>
            <a:r>
              <a:rPr lang="en-US" altLang="en-US" sz="2000" i="1" dirty="0"/>
              <a:t>falling propagation delay</a:t>
            </a:r>
          </a:p>
          <a:p>
            <a:pPr lvl="1" eaLnBrk="1" hangingPunct="1">
              <a:lnSpc>
                <a:spcPct val="90000"/>
              </a:lnSpc>
            </a:pPr>
            <a:r>
              <a:rPr lang="en-US" altLang="en-US" dirty="0"/>
              <a:t>From input to falling output crossing V</a:t>
            </a:r>
            <a:r>
              <a:rPr lang="en-US" altLang="en-US" baseline="-25000" dirty="0"/>
              <a:t>DD</a:t>
            </a:r>
            <a:r>
              <a:rPr lang="en-US" altLang="en-US" dirty="0"/>
              <a:t>/2</a:t>
            </a:r>
          </a:p>
          <a:p>
            <a:pPr eaLnBrk="1" hangingPunct="1">
              <a:lnSpc>
                <a:spcPct val="90000"/>
              </a:lnSpc>
            </a:pPr>
            <a:r>
              <a:rPr lang="en-US" altLang="en-US" sz="2000" b="1" dirty="0"/>
              <a:t>t</a:t>
            </a:r>
            <a:r>
              <a:rPr lang="en-US" altLang="en-US" sz="2000" b="1" baseline="-25000" dirty="0"/>
              <a:t>pd</a:t>
            </a:r>
            <a:r>
              <a:rPr lang="en-US" altLang="en-US" sz="2000" dirty="0"/>
              <a:t>: </a:t>
            </a:r>
            <a:r>
              <a:rPr lang="en-US" altLang="en-US" sz="2000" i="1" dirty="0"/>
              <a:t>average propagation delay</a:t>
            </a:r>
          </a:p>
          <a:p>
            <a:pPr lvl="1" eaLnBrk="1" hangingPunct="1">
              <a:lnSpc>
                <a:spcPct val="90000"/>
              </a:lnSpc>
            </a:pPr>
            <a:r>
              <a:rPr lang="en-US" altLang="en-US" dirty="0"/>
              <a:t>t</a:t>
            </a:r>
            <a:r>
              <a:rPr lang="en-US" altLang="en-US" baseline="-25000" dirty="0"/>
              <a:t>pd</a:t>
            </a:r>
            <a:r>
              <a:rPr lang="en-US" altLang="en-US" dirty="0"/>
              <a:t> = (t</a:t>
            </a:r>
            <a:r>
              <a:rPr lang="en-US" altLang="en-US" baseline="-25000" dirty="0"/>
              <a:t>pdr</a:t>
            </a:r>
            <a:r>
              <a:rPr lang="en-US" altLang="en-US" dirty="0"/>
              <a:t> + t</a:t>
            </a:r>
            <a:r>
              <a:rPr lang="en-US" altLang="en-US" baseline="-25000" dirty="0"/>
              <a:t>pdf</a:t>
            </a:r>
            <a:r>
              <a:rPr lang="en-US" altLang="en-US" dirty="0"/>
              <a:t>)/2</a:t>
            </a:r>
          </a:p>
          <a:p>
            <a:pPr eaLnBrk="1" hangingPunct="1">
              <a:lnSpc>
                <a:spcPct val="90000"/>
              </a:lnSpc>
            </a:pPr>
            <a:r>
              <a:rPr lang="en-US" altLang="en-US" sz="2000" b="1" dirty="0"/>
              <a:t>t</a:t>
            </a:r>
            <a:r>
              <a:rPr lang="en-US" altLang="en-US" sz="2000" b="1" baseline="-25000" dirty="0"/>
              <a:t>r</a:t>
            </a:r>
            <a:r>
              <a:rPr lang="en-US" altLang="en-US" sz="2000" dirty="0"/>
              <a:t>: </a:t>
            </a:r>
            <a:r>
              <a:rPr lang="en-US" altLang="en-US" sz="2000" i="1" dirty="0"/>
              <a:t>rise time</a:t>
            </a:r>
          </a:p>
          <a:p>
            <a:pPr lvl="1" eaLnBrk="1" hangingPunct="1">
              <a:lnSpc>
                <a:spcPct val="90000"/>
              </a:lnSpc>
            </a:pPr>
            <a:r>
              <a:rPr lang="en-US" altLang="en-US" dirty="0"/>
              <a:t>From output crossing 0.2 V</a:t>
            </a:r>
            <a:r>
              <a:rPr lang="en-US" altLang="en-US" baseline="-25000" dirty="0"/>
              <a:t>DD</a:t>
            </a:r>
            <a:r>
              <a:rPr lang="en-US" altLang="en-US" dirty="0"/>
              <a:t> to 0.8 V</a:t>
            </a:r>
            <a:r>
              <a:rPr lang="en-US" altLang="en-US" baseline="-25000" dirty="0"/>
              <a:t>DD</a:t>
            </a:r>
            <a:endParaRPr lang="en-US" altLang="en-US" dirty="0"/>
          </a:p>
          <a:p>
            <a:pPr eaLnBrk="1" hangingPunct="1">
              <a:lnSpc>
                <a:spcPct val="90000"/>
              </a:lnSpc>
            </a:pPr>
            <a:r>
              <a:rPr lang="en-US" altLang="en-US" sz="2000" b="1" dirty="0"/>
              <a:t>t</a:t>
            </a:r>
            <a:r>
              <a:rPr lang="en-US" altLang="en-US" sz="2000" b="1" baseline="-25000" dirty="0"/>
              <a:t>f</a:t>
            </a:r>
            <a:r>
              <a:rPr lang="en-US" altLang="en-US" sz="2000" dirty="0"/>
              <a:t>: </a:t>
            </a:r>
            <a:r>
              <a:rPr lang="en-US" altLang="en-US" sz="2000" i="1" dirty="0"/>
              <a:t>fall time</a:t>
            </a:r>
          </a:p>
          <a:p>
            <a:pPr lvl="1" eaLnBrk="1" hangingPunct="1">
              <a:lnSpc>
                <a:spcPct val="90000"/>
              </a:lnSpc>
            </a:pPr>
            <a:r>
              <a:rPr lang="en-US" altLang="en-US" dirty="0"/>
              <a:t>From output crossing 0.8 V</a:t>
            </a:r>
            <a:r>
              <a:rPr lang="en-US" altLang="en-US" baseline="-25000" dirty="0"/>
              <a:t>DD</a:t>
            </a:r>
            <a:r>
              <a:rPr lang="en-US" altLang="en-US" dirty="0"/>
              <a:t> to 0.2 V</a:t>
            </a:r>
            <a:r>
              <a:rPr lang="en-US" altLang="en-US" baseline="-25000" dirty="0"/>
              <a:t>DD</a:t>
            </a:r>
            <a:endParaRPr lang="en-US" altLang="en-US" dirty="0"/>
          </a:p>
        </p:txBody>
      </p:sp>
      <p:sp>
        <p:nvSpPr>
          <p:cNvPr id="56323" name="Rectangle 2">
            <a:extLst>
              <a:ext uri="{FF2B5EF4-FFF2-40B4-BE49-F238E27FC236}">
                <a16:creationId xmlns:a16="http://schemas.microsoft.com/office/drawing/2014/main" id="{45865B82-666F-E24C-8468-F85D01B2D77F}"/>
              </a:ext>
            </a:extLst>
          </p:cNvPr>
          <p:cNvSpPr>
            <a:spLocks noGrp="1" noChangeArrowheads="1"/>
          </p:cNvSpPr>
          <p:nvPr>
            <p:ph type="title"/>
          </p:nvPr>
        </p:nvSpPr>
        <p:spPr/>
        <p:txBody>
          <a:bodyPr/>
          <a:lstStyle/>
          <a:p>
            <a:pPr eaLnBrk="1" hangingPunct="1"/>
            <a:r>
              <a:rPr lang="en-US" altLang="en-US" dirty="0"/>
              <a:t>Delay Definitions</a:t>
            </a:r>
          </a:p>
        </p:txBody>
      </p:sp>
      <p:pic>
        <p:nvPicPr>
          <p:cNvPr id="56325" name="Picture 4">
            <a:extLst>
              <a:ext uri="{FF2B5EF4-FFF2-40B4-BE49-F238E27FC236}">
                <a16:creationId xmlns:a16="http://schemas.microsoft.com/office/drawing/2014/main" id="{21BCA75A-5415-224D-A241-5ACB40B12D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9988" y="1600201"/>
            <a:ext cx="3884612" cy="346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2817552"/>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0755">
                                            <p:txEl>
                                              <p:pRg st="0" end="0"/>
                                            </p:txEl>
                                          </p:spTgt>
                                        </p:tgtEl>
                                        <p:attrNameLst>
                                          <p:attrName>style.visibility</p:attrName>
                                        </p:attrNameLst>
                                      </p:cBhvr>
                                      <p:to>
                                        <p:strVal val="visible"/>
                                      </p:to>
                                    </p:set>
                                    <p:anim calcmode="lin" valueType="num">
                                      <p:cBhvr additive="base">
                                        <p:cTn id="7" dur="500" fill="hold"/>
                                        <p:tgtEl>
                                          <p:spTgt spid="330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075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0755">
                                            <p:txEl>
                                              <p:pRg st="1" end="1"/>
                                            </p:txEl>
                                          </p:spTgt>
                                        </p:tgtEl>
                                        <p:attrNameLst>
                                          <p:attrName>style.visibility</p:attrName>
                                        </p:attrNameLst>
                                      </p:cBhvr>
                                      <p:to>
                                        <p:strVal val="visible"/>
                                      </p:to>
                                    </p:set>
                                    <p:anim calcmode="lin" valueType="num">
                                      <p:cBhvr additive="base">
                                        <p:cTn id="11" dur="500" fill="hold"/>
                                        <p:tgtEl>
                                          <p:spTgt spid="33075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30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30755">
                                            <p:txEl>
                                              <p:pRg st="2" end="2"/>
                                            </p:txEl>
                                          </p:spTgt>
                                        </p:tgtEl>
                                        <p:attrNameLst>
                                          <p:attrName>style.visibility</p:attrName>
                                        </p:attrNameLst>
                                      </p:cBhvr>
                                      <p:to>
                                        <p:strVal val="visible"/>
                                      </p:to>
                                    </p:set>
                                    <p:anim calcmode="lin" valueType="num">
                                      <p:cBhvr additive="base">
                                        <p:cTn id="17" dur="500" fill="hold"/>
                                        <p:tgtEl>
                                          <p:spTgt spid="33075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075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30755">
                                            <p:txEl>
                                              <p:pRg st="3" end="3"/>
                                            </p:txEl>
                                          </p:spTgt>
                                        </p:tgtEl>
                                        <p:attrNameLst>
                                          <p:attrName>style.visibility</p:attrName>
                                        </p:attrNameLst>
                                      </p:cBhvr>
                                      <p:to>
                                        <p:strVal val="visible"/>
                                      </p:to>
                                    </p:set>
                                    <p:anim calcmode="lin" valueType="num">
                                      <p:cBhvr additive="base">
                                        <p:cTn id="21" dur="500" fill="hold"/>
                                        <p:tgtEl>
                                          <p:spTgt spid="33075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307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330755">
                                            <p:txEl>
                                              <p:pRg st="4" end="4"/>
                                            </p:txEl>
                                          </p:spTgt>
                                        </p:tgtEl>
                                        <p:attrNameLst>
                                          <p:attrName>style.visibility</p:attrName>
                                        </p:attrNameLst>
                                      </p:cBhvr>
                                      <p:to>
                                        <p:strVal val="visible"/>
                                      </p:to>
                                    </p:set>
                                    <p:anim calcmode="lin" valueType="num">
                                      <p:cBhvr additive="base">
                                        <p:cTn id="27" dur="500" fill="hold"/>
                                        <p:tgtEl>
                                          <p:spTgt spid="33075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3075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30755">
                                            <p:txEl>
                                              <p:pRg st="5" end="5"/>
                                            </p:txEl>
                                          </p:spTgt>
                                        </p:tgtEl>
                                        <p:attrNameLst>
                                          <p:attrName>style.visibility</p:attrName>
                                        </p:attrNameLst>
                                      </p:cBhvr>
                                      <p:to>
                                        <p:strVal val="visible"/>
                                      </p:to>
                                    </p:set>
                                    <p:anim calcmode="lin" valueType="num">
                                      <p:cBhvr additive="base">
                                        <p:cTn id="31" dur="500" fill="hold"/>
                                        <p:tgtEl>
                                          <p:spTgt spid="33075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3075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30755">
                                            <p:txEl>
                                              <p:pRg st="6" end="6"/>
                                            </p:txEl>
                                          </p:spTgt>
                                        </p:tgtEl>
                                        <p:attrNameLst>
                                          <p:attrName>style.visibility</p:attrName>
                                        </p:attrNameLst>
                                      </p:cBhvr>
                                      <p:to>
                                        <p:strVal val="visible"/>
                                      </p:to>
                                    </p:set>
                                    <p:anim calcmode="lin" valueType="num">
                                      <p:cBhvr additive="base">
                                        <p:cTn id="37" dur="500" fill="hold"/>
                                        <p:tgtEl>
                                          <p:spTgt spid="33075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30755">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30755">
                                            <p:txEl>
                                              <p:pRg st="7" end="7"/>
                                            </p:txEl>
                                          </p:spTgt>
                                        </p:tgtEl>
                                        <p:attrNameLst>
                                          <p:attrName>style.visibility</p:attrName>
                                        </p:attrNameLst>
                                      </p:cBhvr>
                                      <p:to>
                                        <p:strVal val="visible"/>
                                      </p:to>
                                    </p:set>
                                    <p:anim calcmode="lin" valueType="num">
                                      <p:cBhvr additive="base">
                                        <p:cTn id="41" dur="500" fill="hold"/>
                                        <p:tgtEl>
                                          <p:spTgt spid="330755">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3075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330755">
                                            <p:txEl>
                                              <p:pRg st="8" end="8"/>
                                            </p:txEl>
                                          </p:spTgt>
                                        </p:tgtEl>
                                        <p:attrNameLst>
                                          <p:attrName>style.visibility</p:attrName>
                                        </p:attrNameLst>
                                      </p:cBhvr>
                                      <p:to>
                                        <p:strVal val="visible"/>
                                      </p:to>
                                    </p:set>
                                    <p:anim calcmode="lin" valueType="num">
                                      <p:cBhvr additive="base">
                                        <p:cTn id="47" dur="500" fill="hold"/>
                                        <p:tgtEl>
                                          <p:spTgt spid="330755">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30755">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30755">
                                            <p:txEl>
                                              <p:pRg st="9" end="9"/>
                                            </p:txEl>
                                          </p:spTgt>
                                        </p:tgtEl>
                                        <p:attrNameLst>
                                          <p:attrName>style.visibility</p:attrName>
                                        </p:attrNameLst>
                                      </p:cBhvr>
                                      <p:to>
                                        <p:strVal val="visible"/>
                                      </p:to>
                                    </p:set>
                                    <p:anim calcmode="lin" valueType="num">
                                      <p:cBhvr additive="base">
                                        <p:cTn id="51" dur="500" fill="hold"/>
                                        <p:tgtEl>
                                          <p:spTgt spid="330755">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3075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3">
            <a:extLst>
              <a:ext uri="{FF2B5EF4-FFF2-40B4-BE49-F238E27FC236}">
                <a16:creationId xmlns:a16="http://schemas.microsoft.com/office/drawing/2014/main" id="{0D91F55A-74F3-AF40-961C-9B8662C8FD56}"/>
              </a:ext>
            </a:extLst>
          </p:cNvPr>
          <p:cNvSpPr>
            <a:spLocks noGrp="1" noChangeArrowheads="1"/>
          </p:cNvSpPr>
          <p:nvPr>
            <p:ph idx="1"/>
          </p:nvPr>
        </p:nvSpPr>
        <p:spPr/>
        <p:txBody>
          <a:bodyPr/>
          <a:lstStyle/>
          <a:p>
            <a:pPr eaLnBrk="1" hangingPunct="1"/>
            <a:r>
              <a:rPr lang="en-US" altLang="en-US" b="1" dirty="0"/>
              <a:t>t</a:t>
            </a:r>
            <a:r>
              <a:rPr lang="en-US" altLang="en-US" b="1" baseline="-25000" dirty="0"/>
              <a:t>cdr</a:t>
            </a:r>
            <a:r>
              <a:rPr lang="en-US" altLang="en-US" dirty="0"/>
              <a:t>: </a:t>
            </a:r>
            <a:r>
              <a:rPr lang="en-US" altLang="en-US" i="1" dirty="0"/>
              <a:t>rising contamination delay</a:t>
            </a:r>
          </a:p>
          <a:p>
            <a:pPr lvl="1" eaLnBrk="1" hangingPunct="1"/>
            <a:r>
              <a:rPr lang="en-US" altLang="en-US" dirty="0"/>
              <a:t>From input to rising output crossing V</a:t>
            </a:r>
            <a:r>
              <a:rPr lang="en-US" altLang="en-US" baseline="-25000" dirty="0"/>
              <a:t>DD</a:t>
            </a:r>
            <a:r>
              <a:rPr lang="en-US" altLang="en-US" dirty="0"/>
              <a:t>/2</a:t>
            </a:r>
          </a:p>
          <a:p>
            <a:pPr eaLnBrk="1" hangingPunct="1"/>
            <a:r>
              <a:rPr lang="en-US" altLang="en-US" b="1" dirty="0"/>
              <a:t>t</a:t>
            </a:r>
            <a:r>
              <a:rPr lang="en-US" altLang="en-US" b="1" baseline="-25000" dirty="0"/>
              <a:t>cdf</a:t>
            </a:r>
            <a:r>
              <a:rPr lang="en-US" altLang="en-US" dirty="0"/>
              <a:t>: </a:t>
            </a:r>
            <a:r>
              <a:rPr lang="en-US" altLang="en-US" i="1" dirty="0"/>
              <a:t>falling contamination delay</a:t>
            </a:r>
          </a:p>
          <a:p>
            <a:pPr lvl="1" eaLnBrk="1" hangingPunct="1"/>
            <a:r>
              <a:rPr lang="en-US" altLang="en-US" dirty="0"/>
              <a:t>From input to falling output crossing V</a:t>
            </a:r>
            <a:r>
              <a:rPr lang="en-US" altLang="en-US" baseline="-25000" dirty="0"/>
              <a:t>DD</a:t>
            </a:r>
            <a:r>
              <a:rPr lang="en-US" altLang="en-US" dirty="0"/>
              <a:t>/2</a:t>
            </a:r>
          </a:p>
          <a:p>
            <a:pPr eaLnBrk="1" hangingPunct="1"/>
            <a:r>
              <a:rPr lang="en-US" altLang="en-US" b="1" dirty="0"/>
              <a:t>t</a:t>
            </a:r>
            <a:r>
              <a:rPr lang="en-US" altLang="en-US" b="1" baseline="-25000" dirty="0"/>
              <a:t>cd</a:t>
            </a:r>
            <a:r>
              <a:rPr lang="en-US" altLang="en-US" dirty="0"/>
              <a:t>: </a:t>
            </a:r>
            <a:r>
              <a:rPr lang="en-US" altLang="en-US" i="1" dirty="0"/>
              <a:t>average contamination delay</a:t>
            </a:r>
          </a:p>
          <a:p>
            <a:pPr lvl="1" eaLnBrk="1" hangingPunct="1"/>
            <a:r>
              <a:rPr lang="en-US" altLang="en-US" dirty="0"/>
              <a:t>t</a:t>
            </a:r>
            <a:r>
              <a:rPr lang="en-US" altLang="en-US" baseline="-25000" dirty="0"/>
              <a:t>pd</a:t>
            </a:r>
            <a:r>
              <a:rPr lang="en-US" altLang="en-US" dirty="0"/>
              <a:t> = (t</a:t>
            </a:r>
            <a:r>
              <a:rPr lang="en-US" altLang="en-US" baseline="-25000" dirty="0"/>
              <a:t>cdr</a:t>
            </a:r>
            <a:r>
              <a:rPr lang="en-US" altLang="en-US" dirty="0"/>
              <a:t> + t</a:t>
            </a:r>
            <a:r>
              <a:rPr lang="en-US" altLang="en-US" baseline="-25000" dirty="0"/>
              <a:t>cdf</a:t>
            </a:r>
            <a:r>
              <a:rPr lang="en-US" altLang="en-US" dirty="0"/>
              <a:t>)/2</a:t>
            </a:r>
          </a:p>
        </p:txBody>
      </p:sp>
      <p:sp>
        <p:nvSpPr>
          <p:cNvPr id="58371" name="Rectangle 2">
            <a:extLst>
              <a:ext uri="{FF2B5EF4-FFF2-40B4-BE49-F238E27FC236}">
                <a16:creationId xmlns:a16="http://schemas.microsoft.com/office/drawing/2014/main" id="{249615C0-515C-134D-A639-01862986F36B}"/>
              </a:ext>
            </a:extLst>
          </p:cNvPr>
          <p:cNvSpPr>
            <a:spLocks noGrp="1" noChangeArrowheads="1"/>
          </p:cNvSpPr>
          <p:nvPr>
            <p:ph type="title"/>
          </p:nvPr>
        </p:nvSpPr>
        <p:spPr/>
        <p:txBody>
          <a:bodyPr/>
          <a:lstStyle/>
          <a:p>
            <a:pPr eaLnBrk="1" hangingPunct="1"/>
            <a:r>
              <a:rPr lang="en-US" altLang="en-US" dirty="0"/>
              <a:t>Delay Definitions</a:t>
            </a:r>
          </a:p>
        </p:txBody>
      </p:sp>
      <p:graphicFrame>
        <p:nvGraphicFramePr>
          <p:cNvPr id="2" name="Object 6">
            <a:extLst>
              <a:ext uri="{FF2B5EF4-FFF2-40B4-BE49-F238E27FC236}">
                <a16:creationId xmlns:a16="http://schemas.microsoft.com/office/drawing/2014/main" id="{D9F907B4-E34B-0E64-5247-58F5B0FE3A15}"/>
              </a:ext>
            </a:extLst>
          </p:cNvPr>
          <p:cNvGraphicFramePr>
            <a:graphicFrameLocks noChangeAspect="1"/>
          </p:cNvGraphicFramePr>
          <p:nvPr>
            <p:extLst>
              <p:ext uri="{D42A27DB-BD31-4B8C-83A1-F6EECF244321}">
                <p14:modId xmlns:p14="http://schemas.microsoft.com/office/powerpoint/2010/main" val="751349401"/>
              </p:ext>
            </p:extLst>
          </p:nvPr>
        </p:nvGraphicFramePr>
        <p:xfrm>
          <a:off x="5591504" y="1131010"/>
          <a:ext cx="5580992" cy="4466731"/>
        </p:xfrm>
        <a:graphic>
          <a:graphicData uri="http://schemas.openxmlformats.org/presentationml/2006/ole">
            <mc:AlternateContent xmlns:mc="http://schemas.openxmlformats.org/markup-compatibility/2006">
              <mc:Choice xmlns:v="urn:schemas-microsoft-com:vml" Requires="v">
                <p:oleObj name="VISIO" r:id="rId3" imgW="14414500" imgH="11518900" progId="Visio.Drawing.6">
                  <p:embed/>
                </p:oleObj>
              </mc:Choice>
              <mc:Fallback>
                <p:oleObj name="VISIO" r:id="rId3" imgW="14414500" imgH="11518900" progId="Visio.Drawing.6">
                  <p:embed/>
                  <p:pic>
                    <p:nvPicPr>
                      <p:cNvPr id="60421" name="Object 6">
                        <a:extLst>
                          <a:ext uri="{FF2B5EF4-FFF2-40B4-BE49-F238E27FC236}">
                            <a16:creationId xmlns:a16="http://schemas.microsoft.com/office/drawing/2014/main" id="{4C308845-0B91-144F-820A-0D54A06604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504" y="1131010"/>
                        <a:ext cx="5580992" cy="446673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468381749"/>
      </p:ext>
    </p:extLst>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3">
            <a:extLst>
              <a:ext uri="{FF2B5EF4-FFF2-40B4-BE49-F238E27FC236}">
                <a16:creationId xmlns:a16="http://schemas.microsoft.com/office/drawing/2014/main" id="{24F122ED-A94B-3843-B26A-86003324B584}"/>
              </a:ext>
            </a:extLst>
          </p:cNvPr>
          <p:cNvSpPr>
            <a:spLocks noGrp="1" noChangeArrowheads="1"/>
          </p:cNvSpPr>
          <p:nvPr>
            <p:ph idx="1"/>
          </p:nvPr>
        </p:nvSpPr>
        <p:spPr/>
        <p:txBody>
          <a:bodyPr/>
          <a:lstStyle/>
          <a:p>
            <a:pPr eaLnBrk="1" hangingPunct="1">
              <a:lnSpc>
                <a:spcPct val="90000"/>
              </a:lnSpc>
            </a:pPr>
            <a:r>
              <a:rPr lang="en-US" altLang="en-US" dirty="0">
                <a:solidFill>
                  <a:srgbClr val="000000"/>
                </a:solidFill>
              </a:rPr>
              <a:t>We would like to be able to easily estimate delay</a:t>
            </a:r>
          </a:p>
          <a:p>
            <a:pPr lvl="1" eaLnBrk="1" hangingPunct="1">
              <a:lnSpc>
                <a:spcPct val="90000"/>
              </a:lnSpc>
            </a:pPr>
            <a:r>
              <a:rPr lang="en-US" altLang="en-US" dirty="0">
                <a:solidFill>
                  <a:srgbClr val="000000"/>
                </a:solidFill>
              </a:rPr>
              <a:t>Not as accurate as simulation</a:t>
            </a:r>
          </a:p>
          <a:p>
            <a:pPr lvl="1" eaLnBrk="1" hangingPunct="1">
              <a:lnSpc>
                <a:spcPct val="90000"/>
              </a:lnSpc>
            </a:pPr>
            <a:r>
              <a:rPr lang="en-US" altLang="en-US" dirty="0">
                <a:solidFill>
                  <a:srgbClr val="000000"/>
                </a:solidFill>
              </a:rPr>
              <a:t>But easier to ask “</a:t>
            </a:r>
            <a:r>
              <a:rPr lang="en-US" altLang="ja-JP" dirty="0">
                <a:solidFill>
                  <a:srgbClr val="000000"/>
                </a:solidFill>
              </a:rPr>
              <a:t>What if?”</a:t>
            </a:r>
          </a:p>
          <a:p>
            <a:pPr eaLnBrk="1" hangingPunct="1">
              <a:lnSpc>
                <a:spcPct val="90000"/>
              </a:lnSpc>
            </a:pPr>
            <a:r>
              <a:rPr lang="en-US" altLang="en-US" dirty="0">
                <a:solidFill>
                  <a:srgbClr val="000000"/>
                </a:solidFill>
              </a:rPr>
              <a:t>The step response usually looks like a 1st order RC response with a decaying exponential.</a:t>
            </a:r>
          </a:p>
          <a:p>
            <a:pPr eaLnBrk="1" hangingPunct="1">
              <a:lnSpc>
                <a:spcPct val="90000"/>
              </a:lnSpc>
            </a:pPr>
            <a:r>
              <a:rPr lang="en-US" altLang="en-US" dirty="0">
                <a:solidFill>
                  <a:srgbClr val="000000"/>
                </a:solidFill>
              </a:rPr>
              <a:t>Use RC delay models to estimate delay</a:t>
            </a:r>
          </a:p>
          <a:p>
            <a:pPr lvl="1" eaLnBrk="1" hangingPunct="1">
              <a:lnSpc>
                <a:spcPct val="90000"/>
              </a:lnSpc>
            </a:pPr>
            <a:r>
              <a:rPr lang="en-US" altLang="en-US" dirty="0">
                <a:solidFill>
                  <a:srgbClr val="000000"/>
                </a:solidFill>
              </a:rPr>
              <a:t>C = total capacitance on output node</a:t>
            </a:r>
          </a:p>
          <a:p>
            <a:pPr lvl="1" eaLnBrk="1" hangingPunct="1">
              <a:lnSpc>
                <a:spcPct val="90000"/>
              </a:lnSpc>
            </a:pPr>
            <a:r>
              <a:rPr lang="en-US" altLang="en-US" dirty="0">
                <a:solidFill>
                  <a:srgbClr val="000000"/>
                </a:solidFill>
              </a:rPr>
              <a:t>Use </a:t>
            </a:r>
            <a:r>
              <a:rPr lang="en-US" altLang="en-US" i="1" dirty="0">
                <a:solidFill>
                  <a:srgbClr val="000000"/>
                </a:solidFill>
              </a:rPr>
              <a:t>effective resistance</a:t>
            </a:r>
            <a:r>
              <a:rPr lang="en-US" altLang="en-US" dirty="0">
                <a:solidFill>
                  <a:srgbClr val="000000"/>
                </a:solidFill>
              </a:rPr>
              <a:t> R</a:t>
            </a:r>
          </a:p>
          <a:p>
            <a:pPr lvl="1" eaLnBrk="1" hangingPunct="1">
              <a:lnSpc>
                <a:spcPct val="90000"/>
              </a:lnSpc>
            </a:pPr>
            <a:r>
              <a:rPr lang="en-US" altLang="en-US" dirty="0">
                <a:solidFill>
                  <a:srgbClr val="000000"/>
                </a:solidFill>
              </a:rPr>
              <a:t>So that t</a:t>
            </a:r>
            <a:r>
              <a:rPr lang="en-US" altLang="en-US" baseline="-25000" dirty="0">
                <a:solidFill>
                  <a:srgbClr val="000000"/>
                </a:solidFill>
              </a:rPr>
              <a:t>pd</a:t>
            </a:r>
            <a:r>
              <a:rPr lang="en-US" altLang="en-US" dirty="0">
                <a:solidFill>
                  <a:srgbClr val="000000"/>
                </a:solidFill>
              </a:rPr>
              <a:t> = RC</a:t>
            </a:r>
          </a:p>
          <a:p>
            <a:pPr eaLnBrk="1" hangingPunct="1">
              <a:lnSpc>
                <a:spcPct val="90000"/>
              </a:lnSpc>
            </a:pPr>
            <a:r>
              <a:rPr lang="en-US" altLang="en-US" dirty="0">
                <a:solidFill>
                  <a:srgbClr val="000000"/>
                </a:solidFill>
              </a:rPr>
              <a:t>Characterize transistors by finding their effective R</a:t>
            </a:r>
          </a:p>
          <a:p>
            <a:pPr lvl="1" eaLnBrk="1" hangingPunct="1">
              <a:lnSpc>
                <a:spcPct val="90000"/>
              </a:lnSpc>
            </a:pPr>
            <a:r>
              <a:rPr lang="en-US" altLang="en-US" dirty="0">
                <a:solidFill>
                  <a:srgbClr val="000000"/>
                </a:solidFill>
              </a:rPr>
              <a:t>Depends on average current as gate switches</a:t>
            </a:r>
          </a:p>
        </p:txBody>
      </p:sp>
      <p:sp>
        <p:nvSpPr>
          <p:cNvPr id="62467" name="Rectangle 2">
            <a:extLst>
              <a:ext uri="{FF2B5EF4-FFF2-40B4-BE49-F238E27FC236}">
                <a16:creationId xmlns:a16="http://schemas.microsoft.com/office/drawing/2014/main" id="{8F0750AE-7C16-2F4A-ADB6-768A3989CED0}"/>
              </a:ext>
            </a:extLst>
          </p:cNvPr>
          <p:cNvSpPr>
            <a:spLocks noGrp="1" noChangeArrowheads="1"/>
          </p:cNvSpPr>
          <p:nvPr>
            <p:ph type="title"/>
          </p:nvPr>
        </p:nvSpPr>
        <p:spPr/>
        <p:txBody>
          <a:bodyPr/>
          <a:lstStyle/>
          <a:p>
            <a:pPr eaLnBrk="1" hangingPunct="1"/>
            <a:r>
              <a:rPr lang="en-US" altLang="en-US" dirty="0"/>
              <a:t>Delay Estimation</a:t>
            </a:r>
          </a:p>
        </p:txBody>
      </p:sp>
    </p:spTree>
    <p:extLst>
      <p:ext uri="{BB962C8B-B14F-4D97-AF65-F5344CB8AC3E}">
        <p14:creationId xmlns:p14="http://schemas.microsoft.com/office/powerpoint/2010/main" val="373941541"/>
      </p:ext>
    </p:extLst>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a:extLst>
              <a:ext uri="{FF2B5EF4-FFF2-40B4-BE49-F238E27FC236}">
                <a16:creationId xmlns:a16="http://schemas.microsoft.com/office/drawing/2014/main" id="{B5BFC75C-5F52-6242-8C01-2214486A0138}"/>
              </a:ext>
            </a:extLst>
          </p:cNvPr>
          <p:cNvSpPr>
            <a:spLocks noGrp="1" noChangeArrowheads="1"/>
          </p:cNvSpPr>
          <p:nvPr>
            <p:ph idx="1"/>
          </p:nvPr>
        </p:nvSpPr>
        <p:spPr/>
        <p:txBody>
          <a:bodyPr/>
          <a:lstStyle/>
          <a:p>
            <a:pPr eaLnBrk="1" hangingPunct="1"/>
            <a:r>
              <a:rPr lang="en-US" altLang="en-US" dirty="0"/>
              <a:t>Shockley models have limited value</a:t>
            </a:r>
          </a:p>
          <a:p>
            <a:pPr lvl="1" eaLnBrk="1" hangingPunct="1"/>
            <a:r>
              <a:rPr lang="en-US" altLang="en-US" dirty="0"/>
              <a:t>Not accurate enough for modern transistors</a:t>
            </a:r>
          </a:p>
          <a:p>
            <a:pPr lvl="1" eaLnBrk="1" hangingPunct="1"/>
            <a:r>
              <a:rPr lang="en-US" altLang="en-US" dirty="0"/>
              <a:t>Too complicated for much hand analysis</a:t>
            </a:r>
          </a:p>
          <a:p>
            <a:pPr eaLnBrk="1" hangingPunct="1"/>
            <a:r>
              <a:rPr lang="en-US" altLang="en-US" dirty="0"/>
              <a:t>Simplification: treat transistor as resistor</a:t>
            </a:r>
          </a:p>
          <a:p>
            <a:pPr lvl="1" eaLnBrk="1" hangingPunct="1"/>
            <a:r>
              <a:rPr lang="en-US" altLang="en-US" dirty="0"/>
              <a:t>Replace I</a:t>
            </a:r>
            <a:r>
              <a:rPr lang="en-US" altLang="en-US" baseline="-25000" dirty="0"/>
              <a:t>ds</a:t>
            </a:r>
            <a:r>
              <a:rPr lang="en-US" altLang="en-US" dirty="0"/>
              <a:t>(V</a:t>
            </a:r>
            <a:r>
              <a:rPr lang="en-US" altLang="en-US" baseline="-25000" dirty="0"/>
              <a:t>ds</a:t>
            </a:r>
            <a:r>
              <a:rPr lang="en-US" altLang="en-US" dirty="0"/>
              <a:t>, V</a:t>
            </a:r>
            <a:r>
              <a:rPr lang="en-US" altLang="en-US" baseline="-25000" dirty="0"/>
              <a:t>gs</a:t>
            </a:r>
            <a:r>
              <a:rPr lang="en-US" altLang="en-US" dirty="0"/>
              <a:t>) with effective resistance R</a:t>
            </a:r>
          </a:p>
          <a:p>
            <a:pPr lvl="2" eaLnBrk="1" hangingPunct="1"/>
            <a:r>
              <a:rPr lang="en-US" altLang="en-US" dirty="0"/>
              <a:t>I</a:t>
            </a:r>
            <a:r>
              <a:rPr lang="en-US" altLang="en-US" baseline="-25000" dirty="0"/>
              <a:t>ds</a:t>
            </a:r>
            <a:r>
              <a:rPr lang="en-US" altLang="en-US" dirty="0"/>
              <a:t> = V</a:t>
            </a:r>
            <a:r>
              <a:rPr lang="en-US" altLang="en-US" baseline="-25000" dirty="0"/>
              <a:t>ds</a:t>
            </a:r>
            <a:r>
              <a:rPr lang="en-US" altLang="en-US" dirty="0"/>
              <a:t>/R</a:t>
            </a:r>
          </a:p>
          <a:p>
            <a:pPr lvl="1" eaLnBrk="1" hangingPunct="1"/>
            <a:r>
              <a:rPr lang="en-US" altLang="en-US" dirty="0"/>
              <a:t>R averaged across switching of digital gate</a:t>
            </a:r>
          </a:p>
          <a:p>
            <a:pPr eaLnBrk="1" hangingPunct="1"/>
            <a:r>
              <a:rPr lang="en-US" altLang="en-US" dirty="0"/>
              <a:t>Too inaccurate to predict current at any given time</a:t>
            </a:r>
          </a:p>
          <a:p>
            <a:pPr lvl="1" eaLnBrk="1" hangingPunct="1"/>
            <a:r>
              <a:rPr lang="en-US" altLang="en-US" dirty="0"/>
              <a:t>But good enough to predict RC delay</a:t>
            </a:r>
          </a:p>
        </p:txBody>
      </p:sp>
      <p:sp>
        <p:nvSpPr>
          <p:cNvPr id="64515" name="Rectangle 2">
            <a:extLst>
              <a:ext uri="{FF2B5EF4-FFF2-40B4-BE49-F238E27FC236}">
                <a16:creationId xmlns:a16="http://schemas.microsoft.com/office/drawing/2014/main" id="{F7E83181-812C-074C-BFA9-B258F2C3236C}"/>
              </a:ext>
            </a:extLst>
          </p:cNvPr>
          <p:cNvSpPr>
            <a:spLocks noGrp="1" noChangeArrowheads="1"/>
          </p:cNvSpPr>
          <p:nvPr>
            <p:ph type="title"/>
          </p:nvPr>
        </p:nvSpPr>
        <p:spPr/>
        <p:txBody>
          <a:bodyPr/>
          <a:lstStyle/>
          <a:p>
            <a:pPr eaLnBrk="1" hangingPunct="1"/>
            <a:r>
              <a:rPr lang="en-US" altLang="en-US" dirty="0"/>
              <a:t>Effective Resistance</a:t>
            </a:r>
          </a:p>
        </p:txBody>
      </p:sp>
    </p:spTree>
    <p:extLst>
      <p:ext uri="{BB962C8B-B14F-4D97-AF65-F5344CB8AC3E}">
        <p14:creationId xmlns:p14="http://schemas.microsoft.com/office/powerpoint/2010/main" val="2460284221"/>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a:extLst>
              <a:ext uri="{FF2B5EF4-FFF2-40B4-BE49-F238E27FC236}">
                <a16:creationId xmlns:a16="http://schemas.microsoft.com/office/drawing/2014/main" id="{8EE89EAF-BABE-D546-8725-F902A662CEFA}"/>
              </a:ext>
            </a:extLst>
          </p:cNvPr>
          <p:cNvSpPr>
            <a:spLocks noGrp="1" noChangeArrowheads="1"/>
          </p:cNvSpPr>
          <p:nvPr>
            <p:ph idx="1"/>
          </p:nvPr>
        </p:nvSpPr>
        <p:spPr/>
        <p:txBody>
          <a:bodyPr/>
          <a:lstStyle/>
          <a:p>
            <a:pPr eaLnBrk="1" hangingPunct="1"/>
            <a:r>
              <a:rPr lang="en-US" altLang="en-US" dirty="0"/>
              <a:t>Use equivalent circuits for MOS transistors</a:t>
            </a:r>
          </a:p>
          <a:p>
            <a:pPr lvl="1" eaLnBrk="1" hangingPunct="1"/>
            <a:r>
              <a:rPr lang="en-US" altLang="en-US" dirty="0"/>
              <a:t>Ideal switch + capacitance and ON resistance</a:t>
            </a:r>
          </a:p>
          <a:p>
            <a:pPr lvl="1" eaLnBrk="1" hangingPunct="1"/>
            <a:r>
              <a:rPr lang="en-US" altLang="en-US" dirty="0"/>
              <a:t>Unit nMOS has resistance R, capacitance C</a:t>
            </a:r>
          </a:p>
          <a:p>
            <a:pPr lvl="1" eaLnBrk="1" hangingPunct="1"/>
            <a:r>
              <a:rPr lang="en-US" altLang="en-US" dirty="0"/>
              <a:t>Unit pMOS has resistance 2R, capacitance C</a:t>
            </a:r>
          </a:p>
          <a:p>
            <a:pPr eaLnBrk="1" hangingPunct="1"/>
            <a:r>
              <a:rPr lang="en-US" altLang="en-US" dirty="0"/>
              <a:t>Capacitance proportional to width</a:t>
            </a:r>
          </a:p>
          <a:p>
            <a:pPr eaLnBrk="1" hangingPunct="1"/>
            <a:r>
              <a:rPr lang="en-US" altLang="en-US" dirty="0"/>
              <a:t>Resistance inversely proportional to width</a:t>
            </a:r>
          </a:p>
        </p:txBody>
      </p:sp>
      <p:sp>
        <p:nvSpPr>
          <p:cNvPr id="66563" name="Rectangle 2">
            <a:extLst>
              <a:ext uri="{FF2B5EF4-FFF2-40B4-BE49-F238E27FC236}">
                <a16:creationId xmlns:a16="http://schemas.microsoft.com/office/drawing/2014/main" id="{C6A96F8C-1348-1F4D-B8CA-288972648591}"/>
              </a:ext>
            </a:extLst>
          </p:cNvPr>
          <p:cNvSpPr>
            <a:spLocks noGrp="1" noChangeArrowheads="1"/>
          </p:cNvSpPr>
          <p:nvPr>
            <p:ph type="title"/>
          </p:nvPr>
        </p:nvSpPr>
        <p:spPr/>
        <p:txBody>
          <a:bodyPr/>
          <a:lstStyle/>
          <a:p>
            <a:pPr eaLnBrk="1" hangingPunct="1"/>
            <a:r>
              <a:rPr lang="en-US" altLang="en-US" dirty="0"/>
              <a:t>RC Delay Model</a:t>
            </a:r>
          </a:p>
        </p:txBody>
      </p:sp>
      <p:pic>
        <p:nvPicPr>
          <p:cNvPr id="4" name="Picture 3" descr="A star in the middle of the night&#10;&#10;Description automatically generated">
            <a:extLst>
              <a:ext uri="{FF2B5EF4-FFF2-40B4-BE49-F238E27FC236}">
                <a16:creationId xmlns:a16="http://schemas.microsoft.com/office/drawing/2014/main" id="{86428F43-2299-4B95-9C5E-5B1DCE5F899B}"/>
              </a:ext>
            </a:extLst>
          </p:cNvPr>
          <p:cNvPicPr>
            <a:picLocks noChangeAspect="1"/>
          </p:cNvPicPr>
          <p:nvPr/>
        </p:nvPicPr>
        <p:blipFill>
          <a:blip r:embed="rId3"/>
          <a:stretch>
            <a:fillRect/>
          </a:stretch>
        </p:blipFill>
        <p:spPr>
          <a:xfrm>
            <a:off x="1897287" y="3533468"/>
            <a:ext cx="8573696" cy="2200582"/>
          </a:xfrm>
          <a:prstGeom prst="rect">
            <a:avLst/>
          </a:prstGeom>
        </p:spPr>
      </p:pic>
    </p:spTree>
    <p:extLst>
      <p:ext uri="{BB962C8B-B14F-4D97-AF65-F5344CB8AC3E}">
        <p14:creationId xmlns:p14="http://schemas.microsoft.com/office/powerpoint/2010/main" val="1922450654"/>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3">
            <a:extLst>
              <a:ext uri="{FF2B5EF4-FFF2-40B4-BE49-F238E27FC236}">
                <a16:creationId xmlns:a16="http://schemas.microsoft.com/office/drawing/2014/main" id="{8E328392-216F-1F43-878D-F3EA915192ED}"/>
              </a:ext>
            </a:extLst>
          </p:cNvPr>
          <p:cNvSpPr>
            <a:spLocks noGrp="1" noChangeArrowheads="1"/>
          </p:cNvSpPr>
          <p:nvPr>
            <p:ph idx="1"/>
          </p:nvPr>
        </p:nvSpPr>
        <p:spPr/>
        <p:txBody>
          <a:bodyPr/>
          <a:lstStyle/>
          <a:p>
            <a:pPr eaLnBrk="1" hangingPunct="1"/>
            <a:r>
              <a:rPr lang="en-US" altLang="en-US" dirty="0"/>
              <a:t>Capacitance</a:t>
            </a:r>
          </a:p>
          <a:p>
            <a:pPr lvl="1" eaLnBrk="1" hangingPunct="1"/>
            <a:r>
              <a:rPr lang="en-US" altLang="en-US" dirty="0"/>
              <a:t>C = C</a:t>
            </a:r>
            <a:r>
              <a:rPr lang="en-US" altLang="en-US" baseline="-25000" dirty="0"/>
              <a:t>g</a:t>
            </a:r>
            <a:r>
              <a:rPr lang="en-US" altLang="en-US" dirty="0"/>
              <a:t> = C</a:t>
            </a:r>
            <a:r>
              <a:rPr lang="en-US" altLang="en-US" baseline="-25000" dirty="0"/>
              <a:t>s</a:t>
            </a:r>
            <a:r>
              <a:rPr lang="en-US" altLang="en-US" dirty="0"/>
              <a:t> = C</a:t>
            </a:r>
            <a:r>
              <a:rPr lang="en-US" altLang="en-US" baseline="-25000" dirty="0"/>
              <a:t>d</a:t>
            </a:r>
            <a:r>
              <a:rPr lang="en-US" altLang="en-US" dirty="0"/>
              <a:t> = 2 </a:t>
            </a:r>
            <a:r>
              <a:rPr lang="en-US" altLang="en-US" dirty="0" err="1"/>
              <a:t>fF</a:t>
            </a:r>
            <a:r>
              <a:rPr lang="en-US" altLang="en-US" dirty="0"/>
              <a:t>/</a:t>
            </a:r>
            <a:r>
              <a:rPr lang="en-US" altLang="en-US" dirty="0">
                <a:latin typeface="Symbol" panose="05050102010706020507" pitchFamily="18" charset="2"/>
              </a:rPr>
              <a:t>m</a:t>
            </a:r>
            <a:r>
              <a:rPr lang="en-US" altLang="en-US" dirty="0"/>
              <a:t>m of gate width in 0.6 </a:t>
            </a:r>
            <a:r>
              <a:rPr lang="en-US" altLang="en-US" dirty="0">
                <a:latin typeface="Symbol" panose="05050102010706020507" pitchFamily="18" charset="2"/>
              </a:rPr>
              <a:t>m</a:t>
            </a:r>
            <a:r>
              <a:rPr lang="en-US" altLang="en-US" dirty="0"/>
              <a:t>m </a:t>
            </a:r>
          </a:p>
          <a:p>
            <a:pPr lvl="1" eaLnBrk="1" hangingPunct="1"/>
            <a:r>
              <a:rPr lang="en-US" altLang="en-US" dirty="0"/>
              <a:t>Gradually decline to 1 </a:t>
            </a:r>
            <a:r>
              <a:rPr lang="en-US" altLang="en-US" dirty="0" err="1"/>
              <a:t>fF</a:t>
            </a:r>
            <a:r>
              <a:rPr lang="en-US" altLang="en-US" dirty="0"/>
              <a:t>/</a:t>
            </a:r>
            <a:r>
              <a:rPr lang="en-US" altLang="en-US" dirty="0">
                <a:latin typeface="Symbol" panose="05050102010706020507" pitchFamily="18" charset="2"/>
              </a:rPr>
              <a:t>m</a:t>
            </a:r>
            <a:r>
              <a:rPr lang="en-US" altLang="en-US" dirty="0"/>
              <a:t>m in nanometer techs.</a:t>
            </a:r>
          </a:p>
          <a:p>
            <a:pPr eaLnBrk="1" hangingPunct="1"/>
            <a:r>
              <a:rPr lang="en-US" altLang="en-US" dirty="0"/>
              <a:t>Resistance</a:t>
            </a:r>
          </a:p>
          <a:p>
            <a:pPr lvl="1" eaLnBrk="1" hangingPunct="1"/>
            <a:r>
              <a:rPr lang="en-US" altLang="en-US" dirty="0"/>
              <a:t>R ≈ 6 </a:t>
            </a:r>
            <a:r>
              <a:rPr lang="en-US" altLang="en-US" dirty="0" err="1"/>
              <a:t>kΩ</a:t>
            </a:r>
            <a:r>
              <a:rPr lang="en-US" altLang="en-US" dirty="0"/>
              <a:t>*</a:t>
            </a:r>
            <a:r>
              <a:rPr lang="en-US" altLang="en-US" dirty="0">
                <a:latin typeface="Symbol" panose="05050102010706020507" pitchFamily="18" charset="2"/>
              </a:rPr>
              <a:t>m</a:t>
            </a:r>
            <a:r>
              <a:rPr lang="en-US" altLang="en-US" dirty="0"/>
              <a:t>m in 0.6 </a:t>
            </a:r>
            <a:r>
              <a:rPr lang="en-US" altLang="en-US" dirty="0">
                <a:latin typeface="Symbol" pitchFamily="2" charset="2"/>
              </a:rPr>
              <a:t>m</a:t>
            </a:r>
            <a:r>
              <a:rPr lang="en-US" altLang="en-US" dirty="0"/>
              <a:t>m process</a:t>
            </a:r>
          </a:p>
          <a:p>
            <a:pPr lvl="1" eaLnBrk="1" hangingPunct="1"/>
            <a:r>
              <a:rPr lang="en-US" altLang="en-US" dirty="0"/>
              <a:t>Reduces with shorter channel lengths</a:t>
            </a:r>
          </a:p>
          <a:p>
            <a:pPr eaLnBrk="1" hangingPunct="1"/>
            <a:r>
              <a:rPr lang="en-US" altLang="en-US" dirty="0"/>
              <a:t>Unit transistors</a:t>
            </a:r>
          </a:p>
          <a:p>
            <a:pPr lvl="1" eaLnBrk="1" hangingPunct="1"/>
            <a:r>
              <a:rPr lang="en-US" altLang="en-US" dirty="0"/>
              <a:t>May refer to minimum contacted device (4/2 </a:t>
            </a:r>
            <a:r>
              <a:rPr lang="en-US" altLang="en-US" dirty="0">
                <a:latin typeface="Symbol" pitchFamily="2" charset="2"/>
              </a:rPr>
              <a:t>l</a:t>
            </a:r>
            <a:r>
              <a:rPr lang="en-US" altLang="en-US" dirty="0"/>
              <a:t>)</a:t>
            </a:r>
          </a:p>
          <a:p>
            <a:pPr lvl="1" eaLnBrk="1" hangingPunct="1"/>
            <a:r>
              <a:rPr lang="en-US" altLang="en-US" dirty="0"/>
              <a:t>Or maybe 1 </a:t>
            </a:r>
            <a:r>
              <a:rPr lang="en-US" altLang="en-US" dirty="0">
                <a:latin typeface="Symbol" pitchFamily="2" charset="2"/>
              </a:rPr>
              <a:t>m</a:t>
            </a:r>
            <a:r>
              <a:rPr lang="en-US" altLang="en-US" dirty="0"/>
              <a:t>m wide device</a:t>
            </a:r>
          </a:p>
          <a:p>
            <a:pPr lvl="1" eaLnBrk="1" hangingPunct="1"/>
            <a:r>
              <a:rPr lang="en-US" altLang="en-US" dirty="0"/>
              <a:t>Doesn’</a:t>
            </a:r>
            <a:r>
              <a:rPr lang="en-US" altLang="ja-JP" dirty="0"/>
              <a:t>t matter as long as you are consistent</a:t>
            </a:r>
            <a:endParaRPr lang="en-US" altLang="en-US" dirty="0"/>
          </a:p>
        </p:txBody>
      </p:sp>
      <p:sp>
        <p:nvSpPr>
          <p:cNvPr id="68611" name="Rectangle 2">
            <a:extLst>
              <a:ext uri="{FF2B5EF4-FFF2-40B4-BE49-F238E27FC236}">
                <a16:creationId xmlns:a16="http://schemas.microsoft.com/office/drawing/2014/main" id="{57AF0FED-E97E-8A46-BFE8-9A0F88204CB0}"/>
              </a:ext>
            </a:extLst>
          </p:cNvPr>
          <p:cNvSpPr>
            <a:spLocks noGrp="1" noChangeArrowheads="1"/>
          </p:cNvSpPr>
          <p:nvPr>
            <p:ph type="title"/>
          </p:nvPr>
        </p:nvSpPr>
        <p:spPr/>
        <p:txBody>
          <a:bodyPr/>
          <a:lstStyle/>
          <a:p>
            <a:pPr eaLnBrk="1" hangingPunct="1"/>
            <a:r>
              <a:rPr lang="en-US" altLang="en-US" dirty="0"/>
              <a:t>RC Values</a:t>
            </a:r>
          </a:p>
        </p:txBody>
      </p:sp>
    </p:spTree>
    <p:extLst>
      <p:ext uri="{BB962C8B-B14F-4D97-AF65-F5344CB8AC3E}">
        <p14:creationId xmlns:p14="http://schemas.microsoft.com/office/powerpoint/2010/main" val="4193900926"/>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3">
            <a:extLst>
              <a:ext uri="{FF2B5EF4-FFF2-40B4-BE49-F238E27FC236}">
                <a16:creationId xmlns:a16="http://schemas.microsoft.com/office/drawing/2014/main" id="{D605A709-4EE8-A345-BA23-36DF7EACEFC8}"/>
              </a:ext>
            </a:extLst>
          </p:cNvPr>
          <p:cNvSpPr>
            <a:spLocks noGrp="1" noChangeArrowheads="1"/>
          </p:cNvSpPr>
          <p:nvPr>
            <p:ph idx="1"/>
          </p:nvPr>
        </p:nvSpPr>
        <p:spPr/>
        <p:txBody>
          <a:bodyPr/>
          <a:lstStyle/>
          <a:p>
            <a:pPr eaLnBrk="1" hangingPunct="1"/>
            <a:r>
              <a:rPr lang="en-US" altLang="en-US" dirty="0"/>
              <a:t>Estimate the delay of a fanout-of-1 inverter</a:t>
            </a:r>
          </a:p>
        </p:txBody>
      </p:sp>
      <p:sp>
        <p:nvSpPr>
          <p:cNvPr id="70659" name="Rectangle 2">
            <a:extLst>
              <a:ext uri="{FF2B5EF4-FFF2-40B4-BE49-F238E27FC236}">
                <a16:creationId xmlns:a16="http://schemas.microsoft.com/office/drawing/2014/main" id="{DBD0B1E5-3ADE-6345-902B-9CFF5A82C434}"/>
              </a:ext>
            </a:extLst>
          </p:cNvPr>
          <p:cNvSpPr>
            <a:spLocks noGrp="1" noChangeArrowheads="1"/>
          </p:cNvSpPr>
          <p:nvPr>
            <p:ph type="title"/>
          </p:nvPr>
        </p:nvSpPr>
        <p:spPr/>
        <p:txBody>
          <a:bodyPr/>
          <a:lstStyle/>
          <a:p>
            <a:pPr eaLnBrk="1" hangingPunct="1"/>
            <a:r>
              <a:rPr lang="en-US" altLang="en-US" dirty="0"/>
              <a:t>Inverter Delay Estimate</a:t>
            </a:r>
          </a:p>
        </p:txBody>
      </p:sp>
      <p:pic>
        <p:nvPicPr>
          <p:cNvPr id="4" name="Picture 3">
            <a:extLst>
              <a:ext uri="{FF2B5EF4-FFF2-40B4-BE49-F238E27FC236}">
                <a16:creationId xmlns:a16="http://schemas.microsoft.com/office/drawing/2014/main" id="{66CF0C0C-FF2B-4BEE-A13A-DCE743352860}"/>
              </a:ext>
            </a:extLst>
          </p:cNvPr>
          <p:cNvPicPr>
            <a:picLocks noChangeAspect="1"/>
          </p:cNvPicPr>
          <p:nvPr/>
        </p:nvPicPr>
        <p:blipFill>
          <a:blip r:embed="rId3"/>
          <a:stretch>
            <a:fillRect/>
          </a:stretch>
        </p:blipFill>
        <p:spPr>
          <a:xfrm>
            <a:off x="1493876" y="2106344"/>
            <a:ext cx="8829675" cy="3438525"/>
          </a:xfrm>
          <a:prstGeom prst="rect">
            <a:avLst/>
          </a:prstGeom>
        </p:spPr>
      </p:pic>
      <p:sp>
        <p:nvSpPr>
          <p:cNvPr id="7" name="Rectangle 6">
            <a:extLst>
              <a:ext uri="{FF2B5EF4-FFF2-40B4-BE49-F238E27FC236}">
                <a16:creationId xmlns:a16="http://schemas.microsoft.com/office/drawing/2014/main" id="{20FFEE1D-80C8-442F-979F-698A815C9C0D}"/>
              </a:ext>
            </a:extLst>
          </p:cNvPr>
          <p:cNvSpPr>
            <a:spLocks noChangeArrowheads="1"/>
          </p:cNvSpPr>
          <p:nvPr/>
        </p:nvSpPr>
        <p:spPr bwMode="auto">
          <a:xfrm>
            <a:off x="6862044" y="2553360"/>
            <a:ext cx="3251439" cy="2057400"/>
          </a:xfrm>
          <a:prstGeom prst="rect">
            <a:avLst/>
          </a:prstGeom>
          <a:solidFill>
            <a:schemeClr val="bg1"/>
          </a:solidFill>
          <a:ln w="9525">
            <a:solidFill>
              <a:schemeClr val="bg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8" name="Rectangle 7">
            <a:extLst>
              <a:ext uri="{FF2B5EF4-FFF2-40B4-BE49-F238E27FC236}">
                <a16:creationId xmlns:a16="http://schemas.microsoft.com/office/drawing/2014/main" id="{2D79FBD1-ACC2-475F-B9A3-E37BCB4E832F}"/>
              </a:ext>
            </a:extLst>
          </p:cNvPr>
          <p:cNvSpPr>
            <a:spLocks noChangeArrowheads="1"/>
          </p:cNvSpPr>
          <p:nvPr/>
        </p:nvSpPr>
        <p:spPr bwMode="auto">
          <a:xfrm>
            <a:off x="3400540" y="1963469"/>
            <a:ext cx="3461504" cy="3581400"/>
          </a:xfrm>
          <a:prstGeom prst="rect">
            <a:avLst/>
          </a:prstGeom>
          <a:solidFill>
            <a:schemeClr val="bg1"/>
          </a:solidFill>
          <a:ln w="9525">
            <a:solidFill>
              <a:schemeClr val="bg1"/>
            </a:solidFill>
            <a:miter lim="800000"/>
            <a:headEnd/>
            <a:tailEnd/>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Tree>
    <p:extLst>
      <p:ext uri="{BB962C8B-B14F-4D97-AF65-F5344CB8AC3E}">
        <p14:creationId xmlns:p14="http://schemas.microsoft.com/office/powerpoint/2010/main" val="4257382229"/>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6D6F78-FC5D-9085-F0E6-376CC6D1252B}"/>
              </a:ext>
            </a:extLst>
          </p:cNvPr>
          <p:cNvSpPr>
            <a:spLocks noGrp="1"/>
          </p:cNvSpPr>
          <p:nvPr>
            <p:ph idx="1"/>
          </p:nvPr>
        </p:nvSpPr>
        <p:spPr/>
        <p:txBody>
          <a:bodyPr/>
          <a:lstStyle/>
          <a:p>
            <a:endParaRPr lang="en-US"/>
          </a:p>
        </p:txBody>
      </p:sp>
      <p:sp>
        <p:nvSpPr>
          <p:cNvPr id="72707" name="Rectangle 2">
            <a:extLst>
              <a:ext uri="{FF2B5EF4-FFF2-40B4-BE49-F238E27FC236}">
                <a16:creationId xmlns:a16="http://schemas.microsoft.com/office/drawing/2014/main" id="{C5C1824C-91AA-8F46-97C6-7362F25B0EF2}"/>
              </a:ext>
            </a:extLst>
          </p:cNvPr>
          <p:cNvSpPr>
            <a:spLocks noGrp="1" noChangeArrowheads="1"/>
          </p:cNvSpPr>
          <p:nvPr>
            <p:ph type="title"/>
          </p:nvPr>
        </p:nvSpPr>
        <p:spPr/>
        <p:txBody>
          <a:bodyPr/>
          <a:lstStyle/>
          <a:p>
            <a:pPr eaLnBrk="1" hangingPunct="1"/>
            <a:r>
              <a:rPr lang="en-US" altLang="en-US" sz="4000" dirty="0"/>
              <a:t>Delay Model Comparison</a:t>
            </a:r>
          </a:p>
        </p:txBody>
      </p:sp>
      <p:pic>
        <p:nvPicPr>
          <p:cNvPr id="72708" name="Picture 6" descr="0404-invdelay">
            <a:extLst>
              <a:ext uri="{FF2B5EF4-FFF2-40B4-BE49-F238E27FC236}">
                <a16:creationId xmlns:a16="http://schemas.microsoft.com/office/drawing/2014/main" id="{C6B740DF-9822-C840-BB87-2F795E12C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676400"/>
            <a:ext cx="4419600" cy="412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4391857"/>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3">
            <a:extLst>
              <a:ext uri="{FF2B5EF4-FFF2-40B4-BE49-F238E27FC236}">
                <a16:creationId xmlns:a16="http://schemas.microsoft.com/office/drawing/2014/main" id="{8A326563-0D09-7C44-91D5-E5157D05B247}"/>
              </a:ext>
            </a:extLst>
          </p:cNvPr>
          <p:cNvSpPr>
            <a:spLocks noGrp="1" noChangeArrowheads="1"/>
          </p:cNvSpPr>
          <p:nvPr>
            <p:ph idx="1"/>
          </p:nvPr>
        </p:nvSpPr>
        <p:spPr/>
        <p:txBody>
          <a:bodyPr/>
          <a:lstStyle/>
          <a:p>
            <a:pPr eaLnBrk="1" hangingPunct="1"/>
            <a:r>
              <a:rPr lang="en-US" altLang="en-US" sz="2000" dirty="0"/>
              <a:t>Sketch a 3-input NAND with transistor widths chosen to achieve effective rise and fall resistances equal to a unit inverter (R).</a:t>
            </a:r>
          </a:p>
        </p:txBody>
      </p:sp>
      <p:sp>
        <p:nvSpPr>
          <p:cNvPr id="74755" name="Rectangle 2">
            <a:extLst>
              <a:ext uri="{FF2B5EF4-FFF2-40B4-BE49-F238E27FC236}">
                <a16:creationId xmlns:a16="http://schemas.microsoft.com/office/drawing/2014/main" id="{BD7FB612-AEA4-E745-AB76-F1971A2B67E6}"/>
              </a:ext>
            </a:extLst>
          </p:cNvPr>
          <p:cNvSpPr>
            <a:spLocks noGrp="1" noChangeArrowheads="1"/>
          </p:cNvSpPr>
          <p:nvPr>
            <p:ph type="title"/>
          </p:nvPr>
        </p:nvSpPr>
        <p:spPr/>
        <p:txBody>
          <a:bodyPr/>
          <a:lstStyle/>
          <a:p>
            <a:pPr eaLnBrk="1" hangingPunct="1"/>
            <a:r>
              <a:rPr lang="en-US" altLang="en-US" dirty="0"/>
              <a:t>Example: 3-input NAND</a:t>
            </a:r>
          </a:p>
        </p:txBody>
      </p:sp>
      <p:pic>
        <p:nvPicPr>
          <p:cNvPr id="3" name="Picture 2" descr="A star in the background&#10;&#10;Description automatically generated">
            <a:extLst>
              <a:ext uri="{FF2B5EF4-FFF2-40B4-BE49-F238E27FC236}">
                <a16:creationId xmlns:a16="http://schemas.microsoft.com/office/drawing/2014/main" id="{3521115C-8F83-47F2-97EE-727840B95576}"/>
              </a:ext>
            </a:extLst>
          </p:cNvPr>
          <p:cNvPicPr>
            <a:picLocks noChangeAspect="1"/>
          </p:cNvPicPr>
          <p:nvPr/>
        </p:nvPicPr>
        <p:blipFill>
          <a:blip r:embed="rId3"/>
          <a:stretch>
            <a:fillRect/>
          </a:stretch>
        </p:blipFill>
        <p:spPr>
          <a:xfrm>
            <a:off x="4410419" y="2895600"/>
            <a:ext cx="4239148" cy="3429000"/>
          </a:xfrm>
          <a:prstGeom prst="rect">
            <a:avLst/>
          </a:prstGeom>
        </p:spPr>
      </p:pic>
    </p:spTree>
    <p:extLst>
      <p:ext uri="{BB962C8B-B14F-4D97-AF65-F5344CB8AC3E}">
        <p14:creationId xmlns:p14="http://schemas.microsoft.com/office/powerpoint/2010/main" val="1413552468"/>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7" name="Rectangle 3">
            <a:extLst>
              <a:ext uri="{FF2B5EF4-FFF2-40B4-BE49-F238E27FC236}">
                <a16:creationId xmlns:a16="http://schemas.microsoft.com/office/drawing/2014/main" id="{987384E5-8FFD-0546-996A-45C485E0E208}"/>
              </a:ext>
            </a:extLst>
          </p:cNvPr>
          <p:cNvSpPr>
            <a:spLocks noGrp="1" noChangeArrowheads="1"/>
          </p:cNvSpPr>
          <p:nvPr>
            <p:ph idx="1"/>
          </p:nvPr>
        </p:nvSpPr>
        <p:spPr/>
        <p:txBody>
          <a:bodyPr/>
          <a:lstStyle/>
          <a:p>
            <a:pPr eaLnBrk="1" hangingPunct="1"/>
            <a:r>
              <a:rPr lang="en-US" altLang="en-US" sz="2000" dirty="0"/>
              <a:t>Annotate the 3-input NAND gate with gate and diffusion capacitance.</a:t>
            </a:r>
          </a:p>
        </p:txBody>
      </p:sp>
      <p:sp>
        <p:nvSpPr>
          <p:cNvPr id="76806" name="Rectangle 2">
            <a:extLst>
              <a:ext uri="{FF2B5EF4-FFF2-40B4-BE49-F238E27FC236}">
                <a16:creationId xmlns:a16="http://schemas.microsoft.com/office/drawing/2014/main" id="{BECEC381-AD2D-4840-AC1B-6F3276147ABE}"/>
              </a:ext>
            </a:extLst>
          </p:cNvPr>
          <p:cNvSpPr>
            <a:spLocks noGrp="1" noChangeArrowheads="1"/>
          </p:cNvSpPr>
          <p:nvPr>
            <p:ph type="title"/>
          </p:nvPr>
        </p:nvSpPr>
        <p:spPr/>
        <p:txBody>
          <a:bodyPr/>
          <a:lstStyle/>
          <a:p>
            <a:pPr eaLnBrk="1" hangingPunct="1"/>
            <a:r>
              <a:rPr lang="en-US" altLang="en-US" dirty="0"/>
              <a:t>3-input NAND Caps</a:t>
            </a:r>
          </a:p>
        </p:txBody>
      </p:sp>
      <p:pic>
        <p:nvPicPr>
          <p:cNvPr id="3" name="Picture 2" descr="A picture containing object, star, fireworks, computer&#10;&#10;Description automatically generated">
            <a:extLst>
              <a:ext uri="{FF2B5EF4-FFF2-40B4-BE49-F238E27FC236}">
                <a16:creationId xmlns:a16="http://schemas.microsoft.com/office/drawing/2014/main" id="{44ABEEDF-B773-4A66-BD8D-C596CA4AB4B9}"/>
              </a:ext>
            </a:extLst>
          </p:cNvPr>
          <p:cNvPicPr>
            <a:picLocks noChangeAspect="1"/>
          </p:cNvPicPr>
          <p:nvPr/>
        </p:nvPicPr>
        <p:blipFill>
          <a:blip r:embed="rId3"/>
          <a:stretch>
            <a:fillRect/>
          </a:stretch>
        </p:blipFill>
        <p:spPr>
          <a:xfrm>
            <a:off x="4362678" y="2643546"/>
            <a:ext cx="4455773" cy="3282419"/>
          </a:xfrm>
          <a:prstGeom prst="rect">
            <a:avLst/>
          </a:prstGeom>
        </p:spPr>
      </p:pic>
    </p:spTree>
    <p:extLst>
      <p:ext uri="{BB962C8B-B14F-4D97-AF65-F5344CB8AC3E}">
        <p14:creationId xmlns:p14="http://schemas.microsoft.com/office/powerpoint/2010/main" val="3420592067"/>
      </p:ext>
    </p:extLst>
  </p:cSld>
  <p:clrMapOvr>
    <a:masterClrMapping/>
  </p:clrMapOvr>
  <p:transition>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3">
            <a:extLst>
              <a:ext uri="{FF2B5EF4-FFF2-40B4-BE49-F238E27FC236}">
                <a16:creationId xmlns:a16="http://schemas.microsoft.com/office/drawing/2014/main" id="{540A9BF4-C5E9-4546-BA47-1B9F1B8BB75F}"/>
              </a:ext>
            </a:extLst>
          </p:cNvPr>
          <p:cNvSpPr>
            <a:spLocks noGrp="1" noChangeArrowheads="1"/>
          </p:cNvSpPr>
          <p:nvPr>
            <p:ph idx="1"/>
          </p:nvPr>
        </p:nvSpPr>
        <p:spPr/>
        <p:txBody>
          <a:bodyPr/>
          <a:lstStyle/>
          <a:p>
            <a:pPr eaLnBrk="1" hangingPunct="1"/>
            <a:r>
              <a:rPr lang="en-US" altLang="en-US" dirty="0"/>
              <a:t>ON transistors look like resistors</a:t>
            </a:r>
          </a:p>
          <a:p>
            <a:pPr eaLnBrk="1" hangingPunct="1"/>
            <a:r>
              <a:rPr lang="en-US" altLang="en-US" dirty="0"/>
              <a:t>Pullup or pulldown network modeled as </a:t>
            </a:r>
            <a:r>
              <a:rPr lang="en-US" altLang="en-US" i="1" dirty="0"/>
              <a:t>RC ladder</a:t>
            </a:r>
          </a:p>
          <a:p>
            <a:pPr eaLnBrk="1" hangingPunct="1"/>
            <a:r>
              <a:rPr lang="en-US" altLang="en-US" dirty="0"/>
              <a:t>Elmore delay of RC ladder</a:t>
            </a:r>
          </a:p>
        </p:txBody>
      </p:sp>
      <p:sp>
        <p:nvSpPr>
          <p:cNvPr id="78851" name="Rectangle 2">
            <a:extLst>
              <a:ext uri="{FF2B5EF4-FFF2-40B4-BE49-F238E27FC236}">
                <a16:creationId xmlns:a16="http://schemas.microsoft.com/office/drawing/2014/main" id="{C0915E65-D134-1142-9D81-925428165D57}"/>
              </a:ext>
            </a:extLst>
          </p:cNvPr>
          <p:cNvSpPr>
            <a:spLocks noGrp="1" noChangeArrowheads="1"/>
          </p:cNvSpPr>
          <p:nvPr>
            <p:ph type="title"/>
          </p:nvPr>
        </p:nvSpPr>
        <p:spPr/>
        <p:txBody>
          <a:bodyPr/>
          <a:lstStyle/>
          <a:p>
            <a:pPr eaLnBrk="1" hangingPunct="1"/>
            <a:r>
              <a:rPr lang="en-US" altLang="en-US" dirty="0"/>
              <a:t>Elmore Delay</a:t>
            </a:r>
          </a:p>
        </p:txBody>
      </p:sp>
      <p:graphicFrame>
        <p:nvGraphicFramePr>
          <p:cNvPr id="78853" name="Object 4">
            <a:extLst>
              <a:ext uri="{FF2B5EF4-FFF2-40B4-BE49-F238E27FC236}">
                <a16:creationId xmlns:a16="http://schemas.microsoft.com/office/drawing/2014/main" id="{DF489C42-1A84-ED4C-8F50-AB2AA70AD52B}"/>
              </a:ext>
            </a:extLst>
          </p:cNvPr>
          <p:cNvGraphicFramePr>
            <a:graphicFrameLocks noChangeAspect="1"/>
          </p:cNvGraphicFramePr>
          <p:nvPr/>
        </p:nvGraphicFramePr>
        <p:xfrm>
          <a:off x="3276600" y="3984626"/>
          <a:ext cx="6019800" cy="2111375"/>
        </p:xfrm>
        <a:graphic>
          <a:graphicData uri="http://schemas.openxmlformats.org/presentationml/2006/ole">
            <mc:AlternateContent xmlns:mc="http://schemas.openxmlformats.org/markup-compatibility/2006">
              <mc:Choice xmlns:v="urn:schemas-microsoft-com:vml" Requires="v">
                <p:oleObj name="VISIO" r:id="rId3" imgW="12712700" imgH="4457700" progId="Visio.Drawing.6">
                  <p:embed/>
                </p:oleObj>
              </mc:Choice>
              <mc:Fallback>
                <p:oleObj name="VISIO" r:id="rId3" imgW="12712700" imgH="4457700" progId="Visio.Drawing.6">
                  <p:embed/>
                  <p:pic>
                    <p:nvPicPr>
                      <p:cNvPr id="78853" name="Object 4">
                        <a:extLst>
                          <a:ext uri="{FF2B5EF4-FFF2-40B4-BE49-F238E27FC236}">
                            <a16:creationId xmlns:a16="http://schemas.microsoft.com/office/drawing/2014/main" id="{DF489C42-1A84-ED4C-8F50-AB2AA70AD5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984626"/>
                        <a:ext cx="6019800" cy="211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8854" name="Rectangle 5">
            <a:extLst>
              <a:ext uri="{FF2B5EF4-FFF2-40B4-BE49-F238E27FC236}">
                <a16:creationId xmlns:a16="http://schemas.microsoft.com/office/drawing/2014/main" id="{964C3A4D-1D3D-0D4F-A4B1-9944478BF5F0}"/>
              </a:ext>
            </a:extLst>
          </p:cNvPr>
          <p:cNvSpPr>
            <a:spLocks noChangeArrowheads="1"/>
          </p:cNvSpPr>
          <p:nvPr/>
        </p:nvSpPr>
        <p:spPr bwMode="auto">
          <a:xfrm>
            <a:off x="5688013" y="325755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graphicFrame>
        <p:nvGraphicFramePr>
          <p:cNvPr id="78855" name="Object 6">
            <a:extLst>
              <a:ext uri="{FF2B5EF4-FFF2-40B4-BE49-F238E27FC236}">
                <a16:creationId xmlns:a16="http://schemas.microsoft.com/office/drawing/2014/main" id="{B2D6F15C-A8FE-7C40-8DD3-2C80D39CE4FB}"/>
              </a:ext>
            </a:extLst>
          </p:cNvPr>
          <p:cNvGraphicFramePr>
            <a:graphicFrameLocks noChangeAspect="1"/>
          </p:cNvGraphicFramePr>
          <p:nvPr/>
        </p:nvGraphicFramePr>
        <p:xfrm>
          <a:off x="2209801" y="2743200"/>
          <a:ext cx="7794625" cy="1479550"/>
        </p:xfrm>
        <a:graphic>
          <a:graphicData uri="http://schemas.openxmlformats.org/presentationml/2006/ole">
            <mc:AlternateContent xmlns:mc="http://schemas.openxmlformats.org/markup-compatibility/2006">
              <mc:Choice xmlns:v="urn:schemas-microsoft-com:vml" Requires="v">
                <p:oleObj name="Equation" r:id="rId5" imgW="73723500" imgH="14046200" progId="Equation.DSMT4">
                  <p:embed/>
                </p:oleObj>
              </mc:Choice>
              <mc:Fallback>
                <p:oleObj name="Equation" r:id="rId5" imgW="73723500" imgH="14046200" progId="Equation.DSMT4">
                  <p:embed/>
                  <p:pic>
                    <p:nvPicPr>
                      <p:cNvPr id="78855" name="Object 6">
                        <a:extLst>
                          <a:ext uri="{FF2B5EF4-FFF2-40B4-BE49-F238E27FC236}">
                            <a16:creationId xmlns:a16="http://schemas.microsoft.com/office/drawing/2014/main" id="{B2D6F15C-A8FE-7C40-8DD3-2C80D39CE4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1" y="2743200"/>
                        <a:ext cx="7794625"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804827105"/>
      </p:ext>
    </p:extLst>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7978" name="Picture 10">
            <a:extLst>
              <a:ext uri="{FF2B5EF4-FFF2-40B4-BE49-F238E27FC236}">
                <a16:creationId xmlns:a16="http://schemas.microsoft.com/office/drawing/2014/main" id="{6AA2CB88-CBE4-7E49-8C2A-F22197489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4578" y="3886200"/>
            <a:ext cx="14097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67979" name="Object 11">
            <a:extLst>
              <a:ext uri="{FF2B5EF4-FFF2-40B4-BE49-F238E27FC236}">
                <a16:creationId xmlns:a16="http://schemas.microsoft.com/office/drawing/2014/main" id="{1F92AC7F-4996-924C-A5C5-E17FD6B850F1}"/>
              </a:ext>
            </a:extLst>
          </p:cNvPr>
          <p:cNvGraphicFramePr>
            <a:graphicFrameLocks noGrp="1" noChangeAspect="1"/>
          </p:cNvGraphicFramePr>
          <p:nvPr>
            <p:ph idx="1"/>
          </p:nvPr>
        </p:nvGraphicFramePr>
        <p:xfrm>
          <a:off x="7115175" y="4914900"/>
          <a:ext cx="3810000" cy="606425"/>
        </p:xfrm>
        <a:graphic>
          <a:graphicData uri="http://schemas.openxmlformats.org/presentationml/2006/ole">
            <mc:AlternateContent xmlns:mc="http://schemas.openxmlformats.org/markup-compatibility/2006">
              <mc:Choice xmlns:v="urn:schemas-microsoft-com:vml" Requires="v">
                <p:oleObj name="Equation" r:id="rId4" imgW="64363600" imgH="10236200" progId="Equation.DSMT4">
                  <p:embed/>
                </p:oleObj>
              </mc:Choice>
              <mc:Fallback>
                <p:oleObj name="Equation" r:id="rId4" imgW="64363600" imgH="10236200" progId="Equation.DSMT4">
                  <p:embed/>
                  <p:pic>
                    <p:nvPicPr>
                      <p:cNvPr id="467979" name="Object 11">
                        <a:extLst>
                          <a:ext uri="{FF2B5EF4-FFF2-40B4-BE49-F238E27FC236}">
                            <a16:creationId xmlns:a16="http://schemas.microsoft.com/office/drawing/2014/main" id="{1F92AC7F-4996-924C-A5C5-E17FD6B850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5175" y="4914900"/>
                        <a:ext cx="3810000"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0900" name="Rectangle 2">
            <a:extLst>
              <a:ext uri="{FF2B5EF4-FFF2-40B4-BE49-F238E27FC236}">
                <a16:creationId xmlns:a16="http://schemas.microsoft.com/office/drawing/2014/main" id="{448B2478-191C-2244-B4AB-EAD19361A5A7}"/>
              </a:ext>
            </a:extLst>
          </p:cNvPr>
          <p:cNvSpPr>
            <a:spLocks noGrp="1" noChangeArrowheads="1"/>
          </p:cNvSpPr>
          <p:nvPr>
            <p:ph type="title"/>
          </p:nvPr>
        </p:nvSpPr>
        <p:spPr/>
        <p:txBody>
          <a:bodyPr/>
          <a:lstStyle/>
          <a:p>
            <a:pPr eaLnBrk="1" hangingPunct="1"/>
            <a:r>
              <a:rPr lang="en-US" altLang="en-US" dirty="0"/>
              <a:t>Example: 3-input NAND</a:t>
            </a:r>
          </a:p>
        </p:txBody>
      </p:sp>
      <p:sp>
        <p:nvSpPr>
          <p:cNvPr id="80901" name="Rectangle 3">
            <a:extLst>
              <a:ext uri="{FF2B5EF4-FFF2-40B4-BE49-F238E27FC236}">
                <a16:creationId xmlns:a16="http://schemas.microsoft.com/office/drawing/2014/main" id="{36FFE76F-12EF-6B43-BF5E-7ED7758654FE}"/>
              </a:ext>
            </a:extLst>
          </p:cNvPr>
          <p:cNvSpPr>
            <a:spLocks noGrp="1" noChangeArrowheads="1"/>
          </p:cNvSpPr>
          <p:nvPr>
            <p:ph type="body" sz="half" idx="4294967295"/>
          </p:nvPr>
        </p:nvSpPr>
        <p:spPr>
          <a:xfrm>
            <a:off x="4267200" y="1524000"/>
            <a:ext cx="7924800" cy="4572000"/>
          </a:xfrm>
        </p:spPr>
        <p:txBody>
          <a:bodyPr/>
          <a:lstStyle/>
          <a:p>
            <a:pPr eaLnBrk="1" hangingPunct="1"/>
            <a:r>
              <a:rPr lang="en-US" altLang="en-US" sz="2000" dirty="0"/>
              <a:t>Estimate worst-case rising and falling delay of 3-input NAND driving </a:t>
            </a:r>
            <a:r>
              <a:rPr lang="en-US" altLang="en-US" sz="2000" i="1" dirty="0"/>
              <a:t>h</a:t>
            </a:r>
            <a:r>
              <a:rPr lang="en-US" altLang="en-US" sz="2000" dirty="0"/>
              <a:t> identical gates.</a:t>
            </a:r>
          </a:p>
        </p:txBody>
      </p:sp>
      <p:graphicFrame>
        <p:nvGraphicFramePr>
          <p:cNvPr id="467976" name="Object 8">
            <a:extLst>
              <a:ext uri="{FF2B5EF4-FFF2-40B4-BE49-F238E27FC236}">
                <a16:creationId xmlns:a16="http://schemas.microsoft.com/office/drawing/2014/main" id="{E756C252-525C-1549-A4C2-9D4950D75A3A}"/>
              </a:ext>
            </a:extLst>
          </p:cNvPr>
          <p:cNvGraphicFramePr>
            <a:graphicFrameLocks noChangeAspect="1"/>
          </p:cNvGraphicFramePr>
          <p:nvPr/>
        </p:nvGraphicFramePr>
        <p:xfrm>
          <a:off x="3932810" y="5076030"/>
          <a:ext cx="1219200" cy="284163"/>
        </p:xfrm>
        <a:graphic>
          <a:graphicData uri="http://schemas.openxmlformats.org/presentationml/2006/ole">
            <mc:AlternateContent xmlns:mc="http://schemas.openxmlformats.org/markup-compatibility/2006">
              <mc:Choice xmlns:v="urn:schemas-microsoft-com:vml" Requires="v">
                <p:oleObj name="Equation" r:id="rId6" imgW="21361400" imgH="4978400" progId="Equation.DSMT4">
                  <p:embed/>
                </p:oleObj>
              </mc:Choice>
              <mc:Fallback>
                <p:oleObj name="Equation" r:id="rId6" imgW="21361400" imgH="4978400" progId="Equation.DSMT4">
                  <p:embed/>
                  <p:pic>
                    <p:nvPicPr>
                      <p:cNvPr id="467976" name="Object 8">
                        <a:extLst>
                          <a:ext uri="{FF2B5EF4-FFF2-40B4-BE49-F238E27FC236}">
                            <a16:creationId xmlns:a16="http://schemas.microsoft.com/office/drawing/2014/main" id="{E756C252-525C-1549-A4C2-9D4950D75A3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2810" y="5076030"/>
                        <a:ext cx="12192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467977" name="Picture 9">
            <a:extLst>
              <a:ext uri="{FF2B5EF4-FFF2-40B4-BE49-F238E27FC236}">
                <a16:creationId xmlns:a16="http://schemas.microsoft.com/office/drawing/2014/main" id="{7F639BD0-FE8A-D448-B865-6EBB14F6AA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41937" y="3810000"/>
            <a:ext cx="16605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A close up of a logo&#10;&#10;Description automatically generated">
            <a:extLst>
              <a:ext uri="{FF2B5EF4-FFF2-40B4-BE49-F238E27FC236}">
                <a16:creationId xmlns:a16="http://schemas.microsoft.com/office/drawing/2014/main" id="{6B4A39F2-FF93-4653-8732-B3C70FC3A3F1}"/>
              </a:ext>
            </a:extLst>
          </p:cNvPr>
          <p:cNvPicPr>
            <a:picLocks noChangeAspect="1"/>
          </p:cNvPicPr>
          <p:nvPr/>
        </p:nvPicPr>
        <p:blipFill>
          <a:blip r:embed="rId9"/>
          <a:stretch>
            <a:fillRect/>
          </a:stretch>
        </p:blipFill>
        <p:spPr>
          <a:xfrm>
            <a:off x="2442738" y="2103350"/>
            <a:ext cx="8573696" cy="2314898"/>
          </a:xfrm>
          <a:prstGeom prst="rect">
            <a:avLst/>
          </a:prstGeom>
        </p:spPr>
      </p:pic>
    </p:spTree>
    <p:extLst>
      <p:ext uri="{BB962C8B-B14F-4D97-AF65-F5344CB8AC3E}">
        <p14:creationId xmlns:p14="http://schemas.microsoft.com/office/powerpoint/2010/main" val="2510644304"/>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467978"/>
                                        </p:tgtEl>
                                        <p:attrNameLst>
                                          <p:attrName>style.visibility</p:attrName>
                                        </p:attrNameLst>
                                      </p:cBhvr>
                                      <p:to>
                                        <p:strVal val="visible"/>
                                      </p:to>
                                    </p:set>
                                    <p:animEffect transition="in" filter="fade">
                                      <p:cBhvr>
                                        <p:cTn id="7" dur="1000"/>
                                        <p:tgtEl>
                                          <p:spTgt spid="467978"/>
                                        </p:tgtEl>
                                      </p:cBhvr>
                                    </p:animEffect>
                                    <p:anim calcmode="lin" valueType="num">
                                      <p:cBhvr>
                                        <p:cTn id="8" dur="1000" fill="hold"/>
                                        <p:tgtEl>
                                          <p:spTgt spid="467978"/>
                                        </p:tgtEl>
                                        <p:attrNameLst>
                                          <p:attrName>style.rotation</p:attrName>
                                        </p:attrNameLst>
                                      </p:cBhvr>
                                      <p:tavLst>
                                        <p:tav tm="0">
                                          <p:val>
                                            <p:fltVal val="720"/>
                                          </p:val>
                                        </p:tav>
                                        <p:tav tm="100000">
                                          <p:val>
                                            <p:fltVal val="0"/>
                                          </p:val>
                                        </p:tav>
                                      </p:tavLst>
                                    </p:anim>
                                    <p:anim calcmode="lin" valueType="num">
                                      <p:cBhvr>
                                        <p:cTn id="9" dur="1000" fill="hold"/>
                                        <p:tgtEl>
                                          <p:spTgt spid="467978"/>
                                        </p:tgtEl>
                                        <p:attrNameLst>
                                          <p:attrName>ppt_h</p:attrName>
                                        </p:attrNameLst>
                                      </p:cBhvr>
                                      <p:tavLst>
                                        <p:tav tm="0">
                                          <p:val>
                                            <p:fltVal val="0"/>
                                          </p:val>
                                        </p:tav>
                                        <p:tav tm="100000">
                                          <p:val>
                                            <p:strVal val="#ppt_h"/>
                                          </p:val>
                                        </p:tav>
                                      </p:tavLst>
                                    </p:anim>
                                    <p:anim calcmode="lin" valueType="num">
                                      <p:cBhvr>
                                        <p:cTn id="10" dur="1000" fill="hold"/>
                                        <p:tgtEl>
                                          <p:spTgt spid="467978"/>
                                        </p:tgtEl>
                                        <p:attrNameLst>
                                          <p:attrName>ppt_w</p:attrName>
                                        </p:attrNameLst>
                                      </p:cBhvr>
                                      <p:tavLst>
                                        <p:tav tm="0">
                                          <p:val>
                                            <p:fltVal val="0"/>
                                          </p:val>
                                        </p:tav>
                                        <p:tav tm="100000">
                                          <p:val>
                                            <p:strVal val="#ppt_w"/>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467976"/>
                                        </p:tgtEl>
                                        <p:attrNameLst>
                                          <p:attrName>style.visibility</p:attrName>
                                        </p:attrNameLst>
                                      </p:cBhvr>
                                      <p:to>
                                        <p:strVal val="visible"/>
                                      </p:to>
                                    </p:set>
                                    <p:anim calcmode="lin" valueType="num">
                                      <p:cBhvr additive="base">
                                        <p:cTn id="15" dur="500" fill="hold"/>
                                        <p:tgtEl>
                                          <p:spTgt spid="467976"/>
                                        </p:tgtEl>
                                        <p:attrNameLst>
                                          <p:attrName>ppt_x</p:attrName>
                                        </p:attrNameLst>
                                      </p:cBhvr>
                                      <p:tavLst>
                                        <p:tav tm="0">
                                          <p:val>
                                            <p:strVal val="#ppt_x"/>
                                          </p:val>
                                        </p:tav>
                                        <p:tav tm="100000">
                                          <p:val>
                                            <p:strVal val="#ppt_x"/>
                                          </p:val>
                                        </p:tav>
                                      </p:tavLst>
                                    </p:anim>
                                    <p:anim calcmode="lin" valueType="num">
                                      <p:cBhvr additive="base">
                                        <p:cTn id="16" dur="500" fill="hold"/>
                                        <p:tgtEl>
                                          <p:spTgt spid="467976"/>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5" presetClass="entr" presetSubtype="0" fill="hold" nodeType="clickEffect">
                                  <p:stCondLst>
                                    <p:cond delay="0"/>
                                  </p:stCondLst>
                                  <p:childTnLst>
                                    <p:set>
                                      <p:cBhvr>
                                        <p:cTn id="20" dur="1" fill="hold">
                                          <p:stCondLst>
                                            <p:cond delay="0"/>
                                          </p:stCondLst>
                                        </p:cTn>
                                        <p:tgtEl>
                                          <p:spTgt spid="467977"/>
                                        </p:tgtEl>
                                        <p:attrNameLst>
                                          <p:attrName>style.visibility</p:attrName>
                                        </p:attrNameLst>
                                      </p:cBhvr>
                                      <p:to>
                                        <p:strVal val="visible"/>
                                      </p:to>
                                    </p:set>
                                    <p:animEffect transition="in" filter="fade">
                                      <p:cBhvr>
                                        <p:cTn id="21" dur="1000"/>
                                        <p:tgtEl>
                                          <p:spTgt spid="467977"/>
                                        </p:tgtEl>
                                      </p:cBhvr>
                                    </p:animEffect>
                                    <p:anim calcmode="lin" valueType="num">
                                      <p:cBhvr>
                                        <p:cTn id="22" dur="1000" fill="hold"/>
                                        <p:tgtEl>
                                          <p:spTgt spid="467977"/>
                                        </p:tgtEl>
                                        <p:attrNameLst>
                                          <p:attrName>style.rotation</p:attrName>
                                        </p:attrNameLst>
                                      </p:cBhvr>
                                      <p:tavLst>
                                        <p:tav tm="0">
                                          <p:val>
                                            <p:fltVal val="720"/>
                                          </p:val>
                                        </p:tav>
                                        <p:tav tm="100000">
                                          <p:val>
                                            <p:fltVal val="0"/>
                                          </p:val>
                                        </p:tav>
                                      </p:tavLst>
                                    </p:anim>
                                    <p:anim calcmode="lin" valueType="num">
                                      <p:cBhvr>
                                        <p:cTn id="23" dur="1000" fill="hold"/>
                                        <p:tgtEl>
                                          <p:spTgt spid="467977"/>
                                        </p:tgtEl>
                                        <p:attrNameLst>
                                          <p:attrName>ppt_h</p:attrName>
                                        </p:attrNameLst>
                                      </p:cBhvr>
                                      <p:tavLst>
                                        <p:tav tm="0">
                                          <p:val>
                                            <p:fltVal val="0"/>
                                          </p:val>
                                        </p:tav>
                                        <p:tav tm="100000">
                                          <p:val>
                                            <p:strVal val="#ppt_h"/>
                                          </p:val>
                                        </p:tav>
                                      </p:tavLst>
                                    </p:anim>
                                    <p:anim calcmode="lin" valueType="num">
                                      <p:cBhvr>
                                        <p:cTn id="24" dur="1000" fill="hold"/>
                                        <p:tgtEl>
                                          <p:spTgt spid="467977"/>
                                        </p:tgtEl>
                                        <p:attrNameLst>
                                          <p:attrName>ppt_w</p:attrName>
                                        </p:attrNameLst>
                                      </p:cBhvr>
                                      <p:tavLst>
                                        <p:tav tm="0">
                                          <p:val>
                                            <p:fltVal val="0"/>
                                          </p:val>
                                        </p:tav>
                                        <p:tav tm="100000">
                                          <p:val>
                                            <p:strVal val="#ppt_w"/>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467979"/>
                                        </p:tgtEl>
                                        <p:attrNameLst>
                                          <p:attrName>style.visibility</p:attrName>
                                        </p:attrNameLst>
                                      </p:cBhvr>
                                      <p:to>
                                        <p:strVal val="visible"/>
                                      </p:to>
                                    </p:set>
                                    <p:anim calcmode="lin" valueType="num">
                                      <p:cBhvr additive="base">
                                        <p:cTn id="29" dur="500" fill="hold"/>
                                        <p:tgtEl>
                                          <p:spTgt spid="467979"/>
                                        </p:tgtEl>
                                        <p:attrNameLst>
                                          <p:attrName>ppt_x</p:attrName>
                                        </p:attrNameLst>
                                      </p:cBhvr>
                                      <p:tavLst>
                                        <p:tav tm="0">
                                          <p:val>
                                            <p:strVal val="#ppt_x"/>
                                          </p:val>
                                        </p:tav>
                                        <p:tav tm="100000">
                                          <p:val>
                                            <p:strVal val="#ppt_x"/>
                                          </p:val>
                                        </p:tav>
                                      </p:tavLst>
                                    </p:anim>
                                    <p:anim calcmode="lin" valueType="num">
                                      <p:cBhvr additive="base">
                                        <p:cTn id="30" dur="500" fill="hold"/>
                                        <p:tgtEl>
                                          <p:spTgt spid="4679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7" name="Rectangle 3">
            <a:extLst>
              <a:ext uri="{FF2B5EF4-FFF2-40B4-BE49-F238E27FC236}">
                <a16:creationId xmlns:a16="http://schemas.microsoft.com/office/drawing/2014/main" id="{97F55D82-516D-EF46-B3D0-DFED483E9588}"/>
              </a:ext>
            </a:extLst>
          </p:cNvPr>
          <p:cNvSpPr>
            <a:spLocks noGrp="1" noChangeArrowheads="1"/>
          </p:cNvSpPr>
          <p:nvPr>
            <p:ph idx="1"/>
          </p:nvPr>
        </p:nvSpPr>
        <p:spPr/>
        <p:txBody>
          <a:bodyPr/>
          <a:lstStyle/>
          <a:p>
            <a:pPr eaLnBrk="1" hangingPunct="1"/>
            <a:r>
              <a:rPr lang="en-US" altLang="en-US" dirty="0"/>
              <a:t>Delay has two parts</a:t>
            </a:r>
          </a:p>
          <a:p>
            <a:pPr lvl="1" eaLnBrk="1" hangingPunct="1"/>
            <a:r>
              <a:rPr lang="en-US" altLang="en-US" i="1" dirty="0"/>
              <a:t>Parasitic delay</a:t>
            </a:r>
          </a:p>
          <a:p>
            <a:pPr lvl="2" eaLnBrk="1" hangingPunct="1"/>
            <a:r>
              <a:rPr lang="en-US" altLang="en-US" dirty="0"/>
              <a:t>9 or 11 RC</a:t>
            </a:r>
          </a:p>
          <a:p>
            <a:pPr lvl="2" eaLnBrk="1" hangingPunct="1"/>
            <a:r>
              <a:rPr lang="en-US" altLang="en-US" dirty="0"/>
              <a:t>Independent of load </a:t>
            </a:r>
          </a:p>
          <a:p>
            <a:pPr lvl="1" eaLnBrk="1" hangingPunct="1"/>
            <a:r>
              <a:rPr lang="en-US" altLang="en-US" i="1" dirty="0"/>
              <a:t>Effort delay</a:t>
            </a:r>
          </a:p>
          <a:p>
            <a:pPr lvl="2" eaLnBrk="1" hangingPunct="1"/>
            <a:r>
              <a:rPr lang="en-US" altLang="en-US" dirty="0"/>
              <a:t>5h RC</a:t>
            </a:r>
          </a:p>
          <a:p>
            <a:pPr lvl="2" eaLnBrk="1" hangingPunct="1"/>
            <a:r>
              <a:rPr lang="en-US" altLang="en-US" dirty="0"/>
              <a:t>Proportional to load capacitance</a:t>
            </a:r>
          </a:p>
        </p:txBody>
      </p:sp>
      <p:sp>
        <p:nvSpPr>
          <p:cNvPr id="82947" name="Rectangle 2">
            <a:extLst>
              <a:ext uri="{FF2B5EF4-FFF2-40B4-BE49-F238E27FC236}">
                <a16:creationId xmlns:a16="http://schemas.microsoft.com/office/drawing/2014/main" id="{2E8AAB67-D1AD-C14B-B1FE-D9EA8E50754C}"/>
              </a:ext>
            </a:extLst>
          </p:cNvPr>
          <p:cNvSpPr>
            <a:spLocks noGrp="1" noChangeArrowheads="1"/>
          </p:cNvSpPr>
          <p:nvPr>
            <p:ph type="title"/>
          </p:nvPr>
        </p:nvSpPr>
        <p:spPr/>
        <p:txBody>
          <a:bodyPr/>
          <a:lstStyle/>
          <a:p>
            <a:pPr eaLnBrk="1" hangingPunct="1"/>
            <a:r>
              <a:rPr lang="en-US" altLang="en-US" dirty="0"/>
              <a:t>Delay Components</a:t>
            </a:r>
          </a:p>
        </p:txBody>
      </p:sp>
    </p:spTree>
    <p:extLst>
      <p:ext uri="{BB962C8B-B14F-4D97-AF65-F5344CB8AC3E}">
        <p14:creationId xmlns:p14="http://schemas.microsoft.com/office/powerpoint/2010/main" val="144740461"/>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82307">
                                            <p:txEl>
                                              <p:pRg st="1" end="1"/>
                                            </p:txEl>
                                          </p:spTgt>
                                        </p:tgtEl>
                                        <p:attrNameLst>
                                          <p:attrName>style.visibility</p:attrName>
                                        </p:attrNameLst>
                                      </p:cBhvr>
                                      <p:to>
                                        <p:strVal val="visible"/>
                                      </p:to>
                                    </p:set>
                                    <p:anim calcmode="lin" valueType="num">
                                      <p:cBhvr additive="base">
                                        <p:cTn id="7" dur="500" fill="hold"/>
                                        <p:tgtEl>
                                          <p:spTgt spid="48230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230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2307">
                                            <p:txEl>
                                              <p:pRg st="2" end="2"/>
                                            </p:txEl>
                                          </p:spTgt>
                                        </p:tgtEl>
                                        <p:attrNameLst>
                                          <p:attrName>style.visibility</p:attrName>
                                        </p:attrNameLst>
                                      </p:cBhvr>
                                      <p:to>
                                        <p:strVal val="visible"/>
                                      </p:to>
                                    </p:set>
                                    <p:anim calcmode="lin" valueType="num">
                                      <p:cBhvr additive="base">
                                        <p:cTn id="11" dur="500" fill="hold"/>
                                        <p:tgtEl>
                                          <p:spTgt spid="48230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8230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82307">
                                            <p:txEl>
                                              <p:pRg st="3" end="3"/>
                                            </p:txEl>
                                          </p:spTgt>
                                        </p:tgtEl>
                                        <p:attrNameLst>
                                          <p:attrName>style.visibility</p:attrName>
                                        </p:attrNameLst>
                                      </p:cBhvr>
                                      <p:to>
                                        <p:strVal val="visible"/>
                                      </p:to>
                                    </p:set>
                                    <p:anim calcmode="lin" valueType="num">
                                      <p:cBhvr additive="base">
                                        <p:cTn id="15" dur="500" fill="hold"/>
                                        <p:tgtEl>
                                          <p:spTgt spid="48230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823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482307">
                                            <p:txEl>
                                              <p:pRg st="4" end="4"/>
                                            </p:txEl>
                                          </p:spTgt>
                                        </p:tgtEl>
                                        <p:attrNameLst>
                                          <p:attrName>style.visibility</p:attrName>
                                        </p:attrNameLst>
                                      </p:cBhvr>
                                      <p:to>
                                        <p:strVal val="visible"/>
                                      </p:to>
                                    </p:set>
                                    <p:anim calcmode="lin" valueType="num">
                                      <p:cBhvr additive="base">
                                        <p:cTn id="21" dur="500" fill="hold"/>
                                        <p:tgtEl>
                                          <p:spTgt spid="48230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82307">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82307">
                                            <p:txEl>
                                              <p:pRg st="5" end="5"/>
                                            </p:txEl>
                                          </p:spTgt>
                                        </p:tgtEl>
                                        <p:attrNameLst>
                                          <p:attrName>style.visibility</p:attrName>
                                        </p:attrNameLst>
                                      </p:cBhvr>
                                      <p:to>
                                        <p:strVal val="visible"/>
                                      </p:to>
                                    </p:set>
                                    <p:anim calcmode="lin" valueType="num">
                                      <p:cBhvr additive="base">
                                        <p:cTn id="25" dur="500" fill="hold"/>
                                        <p:tgtEl>
                                          <p:spTgt spid="48230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82307">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82307">
                                            <p:txEl>
                                              <p:pRg st="6" end="6"/>
                                            </p:txEl>
                                          </p:spTgt>
                                        </p:tgtEl>
                                        <p:attrNameLst>
                                          <p:attrName>style.visibility</p:attrName>
                                        </p:attrNameLst>
                                      </p:cBhvr>
                                      <p:to>
                                        <p:strVal val="visible"/>
                                      </p:to>
                                    </p:set>
                                    <p:anim calcmode="lin" valueType="num">
                                      <p:cBhvr additive="base">
                                        <p:cTn id="29" dur="500" fill="hold"/>
                                        <p:tgtEl>
                                          <p:spTgt spid="48230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823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3">
            <a:extLst>
              <a:ext uri="{FF2B5EF4-FFF2-40B4-BE49-F238E27FC236}">
                <a16:creationId xmlns:a16="http://schemas.microsoft.com/office/drawing/2014/main" id="{BBD3E93E-FB56-3448-BDF6-3168DBC7809A}"/>
              </a:ext>
            </a:extLst>
          </p:cNvPr>
          <p:cNvSpPr>
            <a:spLocks noGrp="1" noChangeArrowheads="1"/>
          </p:cNvSpPr>
          <p:nvPr>
            <p:ph idx="1"/>
          </p:nvPr>
        </p:nvSpPr>
        <p:spPr/>
        <p:txBody>
          <a:bodyPr/>
          <a:lstStyle/>
          <a:p>
            <a:pPr eaLnBrk="1" hangingPunct="1"/>
            <a:r>
              <a:rPr lang="en-US" altLang="en-US" dirty="0">
                <a:solidFill>
                  <a:srgbClr val="000000"/>
                </a:solidFill>
              </a:rPr>
              <a:t>Best-case (contamination) delay can be substantially less than propagation delay.</a:t>
            </a:r>
          </a:p>
          <a:p>
            <a:pPr eaLnBrk="1" hangingPunct="1"/>
            <a:r>
              <a:rPr lang="en-US" altLang="en-US" dirty="0">
                <a:solidFill>
                  <a:srgbClr val="000000"/>
                </a:solidFill>
              </a:rPr>
              <a:t>E.g., if all three inputs fall simultaneously</a:t>
            </a:r>
          </a:p>
        </p:txBody>
      </p:sp>
      <p:sp>
        <p:nvSpPr>
          <p:cNvPr id="84995" name="Rectangle 2">
            <a:extLst>
              <a:ext uri="{FF2B5EF4-FFF2-40B4-BE49-F238E27FC236}">
                <a16:creationId xmlns:a16="http://schemas.microsoft.com/office/drawing/2014/main" id="{BA2889E5-D7ED-B14E-9603-ED6470DD9AE8}"/>
              </a:ext>
            </a:extLst>
          </p:cNvPr>
          <p:cNvSpPr>
            <a:spLocks noGrp="1" noChangeArrowheads="1"/>
          </p:cNvSpPr>
          <p:nvPr>
            <p:ph type="title"/>
          </p:nvPr>
        </p:nvSpPr>
        <p:spPr/>
        <p:txBody>
          <a:bodyPr/>
          <a:lstStyle/>
          <a:p>
            <a:pPr eaLnBrk="1" hangingPunct="1"/>
            <a:r>
              <a:rPr lang="en-US" altLang="en-US" dirty="0"/>
              <a:t>Contamination Delay</a:t>
            </a:r>
          </a:p>
        </p:txBody>
      </p:sp>
      <p:pic>
        <p:nvPicPr>
          <p:cNvPr id="3" name="Picture 2" descr="A close up of a logo&#10;&#10;Description automatically generated">
            <a:extLst>
              <a:ext uri="{FF2B5EF4-FFF2-40B4-BE49-F238E27FC236}">
                <a16:creationId xmlns:a16="http://schemas.microsoft.com/office/drawing/2014/main" id="{71F4316C-C026-4333-A469-07517367E696}"/>
              </a:ext>
            </a:extLst>
          </p:cNvPr>
          <p:cNvPicPr>
            <a:picLocks noChangeAspect="1"/>
          </p:cNvPicPr>
          <p:nvPr/>
        </p:nvPicPr>
        <p:blipFill>
          <a:blip r:embed="rId3"/>
          <a:stretch>
            <a:fillRect/>
          </a:stretch>
        </p:blipFill>
        <p:spPr>
          <a:xfrm>
            <a:off x="4448278" y="2543987"/>
            <a:ext cx="3295444" cy="3463878"/>
          </a:xfrm>
          <a:prstGeom prst="rect">
            <a:avLst/>
          </a:prstGeom>
        </p:spPr>
      </p:pic>
    </p:spTree>
    <p:extLst>
      <p:ext uri="{BB962C8B-B14F-4D97-AF65-F5344CB8AC3E}">
        <p14:creationId xmlns:p14="http://schemas.microsoft.com/office/powerpoint/2010/main" val="1726465884"/>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5" name="Rectangle 4">
            <a:extLst>
              <a:ext uri="{FF2B5EF4-FFF2-40B4-BE49-F238E27FC236}">
                <a16:creationId xmlns:a16="http://schemas.microsoft.com/office/drawing/2014/main" id="{F10AB5BD-289D-D648-98BE-4E449254AA5E}"/>
              </a:ext>
            </a:extLst>
          </p:cNvPr>
          <p:cNvSpPr>
            <a:spLocks noGrp="1" noChangeArrowheads="1"/>
          </p:cNvSpPr>
          <p:nvPr>
            <p:ph idx="1"/>
          </p:nvPr>
        </p:nvSpPr>
        <p:spPr/>
        <p:txBody>
          <a:bodyPr/>
          <a:lstStyle/>
          <a:p>
            <a:pPr eaLnBrk="1" hangingPunct="1"/>
            <a:r>
              <a:rPr lang="en-US" altLang="en-US" dirty="0">
                <a:solidFill>
                  <a:srgbClr val="000000"/>
                </a:solidFill>
              </a:rPr>
              <a:t>We assumed contacted diffusion on every s/d.</a:t>
            </a:r>
          </a:p>
          <a:p>
            <a:pPr eaLnBrk="1" hangingPunct="1"/>
            <a:r>
              <a:rPr lang="en-US" altLang="en-US" dirty="0">
                <a:solidFill>
                  <a:srgbClr val="000000"/>
                </a:solidFill>
              </a:rPr>
              <a:t>Good layout minimizes diffusion area</a:t>
            </a:r>
          </a:p>
          <a:p>
            <a:pPr eaLnBrk="1" hangingPunct="1"/>
            <a:r>
              <a:rPr lang="en-US" altLang="en-US" dirty="0">
                <a:solidFill>
                  <a:srgbClr val="000000"/>
                </a:solidFill>
              </a:rPr>
              <a:t>E.g., NAND3 layout shares one diffusion contact</a:t>
            </a:r>
          </a:p>
          <a:p>
            <a:pPr lvl="1" eaLnBrk="1" hangingPunct="1"/>
            <a:r>
              <a:rPr lang="en-US" altLang="en-US" dirty="0">
                <a:solidFill>
                  <a:srgbClr val="000000"/>
                </a:solidFill>
              </a:rPr>
              <a:t>Reduces output capacitance by 2C</a:t>
            </a:r>
          </a:p>
          <a:p>
            <a:pPr lvl="1" eaLnBrk="1" hangingPunct="1"/>
            <a:r>
              <a:rPr lang="en-US" altLang="en-US" dirty="0">
                <a:solidFill>
                  <a:srgbClr val="000000"/>
                </a:solidFill>
              </a:rPr>
              <a:t>Merged uncontacted diffusion might help too</a:t>
            </a:r>
          </a:p>
        </p:txBody>
      </p:sp>
      <p:sp>
        <p:nvSpPr>
          <p:cNvPr id="87044" name="Rectangle 3">
            <a:extLst>
              <a:ext uri="{FF2B5EF4-FFF2-40B4-BE49-F238E27FC236}">
                <a16:creationId xmlns:a16="http://schemas.microsoft.com/office/drawing/2014/main" id="{02888E04-ACC8-854A-AC48-2BDBB8A74E6F}"/>
              </a:ext>
            </a:extLst>
          </p:cNvPr>
          <p:cNvSpPr>
            <a:spLocks noGrp="1" noChangeArrowheads="1"/>
          </p:cNvSpPr>
          <p:nvPr>
            <p:ph type="title"/>
          </p:nvPr>
        </p:nvSpPr>
        <p:spPr/>
        <p:txBody>
          <a:bodyPr/>
          <a:lstStyle/>
          <a:p>
            <a:pPr eaLnBrk="1" hangingPunct="1"/>
            <a:r>
              <a:rPr lang="en-US" altLang="en-US" dirty="0"/>
              <a:t>Diffusion Capacitance</a:t>
            </a:r>
          </a:p>
        </p:txBody>
      </p:sp>
      <p:pic>
        <p:nvPicPr>
          <p:cNvPr id="4" name="Picture 3" descr="A close up of a logo&#10;&#10;Description automatically generated">
            <a:extLst>
              <a:ext uri="{FF2B5EF4-FFF2-40B4-BE49-F238E27FC236}">
                <a16:creationId xmlns:a16="http://schemas.microsoft.com/office/drawing/2014/main" id="{4BE49785-1968-45CE-B942-6B3821E25554}"/>
              </a:ext>
            </a:extLst>
          </p:cNvPr>
          <p:cNvPicPr>
            <a:picLocks noChangeAspect="1"/>
          </p:cNvPicPr>
          <p:nvPr/>
        </p:nvPicPr>
        <p:blipFill>
          <a:blip r:embed="rId3"/>
          <a:stretch>
            <a:fillRect/>
          </a:stretch>
        </p:blipFill>
        <p:spPr>
          <a:xfrm>
            <a:off x="3355829" y="3281802"/>
            <a:ext cx="5480342" cy="2648832"/>
          </a:xfrm>
          <a:prstGeom prst="rect">
            <a:avLst/>
          </a:prstGeom>
        </p:spPr>
      </p:pic>
    </p:spTree>
    <p:extLst>
      <p:ext uri="{BB962C8B-B14F-4D97-AF65-F5344CB8AC3E}">
        <p14:creationId xmlns:p14="http://schemas.microsoft.com/office/powerpoint/2010/main" val="830428978"/>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1" name="Rectangle 3">
            <a:extLst>
              <a:ext uri="{FF2B5EF4-FFF2-40B4-BE49-F238E27FC236}">
                <a16:creationId xmlns:a16="http://schemas.microsoft.com/office/drawing/2014/main" id="{B4A28FCC-39DD-C641-BA0C-61BE61B7C5C4}"/>
              </a:ext>
            </a:extLst>
          </p:cNvPr>
          <p:cNvSpPr>
            <a:spLocks noGrp="1" noChangeArrowheads="1"/>
          </p:cNvSpPr>
          <p:nvPr>
            <p:ph idx="1"/>
          </p:nvPr>
        </p:nvSpPr>
        <p:spPr/>
        <p:txBody>
          <a:bodyPr/>
          <a:lstStyle/>
          <a:p>
            <a:pPr eaLnBrk="1" hangingPunct="1"/>
            <a:r>
              <a:rPr lang="en-US" altLang="en-US" dirty="0"/>
              <a:t>Which layout is better? </a:t>
            </a:r>
          </a:p>
          <a:p>
            <a:pPr eaLnBrk="1" hangingPunct="1"/>
            <a:r>
              <a:rPr lang="en-US" altLang="en-US" dirty="0"/>
              <a:t>Left has less diffusion capacitance on Y </a:t>
            </a:r>
          </a:p>
        </p:txBody>
      </p:sp>
      <p:sp>
        <p:nvSpPr>
          <p:cNvPr id="89091" name="Rectangle 2">
            <a:extLst>
              <a:ext uri="{FF2B5EF4-FFF2-40B4-BE49-F238E27FC236}">
                <a16:creationId xmlns:a16="http://schemas.microsoft.com/office/drawing/2014/main" id="{A3CCBA01-DF92-EF4E-89E0-F8A938D3964B}"/>
              </a:ext>
            </a:extLst>
          </p:cNvPr>
          <p:cNvSpPr>
            <a:spLocks noGrp="1" noChangeArrowheads="1"/>
          </p:cNvSpPr>
          <p:nvPr>
            <p:ph type="title"/>
          </p:nvPr>
        </p:nvSpPr>
        <p:spPr/>
        <p:txBody>
          <a:bodyPr/>
          <a:lstStyle/>
          <a:p>
            <a:pPr eaLnBrk="1" hangingPunct="1"/>
            <a:r>
              <a:rPr lang="en-US" altLang="en-US" dirty="0"/>
              <a:t>Layout Comparison</a:t>
            </a:r>
          </a:p>
        </p:txBody>
      </p:sp>
      <p:graphicFrame>
        <p:nvGraphicFramePr>
          <p:cNvPr id="89093" name="Object 4">
            <a:extLst>
              <a:ext uri="{FF2B5EF4-FFF2-40B4-BE49-F238E27FC236}">
                <a16:creationId xmlns:a16="http://schemas.microsoft.com/office/drawing/2014/main" id="{FD1659EB-DE91-D742-BDB7-36A042437927}"/>
              </a:ext>
            </a:extLst>
          </p:cNvPr>
          <p:cNvGraphicFramePr>
            <a:graphicFrameLocks noChangeAspect="1"/>
          </p:cNvGraphicFramePr>
          <p:nvPr/>
        </p:nvGraphicFramePr>
        <p:xfrm>
          <a:off x="2362200" y="2387600"/>
          <a:ext cx="7315200" cy="3632200"/>
        </p:xfrm>
        <a:graphic>
          <a:graphicData uri="http://schemas.openxmlformats.org/presentationml/2006/ole">
            <mc:AlternateContent xmlns:mc="http://schemas.openxmlformats.org/markup-compatibility/2006">
              <mc:Choice xmlns:v="urn:schemas-microsoft-com:vml" Requires="v">
                <p:oleObj name="VISIO" r:id="rId3" imgW="25222200" imgH="12509500" progId="Visio.Drawing.6">
                  <p:embed/>
                </p:oleObj>
              </mc:Choice>
              <mc:Fallback>
                <p:oleObj name="VISIO" r:id="rId3" imgW="25222200" imgH="12509500" progId="Visio.Drawing.6">
                  <p:embed/>
                  <p:pic>
                    <p:nvPicPr>
                      <p:cNvPr id="89093" name="Object 4">
                        <a:extLst>
                          <a:ext uri="{FF2B5EF4-FFF2-40B4-BE49-F238E27FC236}">
                            <a16:creationId xmlns:a16="http://schemas.microsoft.com/office/drawing/2014/main" id="{FD1659EB-DE91-D742-BDB7-36A0424379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387600"/>
                        <a:ext cx="7315200" cy="363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9094" name="TextBox 1">
            <a:extLst>
              <a:ext uri="{FF2B5EF4-FFF2-40B4-BE49-F238E27FC236}">
                <a16:creationId xmlns:a16="http://schemas.microsoft.com/office/drawing/2014/main" id="{D143AB67-AD98-2E4B-86D5-C805C4F4E7D0}"/>
              </a:ext>
            </a:extLst>
          </p:cNvPr>
          <p:cNvSpPr txBox="1">
            <a:spLocks noChangeArrowheads="1"/>
          </p:cNvSpPr>
          <p:nvPr/>
        </p:nvSpPr>
        <p:spPr bwMode="auto">
          <a:xfrm>
            <a:off x="3276600" y="3505201"/>
            <a:ext cx="184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eaLnBrk="1" hangingPunct="1"/>
            <a:endParaRPr lang="en-US" altLang="en-US" dirty="0"/>
          </a:p>
        </p:txBody>
      </p:sp>
    </p:spTree>
    <p:extLst>
      <p:ext uri="{BB962C8B-B14F-4D97-AF65-F5344CB8AC3E}">
        <p14:creationId xmlns:p14="http://schemas.microsoft.com/office/powerpoint/2010/main" val="3806915777"/>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88451">
                                            <p:txEl>
                                              <p:pRg st="1" end="1"/>
                                            </p:txEl>
                                          </p:spTgt>
                                        </p:tgtEl>
                                        <p:attrNameLst>
                                          <p:attrName>style.visibility</p:attrName>
                                        </p:attrNameLst>
                                      </p:cBhvr>
                                      <p:to>
                                        <p:strVal val="visible"/>
                                      </p:to>
                                    </p:set>
                                    <p:animEffect transition="in" filter="dissolve">
                                      <p:cBhvr>
                                        <p:cTn id="7" dur="500"/>
                                        <p:tgtEl>
                                          <p:spTgt spid="4884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Master_Arm_Limited_2019.potx  -  Read-Only" id="{D09A6074-4508-4365-A1DC-9585CABF9D5F}" vid="{3CD30893-EED7-4292-8C0A-ECC25221B6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5.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Props1.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5.xml><?xml version="1.0" encoding="utf-8"?>
<ds:datastoreItem xmlns:ds="http://schemas.openxmlformats.org/officeDocument/2006/customXml" ds:itemID="{B61D4E06-5D3F-4994-A4A7-4BA626FA722D}">
  <ds:schemaRefs>
    <ds:schemaRef ds:uri="http://schemas.microsoft.com/sharepoint/v3"/>
    <ds:schemaRef ds:uri="f2ad5090-61a8-4b8c-ab70-68f4ff4d1933"/>
    <ds:schemaRef ds:uri="http://www.w3.org/XML/1998/namespace"/>
    <ds:schemaRef ds:uri="http://schemas.microsoft.com/office/2006/documentManagement/types"/>
    <ds:schemaRef ds:uri="c0950e01-db07-4e41-9c32-b7a8e9fccc9b"/>
    <ds:schemaRef ds:uri="http://schemas.microsoft.com/sharepoint/v3/fields"/>
    <ds:schemaRef ds:uri="http://purl.org/dc/terms/"/>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Arm_Education_PPT_template_2019</Template>
  <TotalTime>0</TotalTime>
  <Words>1447</Words>
  <Application>Microsoft Macintosh PowerPoint</Application>
  <PresentationFormat>Widescreen</PresentationFormat>
  <Paragraphs>216</Paragraphs>
  <Slides>24</Slides>
  <Notes>24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4</vt:i4>
      </vt:variant>
      <vt:variant>
        <vt:lpstr>Slide Titles</vt:lpstr>
      </vt:variant>
      <vt:variant>
        <vt:i4>24</vt:i4>
      </vt:variant>
    </vt:vector>
  </HeadingPairs>
  <TitlesOfParts>
    <vt:vector size="37" baseType="lpstr">
      <vt:lpstr>ＭＳ Ｐゴシック</vt:lpstr>
      <vt:lpstr>Arial</vt:lpstr>
      <vt:lpstr>Calibri</vt:lpstr>
      <vt:lpstr>Cambria Math</vt:lpstr>
      <vt:lpstr>Segoe UI</vt:lpstr>
      <vt:lpstr>Symbol</vt:lpstr>
      <vt:lpstr>Times New Roman</vt:lpstr>
      <vt:lpstr>Wingdings</vt:lpstr>
      <vt:lpstr>1_Arm_PPT_Public</vt:lpstr>
      <vt:lpstr>Equation</vt:lpstr>
      <vt:lpstr>Equation.DSMT4</vt:lpstr>
      <vt:lpstr>Visio</vt:lpstr>
      <vt:lpstr>VISIO</vt:lpstr>
      <vt:lpstr>Highlight Reel: Slide Decks 3.0 – 5.0  ENGR-E 399/599: VLSI Design Prof. Daniel Loveless, dlovele@iu.edu, 812-856-0703</vt:lpstr>
      <vt:lpstr>nMOS Linear I-V</vt:lpstr>
      <vt:lpstr>nMOS Saturation I-V</vt:lpstr>
      <vt:lpstr>I-V Summary</vt:lpstr>
      <vt:lpstr>Non-Ideal Transistors</vt:lpstr>
      <vt:lpstr>Operation</vt:lpstr>
      <vt:lpstr>Matching</vt:lpstr>
      <vt:lpstr>Inverter Step Response</vt:lpstr>
      <vt:lpstr>Delay Definitions</vt:lpstr>
      <vt:lpstr>Delay Definitions</vt:lpstr>
      <vt:lpstr>Delay Estimation</vt:lpstr>
      <vt:lpstr>Effective Resistance</vt:lpstr>
      <vt:lpstr>RC Delay Model</vt:lpstr>
      <vt:lpstr>RC Values</vt:lpstr>
      <vt:lpstr>Inverter Delay Estimate</vt:lpstr>
      <vt:lpstr>Delay Model Comparison</vt:lpstr>
      <vt:lpstr>Example: 3-input NAND</vt:lpstr>
      <vt:lpstr>3-input NAND Caps</vt:lpstr>
      <vt:lpstr>Elmore Delay</vt:lpstr>
      <vt:lpstr>Example: 3-input NAND</vt:lpstr>
      <vt:lpstr>Delay Components</vt:lpstr>
      <vt:lpstr>Contamination Delay</vt:lpstr>
      <vt:lpstr>Diffusion Capacitance</vt:lpstr>
      <vt:lpstr>Layout Comparison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  Lecture 4: CMOS Transistor Theory</dc:title>
  <dc:subject/>
  <dc:creator/>
  <cp:keywords/>
  <dc:description/>
  <cp:lastModifiedBy/>
  <cp:revision>142</cp:revision>
  <dcterms:created xsi:type="dcterms:W3CDTF">2019-04-08T13:00:08Z</dcterms:created>
  <dcterms:modified xsi:type="dcterms:W3CDTF">2026-02-05T17:15:42Z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