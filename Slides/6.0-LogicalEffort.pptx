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514" r:id="rId6"/>
  </p:sldMasterIdLst>
  <p:notesMasterIdLst>
    <p:notesMasterId r:id="rId40"/>
  </p:notesMasterIdLst>
  <p:handoutMasterIdLst>
    <p:handoutMasterId r:id="rId41"/>
  </p:handoutMasterIdLst>
  <p:sldIdLst>
    <p:sldId id="371" r:id="rId7"/>
    <p:sldId id="257" r:id="rId8"/>
    <p:sldId id="258" r:id="rId9"/>
    <p:sldId id="259" r:id="rId10"/>
    <p:sldId id="286" r:id="rId11"/>
    <p:sldId id="288" r:id="rId12"/>
    <p:sldId id="262" r:id="rId13"/>
    <p:sldId id="263" r:id="rId14"/>
    <p:sldId id="289" r:id="rId15"/>
    <p:sldId id="290" r:id="rId16"/>
    <p:sldId id="291" r:id="rId17"/>
    <p:sldId id="267" r:id="rId18"/>
    <p:sldId id="292" r:id="rId19"/>
    <p:sldId id="305" r:id="rId20"/>
    <p:sldId id="293" r:id="rId21"/>
    <p:sldId id="269" r:id="rId22"/>
    <p:sldId id="270" r:id="rId23"/>
    <p:sldId id="295" r:id="rId24"/>
    <p:sldId id="271" r:id="rId25"/>
    <p:sldId id="297" r:id="rId26"/>
    <p:sldId id="299" r:id="rId27"/>
    <p:sldId id="300" r:id="rId28"/>
    <p:sldId id="273" r:id="rId29"/>
    <p:sldId id="274" r:id="rId30"/>
    <p:sldId id="301" r:id="rId31"/>
    <p:sldId id="302" r:id="rId32"/>
    <p:sldId id="303" r:id="rId33"/>
    <p:sldId id="277" r:id="rId34"/>
    <p:sldId id="278" r:id="rId35"/>
    <p:sldId id="279" r:id="rId36"/>
    <p:sldId id="280" r:id="rId37"/>
    <p:sldId id="281" r:id="rId38"/>
    <p:sldId id="282" r:id="rId39"/>
  </p:sldIdLst>
  <p:sldSz cx="12192000" cy="6858000"/>
  <p:notesSz cx="6858000" cy="2552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7" clrIdx="0">
    <p:extLst>
      <p:ext uri="{19B8F6BF-5375-455C-9EA6-DF929625EA0E}">
        <p15:presenceInfo xmlns:p15="http://schemas.microsoft.com/office/powerpoint/2012/main" userId="Auth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DE"/>
    <a:srgbClr val="E5ECEB"/>
    <a:srgbClr val="95D600"/>
    <a:srgbClr val="FF6B00"/>
    <a:srgbClr val="FFC600"/>
    <a:srgbClr val="FF6900"/>
    <a:srgbClr val="93E5FF"/>
    <a:srgbClr val="7B7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272AA-8E37-1D49-A946-45B9B23748E7}" v="5" dt="2024-04-30T18:11:45.026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3" autoAdjust="0"/>
    <p:restoredTop sz="64830" autoAdjust="0"/>
  </p:normalViewPr>
  <p:slideViewPr>
    <p:cSldViewPr snapToGrid="0">
      <p:cViewPr varScale="1">
        <p:scale>
          <a:sx n="136" d="100"/>
          <a:sy n="136" d="100"/>
        </p:scale>
        <p:origin x="230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7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less, Daniel" userId="6c8649f3-f880-411c-bced-fbb331f61b80" providerId="ADAL" clId="{8F48735B-7A07-5642-BA3B-FCCC8146F1FA}"/>
    <pc:docChg chg="modSld">
      <pc:chgData name="Loveless, Daniel" userId="6c8649f3-f880-411c-bced-fbb331f61b80" providerId="ADAL" clId="{8F48735B-7A07-5642-BA3B-FCCC8146F1FA}" dt="2024-04-25T03:01:39.109" v="13" actId="1076"/>
      <pc:docMkLst>
        <pc:docMk/>
      </pc:docMkLst>
      <pc:sldChg chg="addSp delSp modSp modAnim">
        <pc:chgData name="Loveless, Daniel" userId="6c8649f3-f880-411c-bced-fbb331f61b80" providerId="ADAL" clId="{8F48735B-7A07-5642-BA3B-FCCC8146F1FA}" dt="2024-04-25T03:01:39.109" v="13" actId="1076"/>
        <pc:sldMkLst>
          <pc:docMk/>
          <pc:sldMk cId="1892982958" sldId="277"/>
        </pc:sldMkLst>
        <pc:spChg chg="add del">
          <ac:chgData name="Loveless, Daniel" userId="6c8649f3-f880-411c-bced-fbb331f61b80" providerId="ADAL" clId="{8F48735B-7A07-5642-BA3B-FCCC8146F1FA}" dt="2024-04-25T03:01:32.984" v="9" actId="478"/>
          <ac:spMkLst>
            <pc:docMk/>
            <pc:sldMk cId="1892982958" sldId="277"/>
            <ac:spMk id="364552" creationId="{EDE4A0B7-C1F4-CE46-B2B9-B173EF2C68BB}"/>
          </ac:spMkLst>
        </pc:spChg>
        <pc:spChg chg="add del">
          <ac:chgData name="Loveless, Daniel" userId="6c8649f3-f880-411c-bced-fbb331f61b80" providerId="ADAL" clId="{8F48735B-7A07-5642-BA3B-FCCC8146F1FA}" dt="2024-04-25T03:01:32.984" v="9" actId="478"/>
          <ac:spMkLst>
            <pc:docMk/>
            <pc:sldMk cId="1892982958" sldId="277"/>
            <ac:spMk id="364553" creationId="{38A50470-A929-644E-BC69-FE37F2EDD04F}"/>
          </ac:spMkLst>
        </pc:spChg>
        <pc:spChg chg="add del">
          <ac:chgData name="Loveless, Daniel" userId="6c8649f3-f880-411c-bced-fbb331f61b80" providerId="ADAL" clId="{8F48735B-7A07-5642-BA3B-FCCC8146F1FA}" dt="2024-04-25T03:01:32.984" v="9" actId="478"/>
          <ac:spMkLst>
            <pc:docMk/>
            <pc:sldMk cId="1892982958" sldId="277"/>
            <ac:spMk id="364554" creationId="{4D9CAF6F-CAFB-E443-9A80-005AE3F05194}"/>
          </ac:spMkLst>
        </pc:spChg>
        <pc:spChg chg="add del mod">
          <ac:chgData name="Loveless, Daniel" userId="6c8649f3-f880-411c-bced-fbb331f61b80" providerId="ADAL" clId="{8F48735B-7A07-5642-BA3B-FCCC8146F1FA}" dt="2024-04-25T03:01:36.274" v="11" actId="1076"/>
          <ac:spMkLst>
            <pc:docMk/>
            <pc:sldMk cId="1892982958" sldId="277"/>
            <ac:spMk id="364555" creationId="{F1A77055-4CFB-E248-B7BA-FDFD33336A65}"/>
          </ac:spMkLst>
        </pc:spChg>
        <pc:spChg chg="add del mod">
          <ac:chgData name="Loveless, Daniel" userId="6c8649f3-f880-411c-bced-fbb331f61b80" providerId="ADAL" clId="{8F48735B-7A07-5642-BA3B-FCCC8146F1FA}" dt="2024-04-25T03:01:39.109" v="13" actId="1076"/>
          <ac:spMkLst>
            <pc:docMk/>
            <pc:sldMk cId="1892982958" sldId="277"/>
            <ac:spMk id="364556" creationId="{CBB27843-F0D8-C048-A16C-6FA189C9E9EA}"/>
          </ac:spMkLst>
        </pc:spChg>
        <pc:spChg chg="add del">
          <ac:chgData name="Loveless, Daniel" userId="6c8649f3-f880-411c-bced-fbb331f61b80" providerId="ADAL" clId="{8F48735B-7A07-5642-BA3B-FCCC8146F1FA}" dt="2024-04-25T03:01:32.984" v="9" actId="478"/>
          <ac:spMkLst>
            <pc:docMk/>
            <pc:sldMk cId="1892982958" sldId="277"/>
            <ac:spMk id="364557" creationId="{2E21DB60-C3D7-A847-A26A-99045928526A}"/>
          </ac:spMkLst>
        </pc:spChg>
        <pc:graphicFrameChg chg="add del">
          <ac:chgData name="Loveless, Daniel" userId="6c8649f3-f880-411c-bced-fbb331f61b80" providerId="ADAL" clId="{8F48735B-7A07-5642-BA3B-FCCC8146F1FA}" dt="2024-04-25T03:01:32.984" v="9" actId="478"/>
          <ac:graphicFrameMkLst>
            <pc:docMk/>
            <pc:sldMk cId="1892982958" sldId="277"/>
            <ac:graphicFrameMk id="71686" creationId="{3E3DBCB1-327C-9747-BA9B-663CDD50BD69}"/>
          </ac:graphicFrameMkLst>
        </pc:graphicFrameChg>
        <pc:graphicFrameChg chg="add del">
          <ac:chgData name="Loveless, Daniel" userId="6c8649f3-f880-411c-bced-fbb331f61b80" providerId="ADAL" clId="{8F48735B-7A07-5642-BA3B-FCCC8146F1FA}" dt="2024-04-25T03:01:32.984" v="9" actId="478"/>
          <ac:graphicFrameMkLst>
            <pc:docMk/>
            <pc:sldMk cId="1892982958" sldId="277"/>
            <ac:graphicFrameMk id="71687" creationId="{8D76971F-2A2D-DB4F-9A7C-6CEF606B8070}"/>
          </ac:graphicFrameMkLst>
        </pc:graphicFrameChg>
      </pc:sldChg>
      <pc:sldChg chg="delSp modAnim">
        <pc:chgData name="Loveless, Daniel" userId="6c8649f3-f880-411c-bced-fbb331f61b80" providerId="ADAL" clId="{8F48735B-7A07-5642-BA3B-FCCC8146F1FA}" dt="2024-03-04T13:58:25.332" v="4" actId="478"/>
        <pc:sldMkLst>
          <pc:docMk/>
          <pc:sldMk cId="3781566893" sldId="297"/>
        </pc:sldMkLst>
        <pc:spChg chg="del">
          <ac:chgData name="Loveless, Daniel" userId="6c8649f3-f880-411c-bced-fbb331f61b80" providerId="ADAL" clId="{8F48735B-7A07-5642-BA3B-FCCC8146F1FA}" dt="2024-03-04T13:57:15.588" v="1" actId="478"/>
          <ac:spMkLst>
            <pc:docMk/>
            <pc:sldMk cId="3781566893" sldId="297"/>
            <ac:spMk id="386061" creationId="{46A334BB-43DD-CC42-BD81-33ABD5A50703}"/>
          </ac:spMkLst>
        </pc:spChg>
        <pc:spChg chg="del">
          <ac:chgData name="Loveless, Daniel" userId="6c8649f3-f880-411c-bced-fbb331f61b80" providerId="ADAL" clId="{8F48735B-7A07-5642-BA3B-FCCC8146F1FA}" dt="2024-03-04T13:57:12.930" v="0" actId="478"/>
          <ac:spMkLst>
            <pc:docMk/>
            <pc:sldMk cId="3781566893" sldId="297"/>
            <ac:spMk id="386062" creationId="{B3DE9B40-8718-9343-B000-6B738A4E6B8E}"/>
          </ac:spMkLst>
        </pc:spChg>
        <pc:spChg chg="del">
          <ac:chgData name="Loveless, Daniel" userId="6c8649f3-f880-411c-bced-fbb331f61b80" providerId="ADAL" clId="{8F48735B-7A07-5642-BA3B-FCCC8146F1FA}" dt="2024-03-04T13:57:57.244" v="2" actId="478"/>
          <ac:spMkLst>
            <pc:docMk/>
            <pc:sldMk cId="3781566893" sldId="297"/>
            <ac:spMk id="386064" creationId="{3EF3F899-B4C5-7B45-9B9E-70E5DE617133}"/>
          </ac:spMkLst>
        </pc:spChg>
        <pc:spChg chg="del">
          <ac:chgData name="Loveless, Daniel" userId="6c8649f3-f880-411c-bced-fbb331f61b80" providerId="ADAL" clId="{8F48735B-7A07-5642-BA3B-FCCC8146F1FA}" dt="2024-03-04T13:58:25.332" v="4" actId="478"/>
          <ac:spMkLst>
            <pc:docMk/>
            <pc:sldMk cId="3781566893" sldId="297"/>
            <ac:spMk id="386065" creationId="{93BE97CA-1CFA-4445-AB50-47FABD24889C}"/>
          </ac:spMkLst>
        </pc:spChg>
        <pc:spChg chg="del">
          <ac:chgData name="Loveless, Daniel" userId="6c8649f3-f880-411c-bced-fbb331f61b80" providerId="ADAL" clId="{8F48735B-7A07-5642-BA3B-FCCC8146F1FA}" dt="2024-03-04T13:58:14.129" v="3" actId="478"/>
          <ac:spMkLst>
            <pc:docMk/>
            <pc:sldMk cId="3781566893" sldId="297"/>
            <ac:spMk id="386066" creationId="{98910BDB-D0AF-7C40-9197-4AA6D5931036}"/>
          </ac:spMkLst>
        </pc:spChg>
      </pc:sldChg>
      <pc:sldChg chg="delSp modAnim">
        <pc:chgData name="Loveless, Daniel" userId="6c8649f3-f880-411c-bced-fbb331f61b80" providerId="ADAL" clId="{8F48735B-7A07-5642-BA3B-FCCC8146F1FA}" dt="2024-03-04T13:59:48.798" v="6" actId="478"/>
        <pc:sldMkLst>
          <pc:docMk/>
          <pc:sldMk cId="2501048804" sldId="300"/>
        </pc:sldMkLst>
        <pc:spChg chg="del">
          <ac:chgData name="Loveless, Daniel" userId="6c8649f3-f880-411c-bced-fbb331f61b80" providerId="ADAL" clId="{8F48735B-7A07-5642-BA3B-FCCC8146F1FA}" dt="2024-03-04T13:59:21.819" v="5" actId="478"/>
          <ac:spMkLst>
            <pc:docMk/>
            <pc:sldMk cId="2501048804" sldId="300"/>
            <ac:spMk id="389127" creationId="{9B7E606A-8610-B14F-9479-7F5240A62531}"/>
          </ac:spMkLst>
        </pc:spChg>
        <pc:spChg chg="del">
          <ac:chgData name="Loveless, Daniel" userId="6c8649f3-f880-411c-bced-fbb331f61b80" providerId="ADAL" clId="{8F48735B-7A07-5642-BA3B-FCCC8146F1FA}" dt="2024-03-04T13:59:48.798" v="6" actId="478"/>
          <ac:spMkLst>
            <pc:docMk/>
            <pc:sldMk cId="2501048804" sldId="300"/>
            <ac:spMk id="389128" creationId="{F0164F31-AEFD-6248-BCAD-9078704F9CB9}"/>
          </ac:spMkLst>
        </pc:spChg>
      </pc:sldChg>
      <pc:sldChg chg="delSp modAnim">
        <pc:chgData name="Loveless, Daniel" userId="6c8649f3-f880-411c-bced-fbb331f61b80" providerId="ADAL" clId="{8F48735B-7A07-5642-BA3B-FCCC8146F1FA}" dt="2024-04-25T02:58:59.132" v="7" actId="478"/>
        <pc:sldMkLst>
          <pc:docMk/>
          <pc:sldMk cId="1664323133" sldId="305"/>
        </pc:sldMkLst>
        <pc:spChg chg="del">
          <ac:chgData name="Loveless, Daniel" userId="6c8649f3-f880-411c-bced-fbb331f61b80" providerId="ADAL" clId="{8F48735B-7A07-5642-BA3B-FCCC8146F1FA}" dt="2024-04-25T02:58:59.132" v="7" actId="478"/>
          <ac:spMkLst>
            <pc:docMk/>
            <pc:sldMk cId="1664323133" sldId="305"/>
            <ac:spMk id="394245" creationId="{600E04A0-96BF-304C-9EE9-2C161686FAC4}"/>
          </ac:spMkLst>
        </pc:spChg>
        <pc:spChg chg="del">
          <ac:chgData name="Loveless, Daniel" userId="6c8649f3-f880-411c-bced-fbb331f61b80" providerId="ADAL" clId="{8F48735B-7A07-5642-BA3B-FCCC8146F1FA}" dt="2024-04-25T02:58:59.132" v="7" actId="478"/>
          <ac:spMkLst>
            <pc:docMk/>
            <pc:sldMk cId="1664323133" sldId="305"/>
            <ac:spMk id="394248" creationId="{01CC60BC-B40C-1B42-BA91-A86E72B6F4D8}"/>
          </ac:spMkLst>
        </pc:spChg>
        <pc:spChg chg="del">
          <ac:chgData name="Loveless, Daniel" userId="6c8649f3-f880-411c-bced-fbb331f61b80" providerId="ADAL" clId="{8F48735B-7A07-5642-BA3B-FCCC8146F1FA}" dt="2024-04-25T02:58:59.132" v="7" actId="478"/>
          <ac:spMkLst>
            <pc:docMk/>
            <pc:sldMk cId="1664323133" sldId="305"/>
            <ac:spMk id="394249" creationId="{4D2385FA-E17C-A743-A6CF-A583C8F6B944}"/>
          </ac:spMkLst>
        </pc:spChg>
        <pc:spChg chg="del">
          <ac:chgData name="Loveless, Daniel" userId="6c8649f3-f880-411c-bced-fbb331f61b80" providerId="ADAL" clId="{8F48735B-7A07-5642-BA3B-FCCC8146F1FA}" dt="2024-04-25T02:58:59.132" v="7" actId="478"/>
          <ac:spMkLst>
            <pc:docMk/>
            <pc:sldMk cId="1664323133" sldId="305"/>
            <ac:spMk id="394250" creationId="{A7CEF1F0-3B4D-B34D-9726-2C90251010D1}"/>
          </ac:spMkLst>
        </pc:spChg>
        <pc:spChg chg="del">
          <ac:chgData name="Loveless, Daniel" userId="6c8649f3-f880-411c-bced-fbb331f61b80" providerId="ADAL" clId="{8F48735B-7A07-5642-BA3B-FCCC8146F1FA}" dt="2024-04-25T02:58:59.132" v="7" actId="478"/>
          <ac:spMkLst>
            <pc:docMk/>
            <pc:sldMk cId="1664323133" sldId="305"/>
            <ac:spMk id="394251" creationId="{D73736BB-B08C-584D-875D-E5F95AF8049E}"/>
          </ac:spMkLst>
        </pc:spChg>
        <pc:spChg chg="del">
          <ac:chgData name="Loveless, Daniel" userId="6c8649f3-f880-411c-bced-fbb331f61b80" providerId="ADAL" clId="{8F48735B-7A07-5642-BA3B-FCCC8146F1FA}" dt="2024-04-25T02:58:59.132" v="7" actId="478"/>
          <ac:spMkLst>
            <pc:docMk/>
            <pc:sldMk cId="1664323133" sldId="305"/>
            <ac:spMk id="394252" creationId="{A196DC15-574A-0342-B176-531298BC7250}"/>
          </ac:spMkLst>
        </pc:spChg>
      </pc:sldChg>
    </pc:docChg>
  </pc:docChgLst>
  <pc:docChgLst>
    <pc:chgData name="Loveless, Daniel" userId="6c8649f3-f880-411c-bced-fbb331f61b80" providerId="ADAL" clId="{289272AA-8E37-1D49-A946-45B9B23748E7}"/>
    <pc:docChg chg="undo custSel modSld delMainMaster">
      <pc:chgData name="Loveless, Daniel" userId="6c8649f3-f880-411c-bced-fbb331f61b80" providerId="ADAL" clId="{289272AA-8E37-1D49-A946-45B9B23748E7}" dt="2024-04-30T18:11:45.026" v="41" actId="1076"/>
      <pc:docMkLst>
        <pc:docMk/>
      </pc:docMkLst>
      <pc:sldChg chg="modSp mod">
        <pc:chgData name="Loveless, Daniel" userId="6c8649f3-f880-411c-bced-fbb331f61b80" providerId="ADAL" clId="{289272AA-8E37-1D49-A946-45B9B23748E7}" dt="2024-04-30T18:11:45.026" v="41" actId="1076"/>
        <pc:sldMkLst>
          <pc:docMk/>
          <pc:sldMk cId="2224448291" sldId="270"/>
        </pc:sldMkLst>
        <pc:spChg chg="mod">
          <ac:chgData name="Loveless, Daniel" userId="6c8649f3-f880-411c-bced-fbb331f61b80" providerId="ADAL" clId="{289272AA-8E37-1D49-A946-45B9B23748E7}" dt="2024-04-30T18:11:45.026" v="41" actId="1076"/>
          <ac:spMkLst>
            <pc:docMk/>
            <pc:sldMk cId="2224448291" sldId="270"/>
            <ac:spMk id="357384" creationId="{4BC8BB92-25A0-F540-9CCA-474C2AB93437}"/>
          </ac:spMkLst>
        </pc:spChg>
        <pc:graphicFrameChg chg="mod">
          <ac:chgData name="Loveless, Daniel" userId="6c8649f3-f880-411c-bced-fbb331f61b80" providerId="ADAL" clId="{289272AA-8E37-1D49-A946-45B9B23748E7}" dt="2024-04-30T17:23:19.147" v="38" actId="1076"/>
          <ac:graphicFrameMkLst>
            <pc:docMk/>
            <pc:sldMk cId="2224448291" sldId="270"/>
            <ac:graphicFrameMk id="49158" creationId="{727A53B3-EE19-9A4B-B5E4-62DC6F8E8888}"/>
          </ac:graphicFrameMkLst>
        </pc:graphicFrameChg>
      </pc:sldChg>
      <pc:sldChg chg="modSp mod">
        <pc:chgData name="Loveless, Daniel" userId="6c8649f3-f880-411c-bced-fbb331f61b80" providerId="ADAL" clId="{289272AA-8E37-1D49-A946-45B9B23748E7}" dt="2024-02-13T17:30:27.923" v="11" actId="1036"/>
        <pc:sldMkLst>
          <pc:docMk/>
          <pc:sldMk cId="3767043362" sldId="274"/>
        </pc:sldMkLst>
        <pc:spChg chg="mod">
          <ac:chgData name="Loveless, Daniel" userId="6c8649f3-f880-411c-bced-fbb331f61b80" providerId="ADAL" clId="{289272AA-8E37-1D49-A946-45B9B23748E7}" dt="2024-02-13T17:30:27.923" v="11" actId="1036"/>
          <ac:spMkLst>
            <pc:docMk/>
            <pc:sldMk cId="3767043362" sldId="274"/>
            <ac:spMk id="63492" creationId="{4BC54DB2-6FE1-5143-BFB0-12052C0207D5}"/>
          </ac:spMkLst>
        </pc:spChg>
      </pc:sldChg>
      <pc:sldChg chg="modSp mod">
        <pc:chgData name="Loveless, Daniel" userId="6c8649f3-f880-411c-bced-fbb331f61b80" providerId="ADAL" clId="{289272AA-8E37-1D49-A946-45B9B23748E7}" dt="2024-02-13T17:52:17.026" v="23" actId="1076"/>
        <pc:sldMkLst>
          <pc:docMk/>
          <pc:sldMk cId="1892982958" sldId="277"/>
        </pc:sldMkLst>
        <pc:spChg chg="mod">
          <ac:chgData name="Loveless, Daniel" userId="6c8649f3-f880-411c-bced-fbb331f61b80" providerId="ADAL" clId="{289272AA-8E37-1D49-A946-45B9B23748E7}" dt="2024-02-13T17:41:32.761" v="16" actId="1076"/>
          <ac:spMkLst>
            <pc:docMk/>
            <pc:sldMk cId="1892982958" sldId="277"/>
            <ac:spMk id="364553" creationId="{38A50470-A929-644E-BC69-FE37F2EDD04F}"/>
          </ac:spMkLst>
        </pc:spChg>
        <pc:spChg chg="mod">
          <ac:chgData name="Loveless, Daniel" userId="6c8649f3-f880-411c-bced-fbb331f61b80" providerId="ADAL" clId="{289272AA-8E37-1D49-A946-45B9B23748E7}" dt="2024-02-13T17:33:39.944" v="14" actId="14100"/>
          <ac:spMkLst>
            <pc:docMk/>
            <pc:sldMk cId="1892982958" sldId="277"/>
            <ac:spMk id="364554" creationId="{4D9CAF6F-CAFB-E443-9A80-005AE3F05194}"/>
          </ac:spMkLst>
        </pc:spChg>
        <pc:spChg chg="mod">
          <ac:chgData name="Loveless, Daniel" userId="6c8649f3-f880-411c-bced-fbb331f61b80" providerId="ADAL" clId="{289272AA-8E37-1D49-A946-45B9B23748E7}" dt="2024-02-13T17:33:36.719" v="13" actId="14100"/>
          <ac:spMkLst>
            <pc:docMk/>
            <pc:sldMk cId="1892982958" sldId="277"/>
            <ac:spMk id="364555" creationId="{F1A77055-4CFB-E248-B7BA-FDFD33336A65}"/>
          </ac:spMkLst>
        </pc:spChg>
        <pc:picChg chg="mod">
          <ac:chgData name="Loveless, Daniel" userId="6c8649f3-f880-411c-bced-fbb331f61b80" providerId="ADAL" clId="{289272AA-8E37-1D49-A946-45B9B23748E7}" dt="2024-02-13T17:52:17.026" v="23" actId="1076"/>
          <ac:picMkLst>
            <pc:docMk/>
            <pc:sldMk cId="1892982958" sldId="277"/>
            <ac:picMk id="4" creationId="{186E0143-60FA-48EB-8D5C-674DF845739C}"/>
          </ac:picMkLst>
        </pc:picChg>
      </pc:sldChg>
      <pc:sldChg chg="modSp">
        <pc:chgData name="Loveless, Daniel" userId="6c8649f3-f880-411c-bced-fbb331f61b80" providerId="ADAL" clId="{289272AA-8E37-1D49-A946-45B9B23748E7}" dt="2024-04-30T17:25:21.521" v="39" actId="1076"/>
        <pc:sldMkLst>
          <pc:docMk/>
          <pc:sldMk cId="3781566893" sldId="297"/>
        </pc:sldMkLst>
        <pc:spChg chg="mod">
          <ac:chgData name="Loveless, Daniel" userId="6c8649f3-f880-411c-bced-fbb331f61b80" providerId="ADAL" clId="{289272AA-8E37-1D49-A946-45B9B23748E7}" dt="2024-04-30T17:25:21.521" v="39" actId="1076"/>
          <ac:spMkLst>
            <pc:docMk/>
            <pc:sldMk cId="3781566893" sldId="297"/>
            <ac:spMk id="386063" creationId="{AF4563EE-8DFA-A445-83B6-0108049BEDD4}"/>
          </ac:spMkLst>
        </pc:spChg>
      </pc:sldChg>
      <pc:sldChg chg="addSp delSp modSp mod modAnim">
        <pc:chgData name="Loveless, Daniel" userId="6c8649f3-f880-411c-bced-fbb331f61b80" providerId="ADAL" clId="{289272AA-8E37-1D49-A946-45B9B23748E7}" dt="2024-02-13T17:52:57.401" v="28" actId="478"/>
        <pc:sldMkLst>
          <pc:docMk/>
          <pc:sldMk cId="3078633243" sldId="303"/>
        </pc:sldMkLst>
        <pc:spChg chg="add del mod">
          <ac:chgData name="Loveless, Daniel" userId="6c8649f3-f880-411c-bced-fbb331f61b80" providerId="ADAL" clId="{289272AA-8E37-1D49-A946-45B9B23748E7}" dt="2024-02-13T17:52:57.401" v="28" actId="478"/>
          <ac:spMkLst>
            <pc:docMk/>
            <pc:sldMk cId="3078633243" sldId="303"/>
            <ac:spMk id="3" creationId="{7DE21550-3AEA-AB68-A4EC-2A19B1BA4F14}"/>
          </ac:spMkLst>
        </pc:spChg>
        <pc:picChg chg="add mod">
          <ac:chgData name="Loveless, Daniel" userId="6c8649f3-f880-411c-bced-fbb331f61b80" providerId="ADAL" clId="{289272AA-8E37-1D49-A946-45B9B23748E7}" dt="2024-02-13T17:52:32.416" v="25" actId="1076"/>
          <ac:picMkLst>
            <pc:docMk/>
            <pc:sldMk cId="3078633243" sldId="303"/>
            <ac:picMk id="2" creationId="{3D42EE0C-464F-5F3D-457C-56F79BDE980B}"/>
          </ac:picMkLst>
        </pc:picChg>
      </pc:sldChg>
      <pc:sldMasterChg chg="del delSldLayout">
        <pc:chgData name="Loveless, Daniel" userId="6c8649f3-f880-411c-bced-fbb331f61b80" providerId="ADAL" clId="{289272AA-8E37-1D49-A946-45B9B23748E7}" dt="2024-02-15T17:48:09.603" v="35" actId="2696"/>
        <pc:sldMasterMkLst>
          <pc:docMk/>
          <pc:sldMasterMk cId="1077791022" sldId="2147485431"/>
        </pc:sldMasterMkLst>
        <pc:sldLayoutChg chg="del">
          <pc:chgData name="Loveless, Daniel" userId="6c8649f3-f880-411c-bced-fbb331f61b80" providerId="ADAL" clId="{289272AA-8E37-1D49-A946-45B9B23748E7}" dt="2024-02-15T17:48:09.567" v="30" actId="2696"/>
          <pc:sldLayoutMkLst>
            <pc:docMk/>
            <pc:sldMasterMk cId="1077791022" sldId="2147485431"/>
            <pc:sldLayoutMk cId="2113250393" sldId="2147485440"/>
          </pc:sldLayoutMkLst>
        </pc:sldLayoutChg>
        <pc:sldLayoutChg chg="del">
          <pc:chgData name="Loveless, Daniel" userId="6c8649f3-f880-411c-bced-fbb331f61b80" providerId="ADAL" clId="{289272AA-8E37-1D49-A946-45B9B23748E7}" dt="2024-02-15T17:48:09.567" v="31" actId="2696"/>
          <pc:sldLayoutMkLst>
            <pc:docMk/>
            <pc:sldMasterMk cId="1077791022" sldId="2147485431"/>
            <pc:sldLayoutMk cId="1047750403" sldId="2147485441"/>
          </pc:sldLayoutMkLst>
        </pc:sldLayoutChg>
        <pc:sldLayoutChg chg="del">
          <pc:chgData name="Loveless, Daniel" userId="6c8649f3-f880-411c-bced-fbb331f61b80" providerId="ADAL" clId="{289272AA-8E37-1D49-A946-45B9B23748E7}" dt="2024-02-15T17:48:09.571" v="32" actId="2696"/>
          <pc:sldLayoutMkLst>
            <pc:docMk/>
            <pc:sldMasterMk cId="1077791022" sldId="2147485431"/>
            <pc:sldLayoutMk cId="680716107" sldId="2147485453"/>
          </pc:sldLayoutMkLst>
        </pc:sldLayoutChg>
        <pc:sldLayoutChg chg="del">
          <pc:chgData name="Loveless, Daniel" userId="6c8649f3-f880-411c-bced-fbb331f61b80" providerId="ADAL" clId="{289272AA-8E37-1D49-A946-45B9B23748E7}" dt="2024-02-15T17:48:09.565" v="29" actId="2696"/>
          <pc:sldLayoutMkLst>
            <pc:docMk/>
            <pc:sldMasterMk cId="1077791022" sldId="2147485431"/>
            <pc:sldLayoutMk cId="1313727348" sldId="2147485510"/>
          </pc:sldLayoutMkLst>
        </pc:sldLayoutChg>
        <pc:sldLayoutChg chg="del">
          <pc:chgData name="Loveless, Daniel" userId="6c8649f3-f880-411c-bced-fbb331f61b80" providerId="ADAL" clId="{289272AA-8E37-1D49-A946-45B9B23748E7}" dt="2024-02-15T17:48:09.572" v="33" actId="2696"/>
          <pc:sldLayoutMkLst>
            <pc:docMk/>
            <pc:sldMasterMk cId="1077791022" sldId="2147485431"/>
            <pc:sldLayoutMk cId="1131590286" sldId="2147485512"/>
          </pc:sldLayoutMkLst>
        </pc:sldLayoutChg>
        <pc:sldLayoutChg chg="del">
          <pc:chgData name="Loveless, Daniel" userId="6c8649f3-f880-411c-bced-fbb331f61b80" providerId="ADAL" clId="{289272AA-8E37-1D49-A946-45B9B23748E7}" dt="2024-02-15T17:48:09.572" v="34" actId="2696"/>
          <pc:sldLayoutMkLst>
            <pc:docMk/>
            <pc:sldMasterMk cId="1077791022" sldId="2147485431"/>
            <pc:sldLayoutMk cId="2982562463" sldId="214748551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BC0BB-F774-4303-9701-003B3E743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EB52217F-109B-4561-ACE4-BE073A308A21}" type="datetimeFigureOut">
              <a:rPr lang="en-US" altLang="en-US"/>
              <a:pPr>
                <a:defRPr/>
              </a:pPr>
              <a:t>2/19/26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2/17/26</a:t>
            </a:fld>
            <a:endParaRPr lang="en-US" alt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Hello and welcome to the CMOS VLSI Design course. Our focus today will be on logical effort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2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516C1422-85A1-564D-A764-8011C09BC2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73C604-78E2-8746-95AF-3A1BD13D1B85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 dirty="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FA283B3-98F9-354A-AC44-B554D6E4A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CD10E155-59CB-5842-BAA2-1B9C8ED78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095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A72D5816-A513-DF47-B783-F2DA7A0899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0D7F91-A1AB-9140-9F28-D7D43120EC33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 dirty="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2125C644-2235-7641-8392-D879C95A8C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87A7669-F16A-F142-AD5E-EEAF0953F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noProof="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Why use Logical Effort?</a:t>
            </a:r>
          </a:p>
          <a:p>
            <a:pPr eaLnBrk="1" hangingPunct="1"/>
            <a:endParaRPr lang="es-E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This method gives the ability to estimate a delay so that we can design with the least propagation delay.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4443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7EDFD69A-D626-EC4E-A7DC-C4A71EAB5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C6062B-D16E-2643-9104-64D83CB13468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 dirty="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CD5C82DB-8B3B-2A4E-9C8B-8F62557855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C53A927-A9A1-404A-B495-C1D5E380B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noProof="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Near the end of the slides</a:t>
            </a:r>
            <a:r>
              <a:rPr lang="en-GB" altLang="en-US" b="1" noProof="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,</a:t>
            </a:r>
            <a:r>
              <a:rPr lang="en-GB" altLang="en-US" noProof="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we will be revisiting this example to solve it with the theory learned.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5287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2C69D682-C013-6E4E-B46A-1A47A77566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3DFC8AA-985D-554D-B57F-44F7B36696D9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 dirty="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95617FDA-57B8-6441-A625-AFF55724FA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7D63E5F-9A56-E142-9253-8071ECCB7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Delay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is expressed as dimensionless units to </a:t>
            </a:r>
            <a:r>
              <a:rPr lang="es-ES" altLang="en-US" dirty="0" err="1">
                <a:latin typeface="Times New Roman"/>
                <a:ea typeface="ＭＳ Ｐゴシック"/>
                <a:cs typeface="Times New Roman"/>
              </a:rPr>
              <a:t>isolate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s-ES" altLang="en-US" dirty="0" err="1">
                <a:latin typeface="Times New Roman"/>
                <a:ea typeface="ＭＳ Ｐゴシック"/>
                <a:cs typeface="Times New Roman"/>
              </a:rPr>
              <a:t>the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effect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of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fabrication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process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.</a:t>
            </a:r>
          </a:p>
          <a:p>
            <a:pPr eaLnBrk="1" hangingPunct="1"/>
            <a:endParaRPr lang="en-GB" altLang="en-US" noProof="0" dirty="0">
              <a:latin typeface="Times New Roman"/>
              <a:ea typeface="ＭＳ Ｐゴシック"/>
              <a:cs typeface="Times New Roman"/>
            </a:endParaRPr>
          </a:p>
          <a:p>
            <a:pPr eaLnBrk="1" hangingPunct="1"/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Delay in a logical gate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s-ES" altLang="en-US" dirty="0" err="1">
                <a:latin typeface="Times New Roman"/>
                <a:ea typeface="ＭＳ Ｐゴシック"/>
                <a:cs typeface="Times New Roman"/>
              </a:rPr>
              <a:t>have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two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s-ES" altLang="en-US" dirty="0" err="1">
                <a:latin typeface="Times New Roman"/>
                <a:ea typeface="ＭＳ Ｐゴシック"/>
                <a:cs typeface="Times New Roman"/>
              </a:rPr>
              <a:t>components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.</a:t>
            </a:r>
          </a:p>
          <a:p>
            <a:endParaRPr lang="en-GB" altLang="en-US" dirty="0">
              <a:latin typeface="Times New Roman"/>
              <a:ea typeface="ＭＳ Ｐゴシック"/>
              <a:cs typeface="Times New Roman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s-ES" altLang="en-US" dirty="0" err="1">
                <a:latin typeface="Times New Roman"/>
                <a:ea typeface="ＭＳ Ｐゴシック"/>
                <a:cs typeface="Times New Roman"/>
              </a:rPr>
              <a:t>The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s-ES" altLang="en-US" dirty="0" err="1">
                <a:latin typeface="Times New Roman"/>
                <a:ea typeface="ＭＳ Ｐゴシック"/>
                <a:cs typeface="Times New Roman"/>
              </a:rPr>
              <a:t>effort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s-ES" altLang="en-US" dirty="0" err="1">
                <a:latin typeface="Times New Roman"/>
                <a:ea typeface="ＭＳ Ｐゴシック"/>
                <a:cs typeface="Times New Roman"/>
              </a:rPr>
              <a:t>delay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f: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due to the 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load,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which can be calculated with the logic effort and electric effort.</a:t>
            </a:r>
            <a:endParaRPr lang="es-E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and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the parasitic delay 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p:</a:t>
            </a:r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 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due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to</a:t>
            </a:r>
            <a:r>
              <a:rPr lang="es-ES" altLang="en-US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GB" altLang="en-US" noProof="0" dirty="0">
                <a:latin typeface="Times New Roman"/>
                <a:ea typeface="ＭＳ Ｐゴシック"/>
                <a:cs typeface="Times New Roman"/>
              </a:rPr>
              <a:t>the parasitic</a:t>
            </a:r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 capacitance.</a:t>
            </a:r>
            <a:endParaRPr lang="en-GB" altLang="en-US" noProof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GB" altLang="en-US" noProof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5416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5EF1473C-D682-684D-820C-F74E1EC30F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5D3EEC4-E7B9-6144-97E2-F8CEDF36A490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 dirty="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DFDEC775-02EE-4F49-8846-30D2EAFABE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8D2E7D6-7B18-B443-8BC4-FC5615EC7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Here we have a plot of the Normalized Delay vs</a:t>
            </a:r>
            <a:r>
              <a:rPr lang="en-GB" altLang="en-US" b="1" dirty="0">
                <a:latin typeface="Times New Roman"/>
                <a:ea typeface="ＭＳ Ｐゴシック"/>
                <a:cs typeface="Times New Roman"/>
              </a:rPr>
              <a:t>.</a:t>
            </a:r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 Electrical Effort for 2-input NAND gate and inverter.</a:t>
            </a:r>
          </a:p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0740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517278D8-CB01-B548-B82E-4376BEE6D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9C10B00-6CDA-FE40-8D74-94949644340F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 dirty="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FB54B30-065B-054F-B6A2-19C3A78173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8218229-C789-9B49-B708-7EEB2A7BE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Here we practice with an example how to estimate the logical effort for gates.</a:t>
            </a:r>
          </a:p>
          <a:p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b="0" dirty="0">
                <a:latin typeface="Times New Roman"/>
                <a:ea typeface="ＭＳ Ｐゴシック"/>
                <a:cs typeface="Times New Roman"/>
              </a:rPr>
              <a:t>The circuits shown in this slide have their gate widths sized for uniform rise and fall time of the output.</a:t>
            </a:r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b="0" dirty="0">
                <a:latin typeface="Times New Roman"/>
                <a:ea typeface="ＭＳ Ｐゴシック"/>
                <a:cs typeface="Times New Roman"/>
              </a:rPr>
              <a:t>Logical effort g = </a:t>
            </a:r>
            <a:r>
              <a:rPr lang="en-GB" altLang="en-US" b="0" dirty="0" err="1">
                <a:latin typeface="Times New Roman"/>
                <a:ea typeface="ＭＳ Ｐゴシック"/>
                <a:cs typeface="Times New Roman"/>
              </a:rPr>
              <a:t>Cin_gate</a:t>
            </a:r>
            <a:r>
              <a:rPr lang="en-GB" altLang="en-US" b="0" dirty="0">
                <a:latin typeface="Times New Roman"/>
                <a:ea typeface="ＭＳ Ｐゴシック"/>
                <a:cs typeface="Times New Roman"/>
              </a:rPr>
              <a:t> / </a:t>
            </a:r>
            <a:r>
              <a:rPr lang="en-GB" altLang="en-US" b="0" dirty="0" err="1">
                <a:latin typeface="Times New Roman"/>
                <a:ea typeface="ＭＳ Ｐゴシック"/>
                <a:cs typeface="Times New Roman"/>
              </a:rPr>
              <a:t>Cin_inverter</a:t>
            </a:r>
            <a:r>
              <a:rPr lang="en-GB" altLang="en-US" b="0" dirty="0">
                <a:latin typeface="Times New Roman"/>
                <a:ea typeface="ＭＳ Ｐゴシック"/>
                <a:cs typeface="Times New Roman"/>
              </a:rPr>
              <a:t>.</a:t>
            </a:r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r>
              <a:rPr lang="en-GB" altLang="en-US" b="0" dirty="0">
                <a:latin typeface="Times New Roman"/>
                <a:ea typeface="ＭＳ Ｐゴシック"/>
                <a:cs typeface="Times New Roman"/>
              </a:rPr>
              <a:t>In the first example, the two transistors are in series. The input capacitance of the inverter is 3 (2 + 1). Therefore, the logical effort of the inverter is g=3/3=1.</a:t>
            </a:r>
          </a:p>
          <a:p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r>
              <a:rPr lang="en-GB" altLang="en-US" b="0" dirty="0">
                <a:latin typeface="Times New Roman"/>
                <a:ea typeface="ＭＳ Ｐゴシック"/>
                <a:cs typeface="Times New Roman"/>
              </a:rPr>
              <a:t>The second circuit is a NAND gate. The input capacitance of the NAND gate is 2+2 = 4 (consider the PMOS and NMOS gates). Therefore, the logical effort for the 2-input NAND gate is g = 4/3 (remember </a:t>
            </a:r>
            <a:r>
              <a:rPr lang="en-GB" b="0" dirty="0">
                <a:ea typeface="ＭＳ Ｐゴシック"/>
                <a:cs typeface="Calibri"/>
              </a:rPr>
              <a:t>Logical effort g = </a:t>
            </a:r>
            <a:r>
              <a:rPr lang="en-GB" b="0" dirty="0" err="1">
                <a:ea typeface="ＭＳ Ｐゴシック"/>
                <a:cs typeface="Calibri"/>
              </a:rPr>
              <a:t>Cin_gate</a:t>
            </a:r>
            <a:r>
              <a:rPr lang="en-GB" b="0" dirty="0">
                <a:ea typeface="ＭＳ Ｐゴシック"/>
                <a:cs typeface="Calibri"/>
              </a:rPr>
              <a:t> / </a:t>
            </a:r>
            <a:r>
              <a:rPr lang="en-GB" b="0" dirty="0" err="1">
                <a:ea typeface="ＭＳ Ｐゴシック"/>
                <a:cs typeface="Calibri"/>
              </a:rPr>
              <a:t>Cin_inverter</a:t>
            </a:r>
            <a:r>
              <a:rPr lang="en-GB" b="0" dirty="0">
                <a:ea typeface="ＭＳ Ｐゴシック"/>
                <a:cs typeface="Calibri"/>
              </a:rPr>
              <a:t>).</a:t>
            </a:r>
            <a:endParaRPr lang="en-GB" altLang="en-US" b="0" dirty="0">
              <a:latin typeface="Times New Roman"/>
              <a:ea typeface="ＭＳ Ｐゴシック"/>
              <a:cs typeface="Times New Roman"/>
            </a:endParaRPr>
          </a:p>
          <a:p>
            <a:endParaRPr lang="en-GB" altLang="en-US" b="0" dirty="0">
              <a:latin typeface="Times New Roman"/>
              <a:ea typeface="ＭＳ Ｐゴシック"/>
              <a:cs typeface="Times New Roman"/>
            </a:endParaRPr>
          </a:p>
          <a:p>
            <a:pPr eaLnBrk="1" hangingPunct="1"/>
            <a:r>
              <a:rPr lang="en-GB" altLang="en-US" b="0" dirty="0">
                <a:latin typeface="Times New Roman"/>
                <a:ea typeface="ＭＳ Ｐゴシック"/>
                <a:cs typeface="Times New Roman"/>
              </a:rPr>
              <a:t>The third circuit is an OR gate. </a:t>
            </a:r>
            <a:r>
              <a:rPr lang="en-GB" b="0" dirty="0">
                <a:ea typeface="ＭＳ Ｐゴシック"/>
                <a:cs typeface="Calibri"/>
              </a:rPr>
              <a:t>The input capacitance of the OR gate is 4+1 = 5 (consider the PMOS and NMOS gates for an input). Therefore, the logical effort for the 2-input OR gate is g = 5/3.</a:t>
            </a:r>
            <a:endParaRPr lang="en-GB" altLang="en-US" b="0" dirty="0">
              <a:latin typeface="Times New Roman" panose="02020603050405020304" pitchFamily="18" charset="0"/>
              <a:ea typeface="ＭＳ Ｐゴシック"/>
              <a:cs typeface="Calibri"/>
            </a:endParaRPr>
          </a:p>
          <a:p>
            <a:pPr eaLnBrk="1" hangingPunct="1"/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GB" altLang="en-US" b="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b="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6095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444D73A-99F7-E44C-9B59-6ED248C621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DE537A-01C5-674D-9FBD-D467A629B8F0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 dirty="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132BEDAE-41C0-F34D-8F86-4D7D9CA21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CF399ED-2BCA-C143-A9C6-3C21B5E65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Here is a logical effort reference table for common gates with n number of inputs.</a:t>
            </a:r>
          </a:p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4076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3AB5C8B8-3D86-ED4D-8012-062DCBE9A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4EC881-E089-1541-B3E6-3439F9979989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 dirty="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192F06E-AF8A-5942-84C6-3AAED8F987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C49E082-6D5D-2547-A8F1-890A23EB2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Table shows an estimate for the parasitic delay of common logic gates with n number of inputs.</a:t>
            </a:r>
          </a:p>
        </p:txBody>
      </p:sp>
    </p:spTree>
    <p:extLst>
      <p:ext uri="{BB962C8B-B14F-4D97-AF65-F5344CB8AC3E}">
        <p14:creationId xmlns:p14="http://schemas.microsoft.com/office/powerpoint/2010/main" val="3307694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AD12B35-8C56-6349-BB9A-8E8FB53C6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3CC3F01-A7AE-6A4F-8181-9EA9E251E112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 dirty="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6044FC45-4F76-1847-B198-456801CA63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8B763C7-47FA-CA43-B8CF-8CC6DC221D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 this example</a:t>
            </a:r>
            <a:r>
              <a:rPr lang="en-GB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,</a:t>
            </a:r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the frequency of the ring oscillator is inversely proportional to the stage delay. The stage delay = gh+p= 1*1+1=2.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9128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3A1B1A20-238A-2B4E-9B9F-365364EE68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782724-67AF-7547-8534-8D1661ADCA4C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 dirty="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D2F8492E-8F6B-A44B-8CAE-192A32065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1A191E4-F981-0C49-82CE-D437CADD3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noProof="0" dirty="0">
                <a:latin typeface="Times New Roman"/>
                <a:ea typeface="ＭＳ Ｐゴシック"/>
                <a:cs typeface="Times New Roman"/>
              </a:rPr>
              <a:t>Here, in this example, the delay of a fanout-of-4 inverter is estimated.</a:t>
            </a:r>
          </a:p>
          <a:p>
            <a:pPr eaLnBrk="1" hangingPunct="1"/>
            <a:endParaRPr lang="en-US" altLang="en-US" noProof="0" dirty="0">
              <a:latin typeface="Times New Roman"/>
              <a:ea typeface="ＭＳ Ｐゴシック"/>
              <a:cs typeface="Times New Roman"/>
            </a:endParaRPr>
          </a:p>
          <a:p>
            <a:pPr eaLnBrk="1" hangingPunct="1"/>
            <a:r>
              <a:rPr lang="en-US" altLang="en-US" noProof="0" dirty="0">
                <a:latin typeface="Times New Roman"/>
                <a:ea typeface="ＭＳ Ｐゴシック"/>
                <a:cs typeface="Times New Roman"/>
              </a:rPr>
              <a:t>Stage delay = gh+p= 1*4+1=5.</a:t>
            </a:r>
            <a:endParaRPr lang="en-US" altLang="en-US" noProof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noProof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s-E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9203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A2A4EA3-9A24-9D4B-8AD6-6AFF1D2AA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5765CDF-D5B0-CA48-B8E1-C840EE453906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 dirty="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DEADB4E4-302A-E846-8C1B-9472FCEAF7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64BD73D-29B6-D645-B1AB-F7844A7F7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/>
              <a:t>Path logical effort G is the product of the individual logical effort of the gates in the path.</a:t>
            </a:r>
          </a:p>
          <a:p>
            <a:endParaRPr lang="en-GB" dirty="0"/>
          </a:p>
          <a:p>
            <a:r>
              <a:rPr lang="en-GB" dirty="0"/>
              <a:t>Path electrical effort H is the ratio of the output capacitance of the path to the input capacitance of the path. </a:t>
            </a:r>
            <a:endParaRPr lang="en-US" dirty="0"/>
          </a:p>
          <a:p>
            <a:endParaRPr lang="en-GB" dirty="0"/>
          </a:p>
          <a:p>
            <a:r>
              <a:rPr lang="en-GB" dirty="0"/>
              <a:t>Path effort F is the product of the path logical effort and path electrical effort. </a:t>
            </a:r>
          </a:p>
          <a:p>
            <a:endParaRPr lang="en-GB" dirty="0"/>
          </a:p>
          <a:p>
            <a:r>
              <a:rPr lang="en-GB" dirty="0"/>
              <a:t>G = g1*g2*g3*g4 =20/9</a:t>
            </a:r>
          </a:p>
          <a:p>
            <a:endParaRPr lang="en-GB" dirty="0"/>
          </a:p>
          <a:p>
            <a:r>
              <a:rPr lang="en-GB" dirty="0"/>
              <a:t>H=</a:t>
            </a:r>
            <a:r>
              <a:rPr lang="en-GB" dirty="0" err="1"/>
              <a:t>Cout</a:t>
            </a:r>
            <a:r>
              <a:rPr lang="en-GB" dirty="0"/>
              <a:t>/</a:t>
            </a:r>
            <a:r>
              <a:rPr lang="en-GB" dirty="0" err="1"/>
              <a:t>Cin</a:t>
            </a:r>
            <a:r>
              <a:rPr lang="en-GB" dirty="0"/>
              <a:t>=20/10=2</a:t>
            </a:r>
            <a:endParaRPr lang="en-US" dirty="0"/>
          </a:p>
          <a:p>
            <a:endParaRPr lang="en-GB" dirty="0"/>
          </a:p>
          <a:p>
            <a:r>
              <a:rPr lang="en-GB" dirty="0"/>
              <a:t>F=Path Effort=</a:t>
            </a:r>
            <a:r>
              <a:rPr lang="en-GB" dirty="0" err="1"/>
              <a:t>g_i</a:t>
            </a:r>
            <a:r>
              <a:rPr lang="en-GB" dirty="0"/>
              <a:t>*</a:t>
            </a:r>
            <a:r>
              <a:rPr lang="en-GB" dirty="0" err="1"/>
              <a:t>h_i</a:t>
            </a:r>
            <a:r>
              <a:rPr lang="en-GB" dirty="0"/>
              <a:t>=20/9*2=40/9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3030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E7DA272E-037A-4240-9577-BA07C138A6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73ACA5D-BCDF-1542-9805-56044C3E96A5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 dirty="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53E943B2-AB2C-4642-BF18-B65F34D486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F4E7F39-9F85-0C4C-94A0-02BC4D7AF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From the result of the previous slide, it may seem that F = GH. In the next slide, we will see if this is true.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584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7CFEC7FE-A99A-A849-A64E-BA05680E6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FA0B3CB-48B5-154A-9995-E31ACA74790B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 dirty="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0B524526-ED69-194B-A48A-C031D424C4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82916E9-7731-0149-B8A5-14D889BE4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In the case of a path with a branch as shown in this slide, the path effort can be calculated thus:</a:t>
            </a:r>
            <a:endParaRPr lang="en-US" dirty="0">
              <a:cs typeface="Calibri"/>
            </a:endParaRPr>
          </a:p>
          <a:p>
            <a:endParaRPr lang="en-GB" altLang="en-US" dirty="0">
              <a:latin typeface="Times New Roman"/>
              <a:ea typeface="ＭＳ Ｐゴシック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For the branch</a:t>
            </a:r>
            <a:endParaRPr lang="en-GB" altLang="en-US" dirty="0">
              <a:latin typeface="Times New Roman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G = 1 (1*1)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H = </a:t>
            </a:r>
            <a:r>
              <a:rPr lang="en-GB" altLang="en-US" dirty="0" err="1">
                <a:latin typeface="Times New Roman"/>
                <a:ea typeface="ＭＳ Ｐゴシック"/>
                <a:cs typeface="Times New Roman"/>
              </a:rPr>
              <a:t>C_output</a:t>
            </a:r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/</a:t>
            </a:r>
            <a:r>
              <a:rPr lang="en-GB" altLang="en-US" dirty="0" err="1">
                <a:latin typeface="Times New Roman"/>
                <a:ea typeface="ＭＳ Ｐゴシック"/>
                <a:cs typeface="Times New Roman"/>
              </a:rPr>
              <a:t>C_input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Therefore GH = 18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Input Inverter: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h = 30/5 = 6. (The output capacitance of 30 is the total load capacitance driven by the inverter).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dirty="0" err="1">
                <a:latin typeface="Times New Roman"/>
                <a:ea typeface="ＭＳ Ｐゴシック"/>
                <a:cs typeface="Times New Roman"/>
              </a:rPr>
              <a:t>Ouput</a:t>
            </a:r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 Inverter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H = 90/15 = 6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endParaRPr lang="en-GB" altLang="en-US" dirty="0">
              <a:latin typeface="Times New Roman"/>
              <a:ea typeface="ＭＳ Ｐゴシック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Therefore, F = g_1 * g_2 *  h_1 * h_2  = 1*1*6*6 = 36</a:t>
            </a:r>
          </a:p>
          <a:p>
            <a:endParaRPr lang="en-GB" altLang="en-US" dirty="0">
              <a:latin typeface="Times New Roman"/>
              <a:ea typeface="ＭＳ Ｐゴシック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Thus, F = GH is not always correct.</a:t>
            </a:r>
          </a:p>
          <a:p>
            <a:endParaRPr lang="en-GB" altLang="en-US" dirty="0">
              <a:latin typeface="Times New Roman"/>
              <a:ea typeface="ＭＳ Ｐゴシック"/>
              <a:cs typeface="Times New Roman"/>
            </a:endParaRPr>
          </a:p>
          <a:p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 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6522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19D81631-7407-A243-87FD-A8A5072263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7F5C250-3E28-8442-BD3C-AEF6CB6C61B0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 dirty="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A64BC1B-14A5-4044-B9AE-8BA56A2301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765B530-0417-A84D-9C74-91F533AAF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noProof="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Introducing the Branching effort formula.</a:t>
            </a:r>
            <a:r>
              <a:rPr lang="en-US" altLang="en-US" noProof="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The branch effort takes into account the branching stages in the path.</a:t>
            </a:r>
            <a:endParaRPr lang="en-GB" altLang="en-US" noProof="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7511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75C4CD62-1CEA-1C40-B888-DD0C066332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0605B00-012E-CA49-AFCC-337D7E50C372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 dirty="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2333398F-34E7-A144-AB70-FC5AC34D43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A39754D-FC7F-D643-8323-E023D96DFF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74865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3A5F7949-52CC-6849-BC5C-E99BAB3900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9F8D1C-B69D-DC4D-B20F-CC08BF569461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 dirty="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4DA0DA73-25C4-694B-8EA5-0021C9BDF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9324D9A-6A12-EE4B-B0D4-6C14184831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3052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BC986BAC-B27D-CB4B-A93E-21DE3B3E7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D7E34F-556A-7048-9013-88C6823A1668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 dirty="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3E8CFEC2-BAAF-724B-8F15-168C621D28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09948F3-52B4-F242-9008-AD9D2BB99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Gate sizing can be applied to reduce the delay in a path.</a:t>
            </a:r>
          </a:p>
          <a:p>
            <a:endParaRPr lang="en-GB" altLang="en-US" dirty="0">
              <a:latin typeface="Times New Roman"/>
              <a:ea typeface="ＭＳ Ｐゴシック"/>
              <a:cs typeface="Times New Roman"/>
            </a:endParaRPr>
          </a:p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5869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C7B42DB7-E390-424A-AB6E-78853F13FC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B8521E2-D233-6141-BA42-B96BD3D17799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 dirty="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4AC3D008-C58C-EE47-BAA2-300DC39C54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F586987-A116-9E47-97A3-7C20E0FCD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>
                <a:latin typeface="Calibri"/>
                <a:ea typeface="ＭＳ Ｐゴシック"/>
                <a:cs typeface="Calibri"/>
              </a:rPr>
              <a:t>Consider the following example. Try to estimate the gate sizes x and y.</a:t>
            </a:r>
            <a:endParaRPr lang="en-GB" noProof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210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17B6C053-9D9F-D142-BC8B-6A8575AE0B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5A7A95F-4D45-8749-87A8-4C13FDB1400D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 dirty="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97ABF1E0-3196-634A-8DC4-84C0081708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30EC333-042E-674E-8A0E-53993301F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5403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FBAAC64B-4D9E-9A42-9640-C3F0A7A1BF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F0D230-8A73-4B44-82B1-B7D3F765A66F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 dirty="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016076B0-3F9B-7F4A-90E5-B430468D1A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4496C42-D8DD-9C4E-916D-C83FEB9E0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9496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FB243A32-4F09-D848-8FFB-36894F7BE2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4B9432-995D-AE48-8BA4-5C916FCE316B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 dirty="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E690E5E-9AD8-DC49-B635-CF48698B1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8F912CB-6F0A-7F47-B1CA-6BB211110E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238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FCF5BFA4-9285-F64E-8B4E-09D489DE42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85D998-BE89-5E4D-80FF-B8AF5607614A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 dirty="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3BF27C7E-1B89-0140-AA44-7C59C7DACD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6853AB4-DC8F-E940-B296-53E0843E9E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Slide derives formula to find the minimum stage effort.</a:t>
            </a:r>
          </a:p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64295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FCA5E372-7D43-8B47-8363-68A735D4AB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BB9FC4-ABF3-D640-8FF4-097B212F5D2F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 dirty="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49BD022D-DFAF-C345-BF7F-F94319CE82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82F7724-C71A-0841-AFBD-93B082D2B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13556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DAB29C37-FFF4-094D-AA1C-2149545EDF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6C3DCA-4170-5C4A-8F3D-CB7A2B0C643A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 dirty="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95C9BCC9-E26F-694F-8444-6B0DA0E8D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BA5A021-7FA1-3040-8046-422C0D18E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/>
                <a:ea typeface="ＭＳ Ｐゴシック"/>
                <a:cs typeface="Times New Roman"/>
              </a:rPr>
              <a:t> 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73884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857344DF-BF3B-E64C-ABA3-45139B4AC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CAADAC-CB46-F64F-8A6C-0F24FE801515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 dirty="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D842DAA8-EBAD-4E49-9259-51AF84BB7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FE7EED7-4E78-1E4C-8491-B0A3E2D3D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86534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05BD4CB1-577F-D349-AC5D-BC346AB486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676C747-7B3B-D64A-BBFD-C7ED97BB2F09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 dirty="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21E38355-0C8E-7C44-A70C-F1BC4E7481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B16E5C1-86B7-5344-B0FC-04E36D646D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Logical effort, G = INV * NAND4 * INV = 1 *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(n+2)/3 * 1 = 1*(4+2)/3 *1 =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H = 96 / 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B = (y+7y) / y = 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F = B*GH = 8*2*96/10 = 153.6 (F = 76.8 if neglecting G)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N = 3 STAGES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 (path length)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92103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AB6EB66F-9543-C741-BDED-E9AADF128F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5E3917-45A1-6140-A7CA-48C18EE7B8D3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 dirty="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F709C235-EB90-F04B-A3EA-27A9FFD1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16C1A87-8B6A-674D-B6D2-84A2A970C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Logical effort, G = INV * NAND4 * INV = 1 *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(n+2)/3 * 1 = 1*(4+2)/3 *1 =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H = 96 / 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B = (y+7y) / y = 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F = B*GH = 8*2*96/10 = 153.6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N = 3 STAGES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rPr>
              <a:t> (path length)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F^ = F^(1/3) = 5.36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D = NF</a:t>
            </a:r>
            <a:r>
              <a:rPr lang="en-US" altLang="en-US" baseline="30000" dirty="0"/>
              <a:t>1/N</a:t>
            </a:r>
            <a:r>
              <a:rPr lang="en-US" altLang="en-US" dirty="0"/>
              <a:t> + P = 3*F^ + P = 3*5.36 + 1 + 4+ 1 = 22.08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Cin = g*Cout/f^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Z = 1*96/5.36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Y = g*z/5.36</a:t>
            </a:r>
          </a:p>
        </p:txBody>
      </p:sp>
    </p:spTree>
    <p:extLst>
      <p:ext uri="{BB962C8B-B14F-4D97-AF65-F5344CB8AC3E}">
        <p14:creationId xmlns:p14="http://schemas.microsoft.com/office/powerpoint/2010/main" val="16828053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DDBB5691-7B29-6746-9011-DB07EA9B8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46673E-8F7D-844C-BBB3-3D3533E2E6F0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 dirty="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B911FC23-50EB-B543-9FC3-A44BAD66B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98173EE-3128-454A-8E1E-AB2F6757F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73200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39434028-F296-B843-90A4-B8597D330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8BCFFA-FE89-4E40-82F2-0E8125A1C787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 dirty="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F8D34315-8EAD-1F45-A7EC-B8FE4802C0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A95D55F-183A-C244-906E-8F63F00AD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Here is the summary of Logical Effort notation. 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32942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4FDFA0E6-8547-1047-81C1-85EAC3AE29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32841E2-B7E5-064C-91EE-F64479E54227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 dirty="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7B1BB234-E992-8748-BE20-C164CF337C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2546ED02-854D-E040-AC83-11737E998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Step</a:t>
            </a:r>
            <a:r>
              <a:rPr lang="en-GB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-</a:t>
            </a:r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by</a:t>
            </a:r>
            <a:r>
              <a:rPr lang="en-GB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-</a:t>
            </a:r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step method of logical effort. 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81276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0C317996-D266-3B42-8D87-B63296FCC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CA79555-F73D-0743-83E3-9982A2D8BAD3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 dirty="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8663E510-BDE2-D548-B8A4-3E84390DD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E3C1EC2E-C186-CD43-883C-C6287BF931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 fontAlgn="base"/>
            <a:r>
              <a:rPr lang="en-GB" sz="1800" b="0" i="0" dirty="0">
                <a:solidFill>
                  <a:srgbClr val="231F20"/>
                </a:solidFill>
                <a:effectLst/>
                <a:latin typeface="Calibri" panose="020F0502020204030204" pitchFamily="34" charset="0"/>
              </a:rPr>
              <a:t>Logical Effort is based on the linear delay model and the simple premise that making the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231F20"/>
                </a:solidFill>
                <a:effectLst/>
                <a:latin typeface="Calibri" panose="020F0502020204030204" pitchFamily="34" charset="0"/>
              </a:rPr>
              <a:t>effort delays of each stage equal minimizes path delay.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231F20"/>
                </a:solidFill>
                <a:effectLst/>
                <a:latin typeface="Calibri" panose="020F0502020204030204" pitchFamily="34" charset="0"/>
              </a:rPr>
              <a:t> 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231F20"/>
                </a:solidFill>
                <a:effectLst/>
                <a:latin typeface="Calibri" panose="020F0502020204030204" pitchFamily="34" charset="0"/>
              </a:rPr>
              <a:t>This simplicity is the method’s greatest strength, but also has several limitations: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231F20"/>
                </a:solidFill>
                <a:effectLst/>
                <a:latin typeface="Calibri" panose="020F0502020204030204" pitchFamily="34" charset="0"/>
              </a:rPr>
              <a:t>It 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is very time consuming for complex circuits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It limits the system modes with low power consumption.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69790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8A634614-3F85-9045-9521-882EDAFAE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06AD3F4-E934-2249-B06F-B03692561891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 dirty="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2D7A1D97-9D55-3145-9270-5A757DA1FF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B52BBC7-6B98-0B4A-B0DD-7093E87BAD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803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6" y="1171111"/>
            <a:ext cx="11233151" cy="4086226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 marL="605504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 marL="85239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3pPr>
            <a:lvl4pPr marL="1163861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4pPr>
            <a:lvl5pPr marL="136674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1970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6" y="991132"/>
            <a:ext cx="11233151" cy="344488"/>
          </a:xfrm>
        </p:spPr>
        <p:txBody>
          <a:bodyPr/>
          <a:lstStyle>
            <a:lvl1pPr marL="0" indent="0">
              <a:buNone/>
              <a:defRPr lang="en-US" sz="216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6" y="1554490"/>
            <a:ext cx="11233151" cy="4087104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FA1F9A-E603-30EE-5D98-2984F93C5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494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133061"/>
            <a:ext cx="11243088" cy="4600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6C1463-1F0A-4DBE-D9B1-ED687057A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38152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609600" y="3064661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1718" y="4656104"/>
            <a:ext cx="10964333" cy="1333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311202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7258" y="478301"/>
            <a:ext cx="10435319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4" y="6410644"/>
            <a:ext cx="312739" cy="124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9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54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6009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20"/>
          <p:cNvSpPr txBox="1">
            <a:spLocks noChangeArrowheads="1"/>
          </p:cNvSpPr>
          <p:nvPr userDrawn="1"/>
        </p:nvSpPr>
        <p:spPr bwMode="auto">
          <a:xfrm>
            <a:off x="982665" y="6413179"/>
            <a:ext cx="1561617" cy="12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r>
              <a:rPr lang="en-US" altLang="en-US" sz="900">
                <a:solidFill>
                  <a:srgbClr val="7F7F7F"/>
                </a:solidFill>
              </a:rPr>
              <a:t>© 2020 Arm Limited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12347-3565-314A-935A-F06376FE34D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38721" y="6378893"/>
            <a:ext cx="774267" cy="236834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4AB2B416-43B6-0517-6622-696EE085B40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3" y="6161560"/>
            <a:ext cx="3776131" cy="6451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6FE385-4105-D07A-642D-69D4DFFCA166}"/>
              </a:ext>
            </a:extLst>
          </p:cNvPr>
          <p:cNvSpPr/>
          <p:nvPr userDrawn="1"/>
        </p:nvSpPr>
        <p:spPr>
          <a:xfrm>
            <a:off x="163569" y="-1836844"/>
            <a:ext cx="977953" cy="284102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63770-89F6-7D91-968B-6C912274121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0937" y="-361258"/>
            <a:ext cx="1718861" cy="16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7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5" r:id="rId1"/>
    <p:sldLayoutId id="2147485516" r:id="rId2"/>
    <p:sldLayoutId id="2147485517" r:id="rId3"/>
    <p:sldLayoutId id="2147485518" r:id="rId4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0" kern="1200" spc="-46">
          <a:solidFill>
            <a:srgbClr val="990000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11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6pPr>
      <a:lvl7pPr marL="82296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7pPr>
      <a:lvl8pPr marL="123444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8pPr>
      <a:lvl9pPr marL="164592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9pPr>
    </p:titleStyle>
    <p:bodyStyle>
      <a:lvl1pPr marL="308610" indent="-308610" algn="l" rtl="0" eaLnBrk="1" fontAlgn="base" hangingPunct="1">
        <a:lnSpc>
          <a:spcPct val="100000"/>
        </a:lnSpc>
        <a:spcBef>
          <a:spcPts val="540"/>
        </a:spcBef>
        <a:spcAft>
          <a:spcPts val="0"/>
        </a:spcAft>
        <a:buClr>
          <a:srgbClr val="990000"/>
        </a:buClr>
        <a:buFont typeface="Arial" charset="0"/>
        <a:buChar char="•"/>
        <a:defRPr sz="216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23208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Arial" charset="0"/>
        <a:buChar char="•"/>
        <a:defRPr sz="1800" kern="1200">
          <a:solidFill>
            <a:srgbClr val="383838"/>
          </a:solidFill>
          <a:latin typeface="+mn-lt"/>
          <a:ea typeface="ＭＳ Ｐゴシック" charset="0"/>
          <a:cs typeface="+mn-cs"/>
        </a:defRPr>
      </a:lvl2pPr>
      <a:lvl3pPr marL="770096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3pPr>
      <a:lvl4pPr marL="1081565" indent="-15573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Wingdings" charset="2"/>
        <a:buChar char="§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4pPr>
      <a:lvl5pPr marL="1284446" indent="-151447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5pPr>
      <a:lvl6pPr marL="148955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69529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190103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10677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9">
          <p15:clr>
            <a:srgbClr val="F26B43"/>
          </p15:clr>
        </p15:guide>
        <p15:guide id="4" orient="horz" pos="300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pos="7378">
          <p15:clr>
            <a:srgbClr val="F26B43"/>
          </p15:clr>
        </p15:guide>
        <p15:guide id="7" pos="302">
          <p15:clr>
            <a:srgbClr val="F26B43"/>
          </p15:clr>
        </p15:guide>
        <p15:guide id="8" pos="70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lovele@i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emf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emf"/><Relationship Id="rId11" Type="http://schemas.openxmlformats.org/officeDocument/2006/relationships/image" Target="../media/image36.png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2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8.emf"/><Relationship Id="rId26" Type="http://schemas.openxmlformats.org/officeDocument/2006/relationships/image" Target="../media/image52.emf"/><Relationship Id="rId3" Type="http://schemas.openxmlformats.org/officeDocument/2006/relationships/oleObject" Target="../embeddings/oleObject34.bin"/><Relationship Id="rId21" Type="http://schemas.openxmlformats.org/officeDocument/2006/relationships/oleObject" Target="../embeddings/oleObject43.bin"/><Relationship Id="rId34" Type="http://schemas.openxmlformats.org/officeDocument/2006/relationships/image" Target="../media/image56.emf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5.emf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33" Type="http://schemas.openxmlformats.org/officeDocument/2006/relationships/oleObject" Target="../embeddings/oleObject49.bin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7.emf"/><Relationship Id="rId20" Type="http://schemas.openxmlformats.org/officeDocument/2006/relationships/image" Target="../media/image49.emf"/><Relationship Id="rId29" Type="http://schemas.openxmlformats.org/officeDocument/2006/relationships/oleObject" Target="../embeddings/oleObject47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51.emf"/><Relationship Id="rId32" Type="http://schemas.openxmlformats.org/officeDocument/2006/relationships/image" Target="../media/image55.emf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28" Type="http://schemas.openxmlformats.org/officeDocument/2006/relationships/image" Target="../media/image53.emf"/><Relationship Id="rId10" Type="http://schemas.openxmlformats.org/officeDocument/2006/relationships/image" Target="../media/image44.emf"/><Relationship Id="rId19" Type="http://schemas.openxmlformats.org/officeDocument/2006/relationships/oleObject" Target="../embeddings/oleObject42.bin"/><Relationship Id="rId31" Type="http://schemas.openxmlformats.org/officeDocument/2006/relationships/oleObject" Target="../embeddings/oleObject48.bin"/><Relationship Id="rId4" Type="http://schemas.openxmlformats.org/officeDocument/2006/relationships/image" Target="../media/image41.e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6.emf"/><Relationship Id="rId22" Type="http://schemas.openxmlformats.org/officeDocument/2006/relationships/image" Target="../media/image50.emf"/><Relationship Id="rId27" Type="http://schemas.openxmlformats.org/officeDocument/2006/relationships/oleObject" Target="../embeddings/oleObject46.bin"/><Relationship Id="rId30" Type="http://schemas.openxmlformats.org/officeDocument/2006/relationships/image" Target="../media/image54.emf"/><Relationship Id="rId8" Type="http://schemas.openxmlformats.org/officeDocument/2006/relationships/image" Target="../media/image43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1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60.e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53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2B48C4D-8906-5A8C-9A88-754FCB4BCF6D}"/>
              </a:ext>
            </a:extLst>
          </p:cNvPr>
          <p:cNvSpPr txBox="1">
            <a:spLocks/>
          </p:cNvSpPr>
          <p:nvPr/>
        </p:nvSpPr>
        <p:spPr>
          <a:xfrm>
            <a:off x="1061507" y="1791025"/>
            <a:ext cx="10057805" cy="204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0" kern="1200" spc="-46">
                <a:solidFill>
                  <a:srgbClr val="990000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41148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6pPr>
            <a:lvl7pPr marL="82296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7pPr>
            <a:lvl8pPr marL="123444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8pPr>
            <a:lvl9pPr marL="164592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/>
              <a:t>6.0 – Logical Effort</a:t>
            </a:r>
            <a:br>
              <a:rPr lang="en-US" dirty="0"/>
            </a:br>
            <a:br>
              <a:rPr lang="en-US" sz="840" dirty="0"/>
            </a:br>
            <a:r>
              <a:rPr lang="en-US" dirty="0"/>
              <a:t>ENGR-E 399/599: VLSI Design</a:t>
            </a:r>
            <a:br>
              <a:rPr lang="en-US" dirty="0"/>
            </a:br>
            <a:r>
              <a:rPr lang="en-US" sz="1680" dirty="0"/>
              <a:t>Prof. Daniel Loveless, </a:t>
            </a:r>
            <a:r>
              <a:rPr lang="en-US" sz="1680" dirty="0">
                <a:hlinkClick r:id="rId3"/>
              </a:rPr>
              <a:t>dlovele@iu.edu</a:t>
            </a:r>
            <a:r>
              <a:rPr lang="en-US" sz="1680" dirty="0"/>
              <a:t>, 812-856-0703</a:t>
            </a:r>
            <a:endParaRPr lang="en-US" dirty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0F6C4C0A-8F11-FC4F-6B3E-4D5BA4A9A6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55467" y="5651785"/>
            <a:ext cx="9281066" cy="333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80" baseline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en-US" sz="1320" dirty="0">
                <a:solidFill>
                  <a:schemeClr val="tx1"/>
                </a:solidFill>
              </a:rPr>
              <a:t>INDIANA UNIVERSITY – Reliable Electronics and Systems</a:t>
            </a:r>
          </a:p>
          <a:p>
            <a:r>
              <a:rPr lang="en-US" dirty="0">
                <a:solidFill>
                  <a:schemeClr val="tx1"/>
                </a:solidFill>
              </a:rPr>
              <a:t>Center for Reliable and Trusted Electronics (CREATE)</a:t>
            </a:r>
            <a:endParaRPr lang="en-US" sz="132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06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18893A3C-ECEB-EB40-AC7D-88BE5EA3D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At the end of this lecture, you should be able to: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Use Logical Effort to estimate the delay of a logic gate and a combinational circuit path.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Apply the method of Logical Effort to determine the best number of stages and best topology to minimize delay of a path.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732E8F9-034D-3843-9F6E-24F0AFBC5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1136888500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>
            <a:extLst>
              <a:ext uri="{FF2B5EF4-FFF2-40B4-BE49-F238E27FC236}">
                <a16:creationId xmlns:a16="http://schemas.microsoft.com/office/drawing/2014/main" id="{1C07B281-F51C-594F-8290-23B94880F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/>
              <a:t>Chip designers face a bewildering array of choices</a:t>
            </a:r>
          </a:p>
          <a:p>
            <a:pPr lvl="1" eaLnBrk="1" hangingPunct="1"/>
            <a:r>
              <a:rPr lang="en-US" altLang="en-US" dirty="0"/>
              <a:t>What is the best circuit topology for a function?</a:t>
            </a:r>
          </a:p>
          <a:p>
            <a:pPr lvl="1" eaLnBrk="1" hangingPunct="1"/>
            <a:r>
              <a:rPr lang="en-US" altLang="en-US" dirty="0"/>
              <a:t>How many stages of logic give least delay?</a:t>
            </a:r>
          </a:p>
          <a:p>
            <a:pPr lvl="1" eaLnBrk="1" hangingPunct="1"/>
            <a:r>
              <a:rPr lang="en-US" altLang="en-US" dirty="0"/>
              <a:t>How wide should the transistors be?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sz="2000" dirty="0"/>
              <a:t>Logical effort is a method to make these decisions</a:t>
            </a:r>
          </a:p>
          <a:p>
            <a:pPr lvl="1" eaLnBrk="1" hangingPunct="1"/>
            <a:r>
              <a:rPr lang="en-US" altLang="en-US" dirty="0"/>
              <a:t>Uses a simple model of delay</a:t>
            </a:r>
          </a:p>
          <a:p>
            <a:pPr lvl="1" eaLnBrk="1" hangingPunct="1"/>
            <a:r>
              <a:rPr lang="en-US" altLang="en-US" dirty="0"/>
              <a:t>Allows back-of-the-envelope calculations</a:t>
            </a:r>
          </a:p>
          <a:p>
            <a:pPr lvl="1" eaLnBrk="1" hangingPunct="1"/>
            <a:r>
              <a:rPr lang="en-US" altLang="en-US" dirty="0"/>
              <a:t>Helps make rapid comparisons between alternatives</a:t>
            </a:r>
          </a:p>
          <a:p>
            <a:pPr lvl="1" eaLnBrk="1" hangingPunct="1"/>
            <a:r>
              <a:rPr lang="en-US" altLang="en-US" dirty="0"/>
              <a:t>Emphasizes remarkable symmetries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2C83738-40AD-F042-8BDE-A824B4383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graphicFrame>
        <p:nvGraphicFramePr>
          <p:cNvPr id="20485" name="Object 6">
            <a:extLst>
              <a:ext uri="{FF2B5EF4-FFF2-40B4-BE49-F238E27FC236}">
                <a16:creationId xmlns:a16="http://schemas.microsoft.com/office/drawing/2014/main" id="{0265D66A-8D6F-A24B-86FA-D59FFD68F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1" y="1752600"/>
          <a:ext cx="136842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235200" imgH="3606800" progId="Visio.Drawing.6">
                  <p:embed/>
                </p:oleObj>
              </mc:Choice>
              <mc:Fallback>
                <p:oleObj name="VISIO" r:id="rId3" imgW="2235200" imgH="3606800" progId="Visio.Drawing.6">
                  <p:embed/>
                  <p:pic>
                    <p:nvPicPr>
                      <p:cNvPr id="20485" name="Object 6">
                        <a:extLst>
                          <a:ext uri="{FF2B5EF4-FFF2-40B4-BE49-F238E27FC236}">
                            <a16:creationId xmlns:a16="http://schemas.microsoft.com/office/drawing/2014/main" id="{0265D66A-8D6F-A24B-86FA-D59FFD68F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1752600"/>
                        <a:ext cx="136842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096309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>
            <a:extLst>
              <a:ext uri="{FF2B5EF4-FFF2-40B4-BE49-F238E27FC236}">
                <a16:creationId xmlns:a16="http://schemas.microsoft.com/office/drawing/2014/main" id="{AADD0FDD-0D9E-F341-AD9C-FC36EA5D8F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Design the decoder for a register file.</a:t>
            </a:r>
            <a:br>
              <a:rPr lang="en-US" altLang="en-US" sz="2000" b="1" dirty="0"/>
            </a:br>
            <a:endParaRPr lang="en-US" altLang="en-US" sz="2000" b="1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Decoder specifications: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16</a:t>
            </a:r>
            <a:r>
              <a:rPr lang="en-US" altLang="en-US" dirty="0">
                <a:solidFill>
                  <a:schemeClr val="accent5"/>
                </a:solidFill>
              </a:rPr>
              <a:t>-</a:t>
            </a:r>
            <a:r>
              <a:rPr lang="en-US" altLang="en-US" dirty="0"/>
              <a:t>word register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Each word is 32 bits wide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Each bit presents load of 3 unit-sized transistors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True and complementary address inputs A[3:0]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Each input may drive 10 unit-sized transistors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You need to decide: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How many stages to use?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How large should each gate be?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How fast can decoder operate?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BC23317-1879-3045-A539-6EB5E540A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graphicFrame>
        <p:nvGraphicFramePr>
          <p:cNvPr id="22533" name="Object 4">
            <a:extLst>
              <a:ext uri="{FF2B5EF4-FFF2-40B4-BE49-F238E27FC236}">
                <a16:creationId xmlns:a16="http://schemas.microsoft.com/office/drawing/2014/main" id="{1D4A023B-5DDF-EB49-B1D3-258BC8170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057400"/>
          <a:ext cx="3124200" cy="175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0078700" imgH="11264900" progId="Visio.Drawing.6">
                  <p:embed/>
                </p:oleObj>
              </mc:Choice>
              <mc:Fallback>
                <p:oleObj name="VISIO" r:id="rId3" imgW="20078700" imgH="11264900" progId="Visio.Drawing.6">
                  <p:embed/>
                  <p:pic>
                    <p:nvPicPr>
                      <p:cNvPr id="22533" name="Object 4">
                        <a:extLst>
                          <a:ext uri="{FF2B5EF4-FFF2-40B4-BE49-F238E27FC236}">
                            <a16:creationId xmlns:a16="http://schemas.microsoft.com/office/drawing/2014/main" id="{1D4A023B-5DDF-EB49-B1D3-258BC8170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057400"/>
                        <a:ext cx="3124200" cy="175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691244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3" name="Rectangle 1027">
            <a:extLst>
              <a:ext uri="{FF2B5EF4-FFF2-40B4-BE49-F238E27FC236}">
                <a16:creationId xmlns:a16="http://schemas.microsoft.com/office/drawing/2014/main" id="{498514C0-8EAE-EB4A-9944-15CB6DA8F7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/>
              </a:rPr>
              <a:t>Express delays in process-independent unit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/>
              </a:rPr>
              <a:t>Delay has two components: d = </a:t>
            </a:r>
            <a:r>
              <a:rPr lang="en-US" altLang="en-US" sz="2000" dirty="0">
                <a:solidFill>
                  <a:srgbClr val="00FF00"/>
                </a:solidFill>
                <a:ea typeface="ＭＳ Ｐゴシック"/>
              </a:rPr>
              <a:t>f</a:t>
            </a:r>
            <a:r>
              <a:rPr lang="en-US" altLang="en-US" sz="2000" dirty="0">
                <a:ea typeface="ＭＳ Ｐゴシック"/>
              </a:rPr>
              <a:t> + </a:t>
            </a:r>
            <a:r>
              <a:rPr lang="en-US" altLang="en-US" sz="2000" dirty="0">
                <a:solidFill>
                  <a:srgbClr val="FF0000"/>
                </a:solidFill>
                <a:ea typeface="ＭＳ Ｐゴシック"/>
              </a:rPr>
              <a:t>p</a:t>
            </a:r>
          </a:p>
          <a:p>
            <a:pPr>
              <a:lnSpc>
                <a:spcPct val="90000"/>
              </a:lnSpc>
            </a:pPr>
            <a:r>
              <a:rPr lang="en-US" altLang="en-US" sz="2000" i="1" dirty="0">
                <a:ea typeface="ＭＳ Ｐゴシック"/>
              </a:rPr>
              <a:t> </a:t>
            </a:r>
            <a:r>
              <a:rPr lang="en-US" altLang="en-US" sz="2000" i="1" dirty="0">
                <a:solidFill>
                  <a:srgbClr val="00FF00"/>
                </a:solidFill>
                <a:ea typeface="ＭＳ Ｐゴシック"/>
              </a:rPr>
              <a:t>f</a:t>
            </a:r>
            <a:r>
              <a:rPr lang="en-US" altLang="en-US" sz="2000" dirty="0">
                <a:ea typeface="ＭＳ Ｐゴシック"/>
              </a:rPr>
              <a:t>: </a:t>
            </a:r>
            <a:r>
              <a:rPr lang="en-US" altLang="en-US" sz="2000" i="1" dirty="0">
                <a:ea typeface="ＭＳ Ｐゴシック"/>
              </a:rPr>
              <a:t>effort delay = </a:t>
            </a:r>
            <a:r>
              <a:rPr lang="en-US" altLang="en-US" sz="2000" i="1" dirty="0">
                <a:solidFill>
                  <a:srgbClr val="CC0099"/>
                </a:solidFill>
                <a:ea typeface="ＭＳ Ｐゴシック"/>
              </a:rPr>
              <a:t>g</a:t>
            </a:r>
            <a:r>
              <a:rPr lang="en-US" altLang="en-US" sz="2000" i="1" dirty="0">
                <a:solidFill>
                  <a:srgbClr val="0000FF"/>
                </a:solidFill>
                <a:ea typeface="ＭＳ Ｐゴシック"/>
              </a:rPr>
              <a:t>h</a:t>
            </a:r>
            <a:r>
              <a:rPr lang="en-US" altLang="en-US" sz="2000" dirty="0">
                <a:ea typeface="ＭＳ Ｐゴシック"/>
              </a:rPr>
              <a:t> (</a:t>
            </a:r>
            <a:r>
              <a:rPr lang="en-US" altLang="en-US" sz="2000" dirty="0">
                <a:solidFill>
                  <a:schemeClr val="tx1"/>
                </a:solidFill>
                <a:ea typeface="ＭＳ Ｐゴシック"/>
              </a:rPr>
              <a:t>aka</a:t>
            </a:r>
            <a:r>
              <a:rPr lang="en-US" altLang="en-US" sz="2000" dirty="0">
                <a:ea typeface="ＭＳ Ｐゴシック"/>
              </a:rPr>
              <a:t> stage effort)</a:t>
            </a:r>
          </a:p>
          <a:p>
            <a:pPr marL="581025" lvl="1" indent="-166370" eaLnBrk="1" hangingPunct="1">
              <a:lnSpc>
                <a:spcPct val="90000"/>
              </a:lnSpc>
            </a:pPr>
            <a:r>
              <a:rPr lang="en-US" altLang="en-US" dirty="0"/>
              <a:t>Again has two components</a:t>
            </a:r>
            <a:endParaRPr lang="en-US" altLang="en-US" dirty="0"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/>
              <a:t> </a:t>
            </a:r>
            <a:r>
              <a:rPr lang="en-US" altLang="en-US" sz="2000" i="1" dirty="0">
                <a:solidFill>
                  <a:srgbClr val="CC0099"/>
                </a:solidFill>
              </a:rPr>
              <a:t>g</a:t>
            </a:r>
            <a:r>
              <a:rPr lang="en-US" altLang="en-US" sz="2000" dirty="0"/>
              <a:t>: </a:t>
            </a:r>
            <a:r>
              <a:rPr lang="en-US" altLang="en-US" sz="2000" i="1" dirty="0"/>
              <a:t>logical effort</a:t>
            </a:r>
          </a:p>
          <a:p>
            <a:pPr marL="581025" lvl="1" indent="-166370" eaLnBrk="1" hangingPunct="1">
              <a:lnSpc>
                <a:spcPct val="90000"/>
              </a:lnSpc>
            </a:pPr>
            <a:r>
              <a:rPr lang="en-US" altLang="en-US" dirty="0">
                <a:ea typeface="ＭＳ Ｐゴシック"/>
              </a:rPr>
              <a:t>Measures relative ability of gate to deliver current</a:t>
            </a:r>
            <a:endParaRPr lang="en-US" altLang="en-US" dirty="0">
              <a:ea typeface="ＭＳ Ｐゴシック"/>
              <a:cs typeface="Calibri"/>
            </a:endParaRPr>
          </a:p>
          <a:p>
            <a:pPr marL="581025" lvl="1" indent="-166370" eaLnBrk="1" hangingPunct="1">
              <a:lnSpc>
                <a:spcPct val="90000"/>
              </a:lnSpc>
            </a:pPr>
            <a:r>
              <a:rPr lang="en-US" altLang="en-US" i="1" dirty="0"/>
              <a:t>g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2" charset="2"/>
              </a:rPr>
              <a:t>=</a:t>
            </a:r>
            <a:r>
              <a:rPr lang="en-US" altLang="en-US" dirty="0"/>
              <a:t>1 for inverter</a:t>
            </a:r>
            <a:endParaRPr lang="en-US" altLang="en-US" dirty="0"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/>
              <a:t> </a:t>
            </a:r>
            <a:r>
              <a:rPr lang="en-US" altLang="en-US" sz="2000" i="1" dirty="0">
                <a:solidFill>
                  <a:srgbClr val="0000FF"/>
                </a:solidFill>
              </a:rPr>
              <a:t>h</a:t>
            </a:r>
            <a:r>
              <a:rPr lang="en-US" altLang="en-US" sz="2000" dirty="0"/>
              <a:t>: </a:t>
            </a:r>
            <a:r>
              <a:rPr lang="en-US" altLang="en-US" sz="2000" i="1" dirty="0"/>
              <a:t>electrical effort</a:t>
            </a:r>
            <a:r>
              <a:rPr lang="en-US" altLang="en-US" sz="2000" dirty="0"/>
              <a:t> = C</a:t>
            </a:r>
            <a:r>
              <a:rPr lang="en-US" altLang="en-US" sz="2000" baseline="-25000" dirty="0"/>
              <a:t>out</a:t>
            </a:r>
            <a:r>
              <a:rPr lang="en-US" altLang="en-US" sz="2000" dirty="0"/>
              <a:t> / C</a:t>
            </a:r>
            <a:r>
              <a:rPr lang="en-US" altLang="en-US" sz="2000" baseline="-25000" dirty="0"/>
              <a:t>in</a:t>
            </a:r>
          </a:p>
          <a:p>
            <a:pPr marL="581025" lvl="1" indent="-166370" eaLnBrk="1" hangingPunct="1">
              <a:lnSpc>
                <a:spcPct val="90000"/>
              </a:lnSpc>
            </a:pPr>
            <a:r>
              <a:rPr lang="en-US" altLang="en-US" dirty="0"/>
              <a:t>Ratio of output to input capacitance</a:t>
            </a:r>
            <a:endParaRPr lang="en-US" altLang="en-US" dirty="0">
              <a:cs typeface="Calibri"/>
            </a:endParaRPr>
          </a:p>
          <a:p>
            <a:pPr marL="581025" lvl="1" indent="-166370" eaLnBrk="1" hangingPunct="1">
              <a:lnSpc>
                <a:spcPct val="90000"/>
              </a:lnSpc>
            </a:pPr>
            <a:r>
              <a:rPr lang="en-US" altLang="en-US" dirty="0"/>
              <a:t>Sometimes called fanout</a:t>
            </a:r>
            <a:endParaRPr lang="en-US" altLang="en-US" dirty="0"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 </a:t>
            </a:r>
            <a:r>
              <a:rPr lang="en-US" altLang="en-US" sz="2000" i="1" dirty="0">
                <a:solidFill>
                  <a:srgbClr val="FF0000"/>
                </a:solidFill>
              </a:rPr>
              <a:t>p</a:t>
            </a:r>
            <a:r>
              <a:rPr lang="en-US" altLang="en-US" sz="2000" dirty="0"/>
              <a:t>: parasitic delay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 marL="581025" lvl="1" indent="-166370" eaLnBrk="1" hangingPunct="1">
              <a:lnSpc>
                <a:spcPct val="90000"/>
              </a:lnSpc>
            </a:pPr>
            <a:r>
              <a:rPr lang="en-US" altLang="en-US" dirty="0"/>
              <a:t>Represents delay of gate driving no load</a:t>
            </a:r>
            <a:endParaRPr lang="en-US" altLang="en-US" dirty="0">
              <a:cs typeface="Calibri"/>
            </a:endParaRPr>
          </a:p>
          <a:p>
            <a:pPr marL="581025" lvl="1" indent="-166370" eaLnBrk="1" hangingPunct="1">
              <a:lnSpc>
                <a:spcPct val="90000"/>
              </a:lnSpc>
            </a:pPr>
            <a:r>
              <a:rPr lang="en-US" altLang="en-US" dirty="0"/>
              <a:t>Set by internal parasitic capacitance</a:t>
            </a:r>
            <a:endParaRPr lang="en-US" altLang="en-US" dirty="0">
              <a:cs typeface="Calibri"/>
            </a:endParaRPr>
          </a:p>
          <a:p>
            <a:pPr marL="581025" lvl="1" indent="-166370" eaLnBrk="1" hangingPunct="1">
              <a:lnSpc>
                <a:spcPct val="90000"/>
              </a:lnSpc>
            </a:pPr>
            <a:endParaRPr lang="en-US" altLang="en-US" dirty="0">
              <a:cs typeface="Calibri"/>
            </a:endParaRPr>
          </a:p>
        </p:txBody>
      </p:sp>
      <p:sp>
        <p:nvSpPr>
          <p:cNvPr id="24579" name="Rectangle 1026">
            <a:extLst>
              <a:ext uri="{FF2B5EF4-FFF2-40B4-BE49-F238E27FC236}">
                <a16:creationId xmlns:a16="http://schemas.microsoft.com/office/drawing/2014/main" id="{75F2BB59-BEA3-F14C-858E-DEA2D97623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Delay in a Logic Gate</a:t>
            </a:r>
          </a:p>
        </p:txBody>
      </p:sp>
      <p:graphicFrame>
        <p:nvGraphicFramePr>
          <p:cNvPr id="24581" name="Object 1028">
            <a:extLst>
              <a:ext uri="{FF2B5EF4-FFF2-40B4-BE49-F238E27FC236}">
                <a16:creationId xmlns:a16="http://schemas.microsoft.com/office/drawing/2014/main" id="{1F5F3957-1CE3-A14E-8FDD-E34514D462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1447801"/>
          <a:ext cx="9144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260800" imgH="20485100" progId="Equation.DSMT4">
                  <p:embed/>
                </p:oleObj>
              </mc:Choice>
              <mc:Fallback>
                <p:oleObj name="Equation" r:id="rId3" imgW="29260800" imgH="20485100" progId="Equation.DSMT4">
                  <p:embed/>
                  <p:pic>
                    <p:nvPicPr>
                      <p:cNvPr id="24581" name="Object 1028">
                        <a:extLst>
                          <a:ext uri="{FF2B5EF4-FFF2-40B4-BE49-F238E27FC236}">
                            <a16:creationId xmlns:a16="http://schemas.microsoft.com/office/drawing/2014/main" id="{1F5F3957-1CE3-A14E-8FDD-E34514D462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447801"/>
                        <a:ext cx="9144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3766" name="Text Box 1030">
            <a:extLst>
              <a:ext uri="{FF2B5EF4-FFF2-40B4-BE49-F238E27FC236}">
                <a16:creationId xmlns:a16="http://schemas.microsoft.com/office/drawing/2014/main" id="{E9DCF224-3479-5D4C-89C3-8D06EC91E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057400"/>
            <a:ext cx="2667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Symbol" pitchFamily="2" charset="2"/>
              </a:rPr>
              <a:t>τ =	</a:t>
            </a:r>
            <a:r>
              <a:rPr lang="en-US" altLang="en-US" sz="1400" dirty="0">
                <a:solidFill>
                  <a:srgbClr val="0000FF"/>
                </a:solidFill>
              </a:rPr>
              <a:t>3RC</a:t>
            </a:r>
            <a:r>
              <a:rPr lang="en-US" altLang="en-US" sz="1400" dirty="0"/>
              <a:t>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/>
              <a:t>  ≈	3 ps in 65 nm process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/>
              <a:t>      	60 ps in 0.6 </a:t>
            </a:r>
            <a:r>
              <a:rPr lang="en-US" altLang="en-US" sz="1400" dirty="0">
                <a:latin typeface="Symbol" pitchFamily="2" charset="2"/>
              </a:rPr>
              <a:t>μ</a:t>
            </a:r>
            <a:r>
              <a:rPr lang="en-US" altLang="en-US" sz="1400" dirty="0"/>
              <a:t>m process</a:t>
            </a:r>
          </a:p>
        </p:txBody>
      </p:sp>
    </p:spTree>
    <p:extLst>
      <p:ext uri="{BB962C8B-B14F-4D97-AF65-F5344CB8AC3E}">
        <p14:creationId xmlns:p14="http://schemas.microsoft.com/office/powerpoint/2010/main" val="120747215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3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3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3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3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3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3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37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37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37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37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7" name="Object 4">
            <a:extLst>
              <a:ext uri="{FF2B5EF4-FFF2-40B4-BE49-F238E27FC236}">
                <a16:creationId xmlns:a16="http://schemas.microsoft.com/office/drawing/2014/main" id="{D1098777-5AC7-074A-A83C-AD492FB8FD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1600200"/>
          <a:ext cx="5029200" cy="441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476500" imgH="2171700" progId="Visio.Drawing.11">
                  <p:embed/>
                </p:oleObj>
              </mc:Choice>
              <mc:Fallback>
                <p:oleObj name="Visio" r:id="rId3" imgW="2476500" imgH="2171700" progId="Visio.Drawing.11">
                  <p:embed/>
                  <p:pic>
                    <p:nvPicPr>
                      <p:cNvPr id="26627" name="Object 4">
                        <a:extLst>
                          <a:ext uri="{FF2B5EF4-FFF2-40B4-BE49-F238E27FC236}">
                            <a16:creationId xmlns:a16="http://schemas.microsoft.com/office/drawing/2014/main" id="{D1098777-5AC7-074A-A83C-AD492FB8FD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00200"/>
                        <a:ext cx="5029200" cy="4413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7" name="Object 9">
            <a:extLst>
              <a:ext uri="{FF2B5EF4-FFF2-40B4-BE49-F238E27FC236}">
                <a16:creationId xmlns:a16="http://schemas.microsoft.com/office/drawing/2014/main" id="{A5AA881E-1187-4A4D-A4F5-1CE5DF08BA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1606550"/>
          <a:ext cx="5029200" cy="441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476500" imgH="2171700" progId="Visio.Drawing.11">
                  <p:embed/>
                </p:oleObj>
              </mc:Choice>
              <mc:Fallback>
                <p:oleObj name="Visio" r:id="rId5" imgW="2476500" imgH="2171700" progId="Visio.Drawing.11">
                  <p:embed/>
                  <p:pic>
                    <p:nvPicPr>
                      <p:cNvPr id="375817" name="Object 9">
                        <a:extLst>
                          <a:ext uri="{FF2B5EF4-FFF2-40B4-BE49-F238E27FC236}">
                            <a16:creationId xmlns:a16="http://schemas.microsoft.com/office/drawing/2014/main" id="{A5AA881E-1187-4A4D-A4F5-1CE5DF08B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06550"/>
                        <a:ext cx="5029200" cy="4413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3">
            <a:extLst>
              <a:ext uri="{FF2B5EF4-FFF2-40B4-BE49-F238E27FC236}">
                <a16:creationId xmlns:a16="http://schemas.microsoft.com/office/drawing/2014/main" id="{B30CC1ED-9FD7-874F-A2FE-2988952CF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 i="1" dirty="0"/>
              <a:t>	d</a:t>
            </a:r>
            <a:r>
              <a:rPr lang="en-US" altLang="en-US" sz="2000" dirty="0"/>
              <a:t> 	= </a:t>
            </a:r>
            <a:r>
              <a:rPr lang="en-US" altLang="en-US" sz="2000" i="1" dirty="0"/>
              <a:t>f</a:t>
            </a:r>
            <a:r>
              <a:rPr lang="en-US" altLang="en-US" sz="2000" dirty="0"/>
              <a:t> + </a:t>
            </a:r>
            <a:r>
              <a:rPr lang="en-US" altLang="en-US" sz="2000" i="1" dirty="0"/>
              <a:t>p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  		= </a:t>
            </a:r>
            <a:r>
              <a:rPr lang="en-US" altLang="en-US" i="1" dirty="0"/>
              <a:t>gh</a:t>
            </a:r>
            <a:r>
              <a:rPr lang="en-US" altLang="en-US" dirty="0"/>
              <a:t> + </a:t>
            </a:r>
            <a:r>
              <a:rPr lang="en-US" altLang="en-US" i="1" dirty="0"/>
              <a:t>p</a:t>
            </a:r>
          </a:p>
          <a:p>
            <a:pPr lvl="1" eaLnBrk="1" hangingPunct="1">
              <a:buFontTx/>
              <a:buNone/>
            </a:pPr>
            <a:endParaRPr lang="en-US" altLang="en-US" i="1" dirty="0"/>
          </a:p>
          <a:p>
            <a:pPr eaLnBrk="1" hangingPunct="1"/>
            <a:r>
              <a:rPr lang="en-US" altLang="en-US" sz="2000" dirty="0"/>
              <a:t>What about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dirty="0"/>
              <a:t>	NOR2?</a:t>
            </a:r>
          </a:p>
          <a:p>
            <a:pPr lvl="1" eaLnBrk="1" hangingPunct="1">
              <a:buFontTx/>
              <a:buNone/>
            </a:pPr>
            <a:endParaRPr lang="en-US" altLang="en-US" i="1" dirty="0"/>
          </a:p>
          <a:p>
            <a:pPr lvl="1" eaLnBrk="1" hangingPunct="1">
              <a:buFontTx/>
              <a:buNone/>
            </a:pPr>
            <a:endParaRPr lang="en-US" altLang="en-US" dirty="0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340388EE-43FC-F242-9458-FB01B670B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Delay Plots</a:t>
            </a:r>
          </a:p>
        </p:txBody>
      </p:sp>
      <p:sp>
        <p:nvSpPr>
          <p:cNvPr id="375820" name="Rectangle 12">
            <a:extLst>
              <a:ext uri="{FF2B5EF4-FFF2-40B4-BE49-F238E27FC236}">
                <a16:creationId xmlns:a16="http://schemas.microsoft.com/office/drawing/2014/main" id="{36692396-44C4-884E-A069-AB04948FA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06" y="2006941"/>
            <a:ext cx="2439297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713987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75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75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3">
            <a:extLst>
              <a:ext uri="{FF2B5EF4-FFF2-40B4-BE49-F238E27FC236}">
                <a16:creationId xmlns:a16="http://schemas.microsoft.com/office/drawing/2014/main" id="{E6F22C9A-2271-FA48-BAF1-B624334BF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DEF: </a:t>
            </a:r>
            <a:r>
              <a:rPr lang="en-US" altLang="en-US" i="1" dirty="0">
                <a:solidFill>
                  <a:srgbClr val="0000FF"/>
                </a:solidFill>
              </a:rPr>
              <a:t>Logical effort is the ratio of the input capacitance of a gate to the input capacitance of an inverter delivering the same output current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Measure from delay vs. fanout plots</a:t>
            </a:r>
          </a:p>
          <a:p>
            <a:pPr eaLnBrk="1" hangingPunct="1"/>
            <a:r>
              <a:rPr lang="en-US" altLang="en-US" dirty="0"/>
              <a:t>Or estimate by counting transistor widths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EB8C427-3A77-3C4F-A4BD-B78336449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Computing Logical Effort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7E6849F-70AF-4861-93B9-EBB8F18F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902907"/>
            <a:ext cx="8077200" cy="307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6164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7" name="Rectangle 87">
            <a:extLst>
              <a:ext uri="{FF2B5EF4-FFF2-40B4-BE49-F238E27FC236}">
                <a16:creationId xmlns:a16="http://schemas.microsoft.com/office/drawing/2014/main" id="{BFCA7A04-11CA-B940-A71A-78A13C40ED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effort of common gates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9CF0199-3108-0D4D-8850-68668FD05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Catalog of Gates</a:t>
            </a:r>
          </a:p>
        </p:txBody>
      </p:sp>
      <p:graphicFrame>
        <p:nvGraphicFramePr>
          <p:cNvPr id="350326" name="Group 118">
            <a:extLst>
              <a:ext uri="{FF2B5EF4-FFF2-40B4-BE49-F238E27FC236}">
                <a16:creationId xmlns:a16="http://schemas.microsoft.com/office/drawing/2014/main" id="{912FFFDB-13C3-B44D-A11B-055309DA7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635919"/>
              </p:ext>
            </p:extLst>
          </p:nvPr>
        </p:nvGraphicFramePr>
        <p:xfrm>
          <a:off x="2362200" y="2438400"/>
          <a:ext cx="7391400" cy="3378201"/>
        </p:xfrm>
        <a:graphic>
          <a:graphicData uri="http://schemas.openxmlformats.org/drawingml/2006/table">
            <a:tbl>
              <a:tblPr/>
              <a:tblGrid>
                <a:gridCol w="1922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03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Gate 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Number of inputs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Inverter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(n+2)/3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7/3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9/3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(2n+1)/3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ＭＳ Ｐゴシック"/>
                        </a:rPr>
                        <a:t>Tristate/mux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XOR, XNOR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6, 12, 6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8, 16, 16, 8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92325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5" name="Rectangle 56">
            <a:extLst>
              <a:ext uri="{FF2B5EF4-FFF2-40B4-BE49-F238E27FC236}">
                <a16:creationId xmlns:a16="http://schemas.microsoft.com/office/drawing/2014/main" id="{254AA335-684A-0241-A5B4-D83510AC1F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Parasitic delay of common gates</a:t>
            </a:r>
          </a:p>
          <a:p>
            <a:pPr lvl="1" eaLnBrk="1" hangingPunct="1"/>
            <a:r>
              <a:rPr lang="en-US" altLang="en-US" dirty="0"/>
              <a:t>In multiples of p</a:t>
            </a:r>
            <a:r>
              <a:rPr lang="en-US" altLang="en-US" baseline="-25000" dirty="0"/>
              <a:t>inv</a:t>
            </a:r>
            <a:r>
              <a:rPr lang="en-US" altLang="en-US" dirty="0"/>
              <a:t> (</a:t>
            </a:r>
            <a:r>
              <a:rPr lang="en-US" altLang="en-US" dirty="0">
                <a:sym typeface="Symbol" pitchFamily="2" charset="2"/>
              </a:rPr>
              <a:t>≈</a:t>
            </a:r>
            <a:r>
              <a:rPr lang="en-US" altLang="en-US" dirty="0"/>
              <a:t>1)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BBCB9E9-9EE6-0B49-9601-FE91C13B3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Catalog of Gates</a:t>
            </a:r>
          </a:p>
        </p:txBody>
      </p:sp>
      <p:graphicFrame>
        <p:nvGraphicFramePr>
          <p:cNvPr id="376835" name="Group 3">
            <a:extLst>
              <a:ext uri="{FF2B5EF4-FFF2-40B4-BE49-F238E27FC236}">
                <a16:creationId xmlns:a16="http://schemas.microsoft.com/office/drawing/2014/main" id="{7E0775C0-5D3F-5945-B6D6-EA06948BF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328852"/>
              </p:ext>
            </p:extLst>
          </p:nvPr>
        </p:nvGraphicFramePr>
        <p:xfrm>
          <a:off x="2362200" y="2438400"/>
          <a:ext cx="7391400" cy="3378201"/>
        </p:xfrm>
        <a:graphic>
          <a:graphicData uri="http://schemas.openxmlformats.org/drawingml/2006/table">
            <a:tbl>
              <a:tblPr/>
              <a:tblGrid>
                <a:gridCol w="1922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03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Gate 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Number of inputs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Inverter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ＭＳ Ｐゴシック"/>
                        </a:rPr>
                        <a:t>Tristate/mux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XOR, XNOR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15962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>
            <a:extLst>
              <a:ext uri="{FF2B5EF4-FFF2-40B4-BE49-F238E27FC236}">
                <a16:creationId xmlns:a16="http://schemas.microsoft.com/office/drawing/2014/main" id="{CFD08B0E-E336-1747-AAA6-CEE6693E10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Estimate the frequency of an N-stage ring oscillator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Logical Effort: 	g =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Electrical Effort: 	h =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Parasitic Delay: 	p =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Stage Delay:	d = 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Frequency:	f</a:t>
            </a:r>
            <a:r>
              <a:rPr lang="en-US" altLang="en-US" baseline="-25000" dirty="0"/>
              <a:t>osc</a:t>
            </a:r>
            <a:r>
              <a:rPr lang="en-US" altLang="en-US" dirty="0"/>
              <a:t> = 1/(2*N*d) = 1/4N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6C061F7-A1D4-5E4B-9DEF-EC3BED8CE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Ring Oscillator</a:t>
            </a:r>
          </a:p>
        </p:txBody>
      </p:sp>
      <p:sp>
        <p:nvSpPr>
          <p:cNvPr id="34822" name="Text Box 5">
            <a:extLst>
              <a:ext uri="{FF2B5EF4-FFF2-40B4-BE49-F238E27FC236}">
                <a16:creationId xmlns:a16="http://schemas.microsoft.com/office/drawing/2014/main" id="{8BC36DF1-D8B7-F94D-A8CA-244288A40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733800"/>
            <a:ext cx="2819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31 stage ring oscillator in 0.6 </a:t>
            </a:r>
            <a:r>
              <a:rPr lang="en-US" altLang="en-US" sz="1800" dirty="0">
                <a:latin typeface="Symbol" pitchFamily="2" charset="2"/>
              </a:rPr>
              <a:t>μ</a:t>
            </a:r>
            <a:r>
              <a:rPr lang="en-US" altLang="en-US" sz="1800" dirty="0"/>
              <a:t>m process has frequency of ~ 200 MHz</a:t>
            </a:r>
          </a:p>
        </p:txBody>
      </p:sp>
      <p:sp>
        <p:nvSpPr>
          <p:cNvPr id="377863" name="Rectangle 7">
            <a:extLst>
              <a:ext uri="{FF2B5EF4-FFF2-40B4-BE49-F238E27FC236}">
                <a16:creationId xmlns:a16="http://schemas.microsoft.com/office/drawing/2014/main" id="{DA5C0D05-07B5-2A4A-8888-ED155C69E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211" y="4199741"/>
            <a:ext cx="2796990" cy="847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7864" name="Rectangle 8">
            <a:extLst>
              <a:ext uri="{FF2B5EF4-FFF2-40B4-BE49-F238E27FC236}">
                <a16:creationId xmlns:a16="http://schemas.microsoft.com/office/drawing/2014/main" id="{45A6D8AA-B41E-DD4F-82FE-145570A1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733800"/>
            <a:ext cx="2667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7865" name="Rectangle 9">
            <a:extLst>
              <a:ext uri="{FF2B5EF4-FFF2-40B4-BE49-F238E27FC236}">
                <a16:creationId xmlns:a16="http://schemas.microsoft.com/office/drawing/2014/main" id="{547A02BF-4BDE-7749-B6BC-FF0988542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211" y="2975257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7866" name="Rectangle 10">
            <a:extLst>
              <a:ext uri="{FF2B5EF4-FFF2-40B4-BE49-F238E27FC236}">
                <a16:creationId xmlns:a16="http://schemas.microsoft.com/office/drawing/2014/main" id="{613AEC3C-FCC2-CB42-A1AD-AC37A70E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411" y="3351234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7867" name="Rectangle 11">
            <a:extLst>
              <a:ext uri="{FF2B5EF4-FFF2-40B4-BE49-F238E27FC236}">
                <a16:creationId xmlns:a16="http://schemas.microsoft.com/office/drawing/2014/main" id="{2370508D-DF91-0D44-B2D3-A29665285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411" y="3808434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DB033A8-7A5E-41F0-9FFD-A82B24564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131" y="2020062"/>
            <a:ext cx="5764538" cy="102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535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778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778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377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3778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3778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3" grpId="0" animBg="1"/>
      <p:bldP spid="377864" grpId="0" animBg="1"/>
      <p:bldP spid="377865" grpId="0" animBg="1"/>
      <p:bldP spid="377866" grpId="0" animBg="1"/>
      <p:bldP spid="37786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>
            <a:extLst>
              <a:ext uri="{FF2B5EF4-FFF2-40B4-BE49-F238E27FC236}">
                <a16:creationId xmlns:a16="http://schemas.microsoft.com/office/drawing/2014/main" id="{6C015A20-CEDF-834C-91EC-E7DC8E1625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Estimate the delay of a fanout-of-4 (FO4) inverter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Logical Effort: 	g =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Electrical Effort: 	h = 4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Parasitic Delay: 	p =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Stage Delay:	d = 5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3674238-25C2-4043-85BF-5E980DCDCE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FO4 Inverter</a:t>
            </a:r>
          </a:p>
        </p:txBody>
      </p:sp>
      <p:sp>
        <p:nvSpPr>
          <p:cNvPr id="36870" name="Text Box 5">
            <a:extLst>
              <a:ext uri="{FF2B5EF4-FFF2-40B4-BE49-F238E27FC236}">
                <a16:creationId xmlns:a16="http://schemas.microsoft.com/office/drawing/2014/main" id="{819A4FEE-9A0A-9D4B-B0AC-17D054885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1001"/>
            <a:ext cx="30480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The FO4 delay is about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  300 ps in 0.6 </a:t>
            </a:r>
            <a:r>
              <a:rPr lang="en-US" altLang="en-US" sz="1800" dirty="0">
                <a:latin typeface="Symbol" pitchFamily="2" charset="2"/>
              </a:rPr>
              <a:t>μ</a:t>
            </a:r>
            <a:r>
              <a:rPr lang="en-US" altLang="en-US" sz="1800" dirty="0"/>
              <a:t>m process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  15 ps in a 65 nm process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 </a:t>
            </a:r>
          </a:p>
        </p:txBody>
      </p:sp>
      <p:sp>
        <p:nvSpPr>
          <p:cNvPr id="378886" name="Rectangle 6">
            <a:extLst>
              <a:ext uri="{FF2B5EF4-FFF2-40B4-BE49-F238E27FC236}">
                <a16:creationId xmlns:a16="http://schemas.microsoft.com/office/drawing/2014/main" id="{66272F3B-4C35-7C47-B509-7981A3CEB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577" y="2971800"/>
            <a:ext cx="762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8887" name="Rectangle 7">
            <a:extLst>
              <a:ext uri="{FF2B5EF4-FFF2-40B4-BE49-F238E27FC236}">
                <a16:creationId xmlns:a16="http://schemas.microsoft.com/office/drawing/2014/main" id="{BC7A0C91-A778-8D49-83C5-EEF09534B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038600"/>
            <a:ext cx="3048000" cy="1752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8888" name="Rectangle 8">
            <a:extLst>
              <a:ext uri="{FF2B5EF4-FFF2-40B4-BE49-F238E27FC236}">
                <a16:creationId xmlns:a16="http://schemas.microsoft.com/office/drawing/2014/main" id="{CA5172F2-FA43-B448-8FA3-30F2C7FE4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577" y="3327639"/>
            <a:ext cx="762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8889" name="Rectangle 9">
            <a:extLst>
              <a:ext uri="{FF2B5EF4-FFF2-40B4-BE49-F238E27FC236}">
                <a16:creationId xmlns:a16="http://schemas.microsoft.com/office/drawing/2014/main" id="{E5DC9719-B655-704C-B7B5-472907FA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577" y="3784839"/>
            <a:ext cx="762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78890" name="Rectangle 10">
            <a:extLst>
              <a:ext uri="{FF2B5EF4-FFF2-40B4-BE49-F238E27FC236}">
                <a16:creationId xmlns:a16="http://schemas.microsoft.com/office/drawing/2014/main" id="{D377C0D9-C21E-2043-B802-B3BC3FB24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242039"/>
            <a:ext cx="762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83976CD2-145B-4141-B886-4FE1BBD6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324" y="1701560"/>
            <a:ext cx="4032152" cy="208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5717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78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78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3788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3788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378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6" grpId="0" animBg="1"/>
      <p:bldP spid="378887" grpId="0" animBg="1"/>
      <p:bldP spid="378888" grpId="0" animBg="1"/>
      <p:bldP spid="378889" grpId="0" animBg="1"/>
      <p:bldP spid="37889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CAB866BE-D720-1443-A138-940635AA08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effort generalizes to multistage networks</a:t>
            </a:r>
          </a:p>
          <a:p>
            <a:pPr eaLnBrk="1" hangingPunct="1"/>
            <a:r>
              <a:rPr lang="en-US" altLang="en-US" i="1" dirty="0"/>
              <a:t>Path Logical Effort</a:t>
            </a:r>
          </a:p>
          <a:p>
            <a:pPr eaLnBrk="1" hangingPunct="1"/>
            <a:endParaRPr lang="en-US" altLang="en-US" i="1" dirty="0"/>
          </a:p>
          <a:p>
            <a:pPr eaLnBrk="1" hangingPunct="1"/>
            <a:r>
              <a:rPr lang="en-US" altLang="en-US" i="1" dirty="0"/>
              <a:t>Path Electrical Effort</a:t>
            </a:r>
          </a:p>
          <a:p>
            <a:pPr eaLnBrk="1" hangingPunct="1"/>
            <a:endParaRPr lang="en-US" altLang="en-US" i="1" dirty="0"/>
          </a:p>
          <a:p>
            <a:pPr eaLnBrk="1" hangingPunct="1"/>
            <a:r>
              <a:rPr lang="en-US" altLang="en-US" i="1" dirty="0"/>
              <a:t>Path Effort</a:t>
            </a: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66925B32-C14C-0E4A-BC45-9881F628D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Multistage Logic Networks</a:t>
            </a:r>
          </a:p>
        </p:txBody>
      </p:sp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98B431A9-AD7D-4845-8907-275087B4BB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1981200"/>
          <a:ext cx="1536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94900" imgH="12585700" progId="Equation.DSMT4">
                  <p:embed/>
                </p:oleObj>
              </mc:Choice>
              <mc:Fallback>
                <p:oleObj name="Equation" r:id="rId3" imgW="35394900" imgH="12585700" progId="Equation.DSMT4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98B431A9-AD7D-4845-8907-275087B4B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981200"/>
                        <a:ext cx="1536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>
            <a:extLst>
              <a:ext uri="{FF2B5EF4-FFF2-40B4-BE49-F238E27FC236}">
                <a16:creationId xmlns:a16="http://schemas.microsoft.com/office/drawing/2014/main" id="{ED3FF7D9-99F6-3A40-9302-3F5EF2A6FA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8350" y="2667000"/>
          <a:ext cx="1828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125900" imgH="24866600" progId="Equation.DSMT4">
                  <p:embed/>
                </p:oleObj>
              </mc:Choice>
              <mc:Fallback>
                <p:oleObj name="Equation" r:id="rId5" imgW="42125900" imgH="24866600" progId="Equation.DSMT4">
                  <p:embed/>
                  <p:pic>
                    <p:nvPicPr>
                      <p:cNvPr id="38918" name="Object 6">
                        <a:extLst>
                          <a:ext uri="{FF2B5EF4-FFF2-40B4-BE49-F238E27FC236}">
                            <a16:creationId xmlns:a16="http://schemas.microsoft.com/office/drawing/2014/main" id="{ED3FF7D9-99F6-3A40-9302-3F5EF2A6FA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350" y="2667000"/>
                        <a:ext cx="18288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8">
            <a:extLst>
              <a:ext uri="{FF2B5EF4-FFF2-40B4-BE49-F238E27FC236}">
                <a16:creationId xmlns:a16="http://schemas.microsoft.com/office/drawing/2014/main" id="{F5C41AAB-E943-E943-8F92-26A9DF265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3810000"/>
          <a:ext cx="2984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757800" imgH="12585700" progId="Equation.DSMT4">
                  <p:embed/>
                </p:oleObj>
              </mc:Choice>
              <mc:Fallback>
                <p:oleObj name="Equation" r:id="rId7" imgW="68757800" imgH="12585700" progId="Equation.DSMT4">
                  <p:embed/>
                  <p:pic>
                    <p:nvPicPr>
                      <p:cNvPr id="38919" name="Object 8">
                        <a:extLst>
                          <a:ext uri="{FF2B5EF4-FFF2-40B4-BE49-F238E27FC236}">
                            <a16:creationId xmlns:a16="http://schemas.microsoft.com/office/drawing/2014/main" id="{F5C41AAB-E943-E943-8F92-26A9DF265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810000"/>
                        <a:ext cx="29845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FEDCFB24-C1EE-4796-A0A5-5007005749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152" y="4289214"/>
            <a:ext cx="8573696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96991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3">
            <a:extLst>
              <a:ext uri="{FF2B5EF4-FFF2-40B4-BE49-F238E27FC236}">
                <a16:creationId xmlns:a16="http://schemas.microsoft.com/office/drawing/2014/main" id="{018B90D6-2A53-BC49-99F4-18B297BB4F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effort generalizes to multistage networks</a:t>
            </a:r>
          </a:p>
          <a:p>
            <a:pPr eaLnBrk="1" hangingPunct="1"/>
            <a:r>
              <a:rPr lang="en-US" altLang="en-US" i="1" dirty="0"/>
              <a:t>Path Logical Effort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i="1" dirty="0"/>
              <a:t>Path Electrical Effort</a:t>
            </a:r>
          </a:p>
          <a:p>
            <a:pPr eaLnBrk="1" hangingPunct="1"/>
            <a:endParaRPr lang="en-US" altLang="en-US" i="1" dirty="0"/>
          </a:p>
          <a:p>
            <a:pPr eaLnBrk="1" hangingPunct="1"/>
            <a:r>
              <a:rPr lang="en-US" altLang="en-US" i="1" dirty="0"/>
              <a:t>Path Effort</a:t>
            </a:r>
          </a:p>
          <a:p>
            <a:pPr eaLnBrk="1" hangingPunct="1"/>
            <a:endParaRPr lang="en-US" altLang="en-US" i="1" dirty="0"/>
          </a:p>
          <a:p>
            <a:pPr eaLnBrk="1" hangingPunct="1"/>
            <a:r>
              <a:rPr lang="en-US" altLang="en-US" dirty="0"/>
              <a:t>Can we write F = GH?</a:t>
            </a: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B67B78E-AE5E-974D-9793-287163B73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Multistage Logic Networks</a:t>
            </a:r>
          </a:p>
        </p:txBody>
      </p:sp>
      <p:graphicFrame>
        <p:nvGraphicFramePr>
          <p:cNvPr id="40965" name="Object 4">
            <a:extLst>
              <a:ext uri="{FF2B5EF4-FFF2-40B4-BE49-F238E27FC236}">
                <a16:creationId xmlns:a16="http://schemas.microsoft.com/office/drawing/2014/main" id="{BA7F1478-AC90-184F-8D67-144616EB51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1981200"/>
          <a:ext cx="1536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94900" imgH="12585700" progId="Equation.DSMT4">
                  <p:embed/>
                </p:oleObj>
              </mc:Choice>
              <mc:Fallback>
                <p:oleObj name="Equation" r:id="rId3" imgW="35394900" imgH="12585700" progId="Equation.DSMT4">
                  <p:embed/>
                  <p:pic>
                    <p:nvPicPr>
                      <p:cNvPr id="40965" name="Object 4">
                        <a:extLst>
                          <a:ext uri="{FF2B5EF4-FFF2-40B4-BE49-F238E27FC236}">
                            <a16:creationId xmlns:a16="http://schemas.microsoft.com/office/drawing/2014/main" id="{BA7F1478-AC90-184F-8D67-144616EB5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981200"/>
                        <a:ext cx="1536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5">
            <a:extLst>
              <a:ext uri="{FF2B5EF4-FFF2-40B4-BE49-F238E27FC236}">
                <a16:creationId xmlns:a16="http://schemas.microsoft.com/office/drawing/2014/main" id="{D55FEE82-E195-0547-9A62-D8122CD92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2667000"/>
          <a:ext cx="1943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767500" imgH="24866600" progId="Equation.DSMT4">
                  <p:embed/>
                </p:oleObj>
              </mc:Choice>
              <mc:Fallback>
                <p:oleObj name="Equation" r:id="rId5" imgW="44767500" imgH="24866600" progId="Equation.DSMT4">
                  <p:embed/>
                  <p:pic>
                    <p:nvPicPr>
                      <p:cNvPr id="40966" name="Object 5">
                        <a:extLst>
                          <a:ext uri="{FF2B5EF4-FFF2-40B4-BE49-F238E27FC236}">
                            <a16:creationId xmlns:a16="http://schemas.microsoft.com/office/drawing/2014/main" id="{D55FEE82-E195-0547-9A62-D8122CD920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667000"/>
                        <a:ext cx="19431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6">
            <a:extLst>
              <a:ext uri="{FF2B5EF4-FFF2-40B4-BE49-F238E27FC236}">
                <a16:creationId xmlns:a16="http://schemas.microsoft.com/office/drawing/2014/main" id="{20DCA04D-5DE7-F24A-812F-62D24F3E7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3810000"/>
          <a:ext cx="2984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757800" imgH="12585700" progId="Equation.DSMT4">
                  <p:embed/>
                </p:oleObj>
              </mc:Choice>
              <mc:Fallback>
                <p:oleObj name="Equation" r:id="rId7" imgW="68757800" imgH="12585700" progId="Equation.DSMT4">
                  <p:embed/>
                  <p:pic>
                    <p:nvPicPr>
                      <p:cNvPr id="40967" name="Object 6">
                        <a:extLst>
                          <a:ext uri="{FF2B5EF4-FFF2-40B4-BE49-F238E27FC236}">
                            <a16:creationId xmlns:a16="http://schemas.microsoft.com/office/drawing/2014/main" id="{20DCA04D-5DE7-F24A-812F-62D24F3E76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810000"/>
                        <a:ext cx="29845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0734941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>
            <a:extLst>
              <a:ext uri="{FF2B5EF4-FFF2-40B4-BE49-F238E27FC236}">
                <a16:creationId xmlns:a16="http://schemas.microsoft.com/office/drawing/2014/main" id="{B6ED7F00-2CED-3F4B-9D7B-42758A124D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defTabSz="1257300">
              <a:tabLst>
                <a:tab pos="1085850" algn="l"/>
              </a:tabLst>
            </a:pPr>
            <a:r>
              <a:rPr lang="en-US" altLang="en-US" dirty="0"/>
              <a:t>No!  Consider paths that branch:</a:t>
            </a:r>
          </a:p>
          <a:p>
            <a:pPr defTabSz="1257300">
              <a:tabLst>
                <a:tab pos="1085850" algn="l"/>
              </a:tabLst>
            </a:pPr>
            <a:endParaRPr lang="en-US" altLang="en-US" dirty="0"/>
          </a:p>
          <a:p>
            <a:pPr defTabSz="1257300">
              <a:buNone/>
              <a:tabLst>
                <a:tab pos="1085850" algn="l"/>
              </a:tabLst>
            </a:pPr>
            <a:r>
              <a:rPr lang="en-US" altLang="en-US" dirty="0"/>
              <a:t>	G 	= 1</a:t>
            </a:r>
          </a:p>
          <a:p>
            <a:pPr defTabSz="1257300">
              <a:buNone/>
              <a:tabLst>
                <a:tab pos="1085850" algn="l"/>
              </a:tabLst>
            </a:pPr>
            <a:r>
              <a:rPr lang="en-US" altLang="en-US" dirty="0"/>
              <a:t>	H 	= 90 / 5 = 18</a:t>
            </a:r>
          </a:p>
          <a:p>
            <a:pPr defTabSz="1257300">
              <a:buNone/>
              <a:tabLst>
                <a:tab pos="1085850" algn="l"/>
              </a:tabLst>
            </a:pPr>
            <a:r>
              <a:rPr lang="en-US" altLang="en-US" dirty="0"/>
              <a:t>	GH 	= 18</a:t>
            </a:r>
          </a:p>
          <a:p>
            <a:pPr defTabSz="1257300">
              <a:buNone/>
              <a:tabLst>
                <a:tab pos="1085850" algn="l"/>
              </a:tabLst>
            </a:pPr>
            <a:r>
              <a:rPr lang="en-US" altLang="en-US" dirty="0"/>
              <a:t>	h</a:t>
            </a:r>
            <a:r>
              <a:rPr lang="en-US" altLang="en-US" baseline="-25000" dirty="0"/>
              <a:t>1</a:t>
            </a:r>
            <a:r>
              <a:rPr lang="en-US" altLang="en-US" dirty="0"/>
              <a:t> 	= (15 +15) / 5 = 6</a:t>
            </a:r>
          </a:p>
          <a:p>
            <a:pPr defTabSz="1257300">
              <a:buNone/>
              <a:tabLst>
                <a:tab pos="1085850" algn="l"/>
              </a:tabLst>
            </a:pPr>
            <a:r>
              <a:rPr lang="en-US" altLang="en-US" dirty="0"/>
              <a:t>	h</a:t>
            </a:r>
            <a:r>
              <a:rPr lang="en-US" altLang="en-US" baseline="-25000" dirty="0"/>
              <a:t>2</a:t>
            </a:r>
            <a:r>
              <a:rPr lang="en-US" altLang="en-US" dirty="0"/>
              <a:t> 	= 90 / 15 = 6</a:t>
            </a:r>
          </a:p>
          <a:p>
            <a:pPr defTabSz="1257300">
              <a:buNone/>
              <a:tabLst>
                <a:tab pos="1085850" algn="l"/>
              </a:tabLst>
            </a:pPr>
            <a:r>
              <a:rPr lang="en-US" altLang="en-US" dirty="0"/>
              <a:t>	F 	= g</a:t>
            </a:r>
            <a:r>
              <a:rPr lang="en-US" altLang="en-US" baseline="-25000" dirty="0"/>
              <a:t>1</a:t>
            </a:r>
            <a:r>
              <a:rPr lang="en-US" altLang="en-US" dirty="0"/>
              <a:t>g</a:t>
            </a:r>
            <a:r>
              <a:rPr lang="en-US" altLang="en-US" baseline="-25000" dirty="0"/>
              <a:t>2</a:t>
            </a:r>
            <a:r>
              <a:rPr lang="en-US" altLang="en-US" dirty="0"/>
              <a:t>h</a:t>
            </a:r>
            <a:r>
              <a:rPr lang="en-US" altLang="en-US" baseline="-25000" dirty="0"/>
              <a:t>1</a:t>
            </a:r>
            <a:r>
              <a:rPr lang="en-US" altLang="en-US" dirty="0"/>
              <a:t>h</a:t>
            </a:r>
            <a:r>
              <a:rPr lang="en-US" altLang="en-US" baseline="-25000" dirty="0"/>
              <a:t>2</a:t>
            </a:r>
            <a:r>
              <a:rPr lang="en-US" altLang="en-US" dirty="0"/>
              <a:t> = 36 </a:t>
            </a:r>
            <a:r>
              <a:rPr lang="en-US" altLang="en-US" dirty="0">
                <a:sym typeface="Symbol" pitchFamily="2" charset="2"/>
              </a:rPr>
              <a:t>= 2GH</a:t>
            </a:r>
            <a:r>
              <a:rPr lang="en-US" altLang="en-US" dirty="0"/>
              <a:t> 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48503698-2052-464F-B1B6-35C7C1050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Paths that Branch</a:t>
            </a:r>
          </a:p>
        </p:txBody>
      </p:sp>
      <p:pic>
        <p:nvPicPr>
          <p:cNvPr id="4" name="Picture 3" descr="A picture containing light, flying, dark, lit&#10;&#10;Description automatically generated">
            <a:extLst>
              <a:ext uri="{FF2B5EF4-FFF2-40B4-BE49-F238E27FC236}">
                <a16:creationId xmlns:a16="http://schemas.microsoft.com/office/drawing/2014/main" id="{12AF710B-3CB5-497B-93AB-E19054BF4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920" y="2192477"/>
            <a:ext cx="4286847" cy="293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23133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>
            <a:extLst>
              <a:ext uri="{FF2B5EF4-FFF2-40B4-BE49-F238E27FC236}">
                <a16:creationId xmlns:a16="http://schemas.microsoft.com/office/drawing/2014/main" id="{71C17415-896F-594F-B267-2A70588F82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Introduce </a:t>
            </a:r>
            <a:r>
              <a:rPr lang="en-US" altLang="en-US" i="1" dirty="0"/>
              <a:t>branching effort</a:t>
            </a:r>
          </a:p>
          <a:p>
            <a:pPr lvl="1" eaLnBrk="1" hangingPunct="1"/>
            <a:r>
              <a:rPr lang="en-US" altLang="en-US" dirty="0"/>
              <a:t>Accounts for branching between stages in path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Now we compute the path effort</a:t>
            </a:r>
          </a:p>
          <a:p>
            <a:pPr lvl="1" eaLnBrk="1" hangingPunct="1"/>
            <a:r>
              <a:rPr lang="en-US" altLang="en-US" dirty="0"/>
              <a:t>F = GBH</a:t>
            </a:r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dirty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59DA8CA-8358-2F4D-A822-883093D4B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Branching Effort</a:t>
            </a:r>
          </a:p>
        </p:txBody>
      </p:sp>
      <p:graphicFrame>
        <p:nvGraphicFramePr>
          <p:cNvPr id="45061" name="Object 4">
            <a:extLst>
              <a:ext uri="{FF2B5EF4-FFF2-40B4-BE49-F238E27FC236}">
                <a16:creationId xmlns:a16="http://schemas.microsoft.com/office/drawing/2014/main" id="{8A84D110-FC83-7645-AF7F-3681A994B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543877"/>
              </p:ext>
            </p:extLst>
          </p:nvPr>
        </p:nvGraphicFramePr>
        <p:xfrm>
          <a:off x="3162300" y="2138819"/>
          <a:ext cx="29337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589400" imgH="24866600" progId="Equation.DSMT4">
                  <p:embed/>
                </p:oleObj>
              </mc:Choice>
              <mc:Fallback>
                <p:oleObj name="Equation" r:id="rId3" imgW="67589400" imgH="24866600" progId="Equation.DSMT4">
                  <p:embed/>
                  <p:pic>
                    <p:nvPicPr>
                      <p:cNvPr id="45061" name="Object 4">
                        <a:extLst>
                          <a:ext uri="{FF2B5EF4-FFF2-40B4-BE49-F238E27FC236}">
                            <a16:creationId xmlns:a16="http://schemas.microsoft.com/office/drawing/2014/main" id="{8A84D110-FC83-7645-AF7F-3681A994B5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2138819"/>
                        <a:ext cx="29337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5">
            <a:extLst>
              <a:ext uri="{FF2B5EF4-FFF2-40B4-BE49-F238E27FC236}">
                <a16:creationId xmlns:a16="http://schemas.microsoft.com/office/drawing/2014/main" id="{D6AFECB4-63B2-5B4B-809F-FC6137909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733800"/>
          <a:ext cx="1447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350200" imgH="12585700" progId="Equation.DSMT4">
                  <p:embed/>
                </p:oleObj>
              </mc:Choice>
              <mc:Fallback>
                <p:oleObj name="Equation" r:id="rId5" imgW="33350200" imgH="12585700" progId="Equation.DSMT4">
                  <p:embed/>
                  <p:pic>
                    <p:nvPicPr>
                      <p:cNvPr id="45062" name="Object 5">
                        <a:extLst>
                          <a:ext uri="{FF2B5EF4-FFF2-40B4-BE49-F238E27FC236}">
                            <a16:creationId xmlns:a16="http://schemas.microsoft.com/office/drawing/2014/main" id="{D6AFECB4-63B2-5B4B-809F-FC61379096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733800"/>
                        <a:ext cx="1447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6">
            <a:extLst>
              <a:ext uri="{FF2B5EF4-FFF2-40B4-BE49-F238E27FC236}">
                <a16:creationId xmlns:a16="http://schemas.microsoft.com/office/drawing/2014/main" id="{3C2A1220-7060-5147-ADAF-77984387ED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3962400"/>
          <a:ext cx="1778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957500" imgH="12585700" progId="Equation.DSMT4">
                  <p:embed/>
                </p:oleObj>
              </mc:Choice>
              <mc:Fallback>
                <p:oleObj name="Equation" r:id="rId7" imgW="40957500" imgH="12585700" progId="Equation.DSMT4">
                  <p:embed/>
                  <p:pic>
                    <p:nvPicPr>
                      <p:cNvPr id="45063" name="Object 6">
                        <a:extLst>
                          <a:ext uri="{FF2B5EF4-FFF2-40B4-BE49-F238E27FC236}">
                            <a16:creationId xmlns:a16="http://schemas.microsoft.com/office/drawing/2014/main" id="{3C2A1220-7060-5147-ADAF-77984387ED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3962400"/>
                        <a:ext cx="1778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Text Box 7">
            <a:extLst>
              <a:ext uri="{FF2B5EF4-FFF2-40B4-BE49-F238E27FC236}">
                <a16:creationId xmlns:a16="http://schemas.microsoft.com/office/drawing/2014/main" id="{B7BB5544-90DD-2E43-BBFE-35FEBE3C1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581401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Arial" panose="020B0604020202020204" pitchFamily="34" charset="0"/>
              </a:rPr>
              <a:t>Note:</a:t>
            </a:r>
          </a:p>
        </p:txBody>
      </p:sp>
    </p:spTree>
    <p:extLst>
      <p:ext uri="{BB962C8B-B14F-4D97-AF65-F5344CB8AC3E}">
        <p14:creationId xmlns:p14="http://schemas.microsoft.com/office/powerpoint/2010/main" val="1026211191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>
            <a:extLst>
              <a:ext uri="{FF2B5EF4-FFF2-40B4-BE49-F238E27FC236}">
                <a16:creationId xmlns:a16="http://schemas.microsoft.com/office/drawing/2014/main" id="{FB63B0BA-1B54-2048-947B-837E771C0D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Path Effort Delay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Path Parasitic Delay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Path Delay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F7ECF69-6D39-CB4E-ACFA-078C3A094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Multistage Delays</a:t>
            </a:r>
          </a:p>
        </p:txBody>
      </p:sp>
      <p:graphicFrame>
        <p:nvGraphicFramePr>
          <p:cNvPr id="47109" name="Object 4">
            <a:extLst>
              <a:ext uri="{FF2B5EF4-FFF2-40B4-BE49-F238E27FC236}">
                <a16:creationId xmlns:a16="http://schemas.microsoft.com/office/drawing/2014/main" id="{ED9C0601-B178-E249-B861-858B32629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1524000"/>
          <a:ext cx="1638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744400" imgH="12585700" progId="Equation.DSMT4">
                  <p:embed/>
                </p:oleObj>
              </mc:Choice>
              <mc:Fallback>
                <p:oleObj name="Equation" r:id="rId3" imgW="37744400" imgH="12585700" progId="Equation.DSMT4">
                  <p:embed/>
                  <p:pic>
                    <p:nvPicPr>
                      <p:cNvPr id="47109" name="Object 4">
                        <a:extLst>
                          <a:ext uri="{FF2B5EF4-FFF2-40B4-BE49-F238E27FC236}">
                            <a16:creationId xmlns:a16="http://schemas.microsoft.com/office/drawing/2014/main" id="{ED9C0601-B178-E249-B861-858B326291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524000"/>
                        <a:ext cx="1638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5">
            <a:extLst>
              <a:ext uri="{FF2B5EF4-FFF2-40B4-BE49-F238E27FC236}">
                <a16:creationId xmlns:a16="http://schemas.microsoft.com/office/drawing/2014/main" id="{E1B08369-5128-3F41-BFAA-6CD1D91CEC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362200"/>
          <a:ext cx="1447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350200" imgH="12585700" progId="Equation.DSMT4">
                  <p:embed/>
                </p:oleObj>
              </mc:Choice>
              <mc:Fallback>
                <p:oleObj name="Equation" r:id="rId5" imgW="33350200" imgH="12585700" progId="Equation.DSMT4">
                  <p:embed/>
                  <p:pic>
                    <p:nvPicPr>
                      <p:cNvPr id="47110" name="Object 5">
                        <a:extLst>
                          <a:ext uri="{FF2B5EF4-FFF2-40B4-BE49-F238E27FC236}">
                            <a16:creationId xmlns:a16="http://schemas.microsoft.com/office/drawing/2014/main" id="{E1B08369-5128-3F41-BFAA-6CD1D91CEC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362200"/>
                        <a:ext cx="1447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6">
            <a:extLst>
              <a:ext uri="{FF2B5EF4-FFF2-40B4-BE49-F238E27FC236}">
                <a16:creationId xmlns:a16="http://schemas.microsoft.com/office/drawing/2014/main" id="{CA5BFD32-E27B-F548-A7C1-AF9AD5E8E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3200400"/>
          <a:ext cx="2933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589400" imgH="12585700" progId="Equation.DSMT4">
                  <p:embed/>
                </p:oleObj>
              </mc:Choice>
              <mc:Fallback>
                <p:oleObj name="Equation" r:id="rId7" imgW="67589400" imgH="12585700" progId="Equation.DSMT4">
                  <p:embed/>
                  <p:pic>
                    <p:nvPicPr>
                      <p:cNvPr id="47111" name="Object 6">
                        <a:extLst>
                          <a:ext uri="{FF2B5EF4-FFF2-40B4-BE49-F238E27FC236}">
                            <a16:creationId xmlns:a16="http://schemas.microsoft.com/office/drawing/2014/main" id="{CA5BFD32-E27B-F548-A7C1-AF9AD5E8E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200400"/>
                        <a:ext cx="2933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4363210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9" name="Rectangle 3">
            <a:extLst>
              <a:ext uri="{FF2B5EF4-FFF2-40B4-BE49-F238E27FC236}">
                <a16:creationId xmlns:a16="http://schemas.microsoft.com/office/drawing/2014/main" id="{F8481659-0CED-D341-832B-B5C8B55D9F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Delay is smallest when each stage bears </a:t>
            </a:r>
            <a:r>
              <a:rPr lang="en-US" altLang="en-US" b="1" dirty="0"/>
              <a:t>the </a:t>
            </a:r>
            <a:r>
              <a:rPr lang="en-US" altLang="en-US" dirty="0"/>
              <a:t>same effort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Thus</a:t>
            </a:r>
            <a:r>
              <a:rPr lang="en-US" altLang="en-US" b="1" dirty="0"/>
              <a:t>,</a:t>
            </a:r>
            <a:r>
              <a:rPr lang="en-US" altLang="en-US" dirty="0"/>
              <a:t> minimum delay of N stage path is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This is a </a:t>
            </a:r>
            <a:r>
              <a:rPr lang="en-US" altLang="en-US" dirty="0">
                <a:solidFill>
                  <a:srgbClr val="FF0000"/>
                </a:solidFill>
              </a:rPr>
              <a:t>key</a:t>
            </a:r>
            <a:r>
              <a:rPr lang="en-US" altLang="en-US" dirty="0"/>
              <a:t> result of logical effort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Find fastest possible delay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Doesn’</a:t>
            </a:r>
            <a:r>
              <a:rPr lang="en-US" altLang="ja-JP" dirty="0"/>
              <a:t>t require calculating gate sizes</a:t>
            </a:r>
            <a:endParaRPr lang="en-US" altLang="en-US" dirty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A7CEFE4-3C67-194C-9B85-C038A847D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Designing Fast Circuits</a:t>
            </a:r>
          </a:p>
        </p:txBody>
      </p:sp>
      <p:graphicFrame>
        <p:nvGraphicFramePr>
          <p:cNvPr id="49157" name="Object 4">
            <a:extLst>
              <a:ext uri="{FF2B5EF4-FFF2-40B4-BE49-F238E27FC236}">
                <a16:creationId xmlns:a16="http://schemas.microsoft.com/office/drawing/2014/main" id="{74019F49-54A5-0A47-A96E-C9DF1F061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497503"/>
              </p:ext>
            </p:extLst>
          </p:nvPr>
        </p:nvGraphicFramePr>
        <p:xfrm>
          <a:off x="1352811" y="1209261"/>
          <a:ext cx="2933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589400" imgH="12585700" progId="Equation.DSMT4">
                  <p:embed/>
                </p:oleObj>
              </mc:Choice>
              <mc:Fallback>
                <p:oleObj name="Equation" r:id="rId3" imgW="67589400" imgH="12585700" progId="Equation.DSMT4">
                  <p:embed/>
                  <p:pic>
                    <p:nvPicPr>
                      <p:cNvPr id="49157" name="Object 4">
                        <a:extLst>
                          <a:ext uri="{FF2B5EF4-FFF2-40B4-BE49-F238E27FC236}">
                            <a16:creationId xmlns:a16="http://schemas.microsoft.com/office/drawing/2014/main" id="{74019F49-54A5-0A47-A96E-C9DF1F061C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811" y="1209261"/>
                        <a:ext cx="2933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5">
            <a:extLst>
              <a:ext uri="{FF2B5EF4-FFF2-40B4-BE49-F238E27FC236}">
                <a16:creationId xmlns:a16="http://schemas.microsoft.com/office/drawing/2014/main" id="{727A53B3-EE19-9A4B-B5E4-62DC6F8E88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825950"/>
              </p:ext>
            </p:extLst>
          </p:nvPr>
        </p:nvGraphicFramePr>
        <p:xfrm>
          <a:off x="1759211" y="2312780"/>
          <a:ext cx="2120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856900" imgH="12877800" progId="Equation.DSMT4">
                  <p:embed/>
                </p:oleObj>
              </mc:Choice>
              <mc:Fallback>
                <p:oleObj name="Equation" r:id="rId5" imgW="48856900" imgH="12877800" progId="Equation.DSMT4">
                  <p:embed/>
                  <p:pic>
                    <p:nvPicPr>
                      <p:cNvPr id="49158" name="Object 5">
                        <a:extLst>
                          <a:ext uri="{FF2B5EF4-FFF2-40B4-BE49-F238E27FC236}">
                            <a16:creationId xmlns:a16="http://schemas.microsoft.com/office/drawing/2014/main" id="{727A53B3-EE19-9A4B-B5E4-62DC6F8E8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9211" y="2312780"/>
                        <a:ext cx="21209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6">
            <a:extLst>
              <a:ext uri="{FF2B5EF4-FFF2-40B4-BE49-F238E27FC236}">
                <a16:creationId xmlns:a16="http://schemas.microsoft.com/office/drawing/2014/main" id="{C5EFF504-E102-9B44-A03E-A910B1E3F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688871"/>
              </p:ext>
            </p:extLst>
          </p:nvPr>
        </p:nvGraphicFramePr>
        <p:xfrm>
          <a:off x="1352811" y="3647661"/>
          <a:ext cx="208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7980600" imgH="10820400" progId="Equation.DSMT4">
                  <p:embed/>
                </p:oleObj>
              </mc:Choice>
              <mc:Fallback>
                <p:oleObj name="Equation" r:id="rId7" imgW="47980600" imgH="10820400" progId="Equation.DSMT4">
                  <p:embed/>
                  <p:pic>
                    <p:nvPicPr>
                      <p:cNvPr id="49159" name="Object 6">
                        <a:extLst>
                          <a:ext uri="{FF2B5EF4-FFF2-40B4-BE49-F238E27FC236}">
                            <a16:creationId xmlns:a16="http://schemas.microsoft.com/office/drawing/2014/main" id="{C5EFF504-E102-9B44-A03E-A910B1E3F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811" y="3647661"/>
                        <a:ext cx="2082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Rectangle 7">
            <a:extLst>
              <a:ext uri="{FF2B5EF4-FFF2-40B4-BE49-F238E27FC236}">
                <a16:creationId xmlns:a16="http://schemas.microsoft.com/office/drawing/2014/main" id="{A59D1292-B27F-F249-B5DC-DB21A96C3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611" y="3571461"/>
            <a:ext cx="2286000" cy="685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57384" name="Rectangle 8">
            <a:extLst>
              <a:ext uri="{FF2B5EF4-FFF2-40B4-BE49-F238E27FC236}">
                <a16:creationId xmlns:a16="http://schemas.microsoft.com/office/drawing/2014/main" id="{4BC8BB92-25A0-F540-9CCA-474C2AB9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553" y="3429000"/>
            <a:ext cx="2581835" cy="90095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244482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57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7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7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7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7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7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7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3">
            <a:extLst>
              <a:ext uri="{FF2B5EF4-FFF2-40B4-BE49-F238E27FC236}">
                <a16:creationId xmlns:a16="http://schemas.microsoft.com/office/drawing/2014/main" id="{307A4A59-B851-B044-BD1D-350DFACE9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eaLnBrk="1" hangingPunct="1"/>
            <a:r>
              <a:rPr lang="en-US" altLang="en-US" dirty="0">
                <a:ea typeface="ＭＳ Ｐゴシック"/>
              </a:rPr>
              <a:t>How wide should the gates be for </a:t>
            </a:r>
            <a:r>
              <a:rPr lang="en-US" altLang="en-US" dirty="0">
                <a:solidFill>
                  <a:schemeClr val="tx1"/>
                </a:solidFill>
                <a:ea typeface="ＭＳ Ｐゴシック"/>
              </a:rPr>
              <a:t>the</a:t>
            </a:r>
            <a:r>
              <a:rPr lang="en-US" altLang="en-US" dirty="0">
                <a:solidFill>
                  <a:schemeClr val="accent5"/>
                </a:solidFill>
                <a:ea typeface="ＭＳ Ｐゴシック"/>
              </a:rPr>
              <a:t> </a:t>
            </a:r>
            <a:r>
              <a:rPr lang="en-US" altLang="en-US" dirty="0">
                <a:ea typeface="ＭＳ Ｐゴシック"/>
              </a:rPr>
              <a:t>least delay?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Working backward, apply capacitance transformation to find input capacitance of each gate given load it drives.</a:t>
            </a:r>
          </a:p>
          <a:p>
            <a:pPr eaLnBrk="1" hangingPunct="1"/>
            <a:r>
              <a:rPr lang="en-US" altLang="en-US" dirty="0"/>
              <a:t>Check work by verifying input cap spec is met.</a:t>
            </a: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B303C43-4E67-7F4E-8E32-B366B308C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Gate Sizes</a:t>
            </a:r>
          </a:p>
        </p:txBody>
      </p:sp>
      <p:graphicFrame>
        <p:nvGraphicFramePr>
          <p:cNvPr id="51205" name="Object 4">
            <a:extLst>
              <a:ext uri="{FF2B5EF4-FFF2-40B4-BE49-F238E27FC236}">
                <a16:creationId xmlns:a16="http://schemas.microsoft.com/office/drawing/2014/main" id="{0957BBFA-E4ED-C644-B9D3-9D3EB5A53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212766"/>
              </p:ext>
            </p:extLst>
          </p:nvPr>
        </p:nvGraphicFramePr>
        <p:xfrm>
          <a:off x="2704578" y="1909176"/>
          <a:ext cx="26416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858400" imgH="41249600" progId="Equation.DSMT4">
                  <p:embed/>
                </p:oleObj>
              </mc:Choice>
              <mc:Fallback>
                <p:oleObj name="Equation" r:id="rId3" imgW="60858400" imgH="41249600" progId="Equation.DSMT4">
                  <p:embed/>
                  <p:pic>
                    <p:nvPicPr>
                      <p:cNvPr id="51205" name="Object 4">
                        <a:extLst>
                          <a:ext uri="{FF2B5EF4-FFF2-40B4-BE49-F238E27FC236}">
                            <a16:creationId xmlns:a16="http://schemas.microsoft.com/office/drawing/2014/main" id="{0957BBFA-E4ED-C644-B9D3-9D3EB5A538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578" y="1909176"/>
                        <a:ext cx="26416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116494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3">
            <a:extLst>
              <a:ext uri="{FF2B5EF4-FFF2-40B4-BE49-F238E27FC236}">
                <a16:creationId xmlns:a16="http://schemas.microsoft.com/office/drawing/2014/main" id="{AA57DE54-6755-BF49-918D-2B898C8C0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defTabSz="1143000"/>
            <a:r>
              <a:rPr lang="en-US" altLang="en-US" dirty="0"/>
              <a:t>Select gate sizes x and y for least delay from A to B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85AAA22-7491-7847-ACCA-E3137C710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3-stage path</a:t>
            </a:r>
          </a:p>
        </p:txBody>
      </p:sp>
      <p:pic>
        <p:nvPicPr>
          <p:cNvPr id="4" name="Picture 3" descr="A picture containing indoor, sitting, dark, monitor&#10;&#10;Description automatically generated">
            <a:extLst>
              <a:ext uri="{FF2B5EF4-FFF2-40B4-BE49-F238E27FC236}">
                <a16:creationId xmlns:a16="http://schemas.microsoft.com/office/drawing/2014/main" id="{C16461BA-85F3-4275-B8D5-BA77F0480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793" y="1929164"/>
            <a:ext cx="6080414" cy="299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81444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3">
            <a:extLst>
              <a:ext uri="{FF2B5EF4-FFF2-40B4-BE49-F238E27FC236}">
                <a16:creationId xmlns:a16="http://schemas.microsoft.com/office/drawing/2014/main" id="{7CC2BF44-725E-C945-9E37-FB08383585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defTabSz="1143000">
              <a:buNone/>
            </a:pPr>
            <a:r>
              <a:rPr lang="en-US" altLang="en-US" dirty="0"/>
              <a:t>	</a:t>
            </a:r>
          </a:p>
          <a:p>
            <a:pPr defTabSz="1143000">
              <a:buNone/>
            </a:pPr>
            <a:endParaRPr lang="en-US" altLang="en-US" dirty="0"/>
          </a:p>
          <a:p>
            <a:pPr defTabSz="1143000">
              <a:buNone/>
            </a:pPr>
            <a:endParaRPr lang="en-US" altLang="en-US" dirty="0"/>
          </a:p>
          <a:p>
            <a:pPr defTabSz="1143000">
              <a:buNone/>
            </a:pPr>
            <a:endParaRPr lang="en-US" altLang="en-US" dirty="0"/>
          </a:p>
          <a:p>
            <a:pPr defTabSz="1143000">
              <a:buNone/>
            </a:pPr>
            <a:endParaRPr lang="en-US" altLang="en-US" dirty="0"/>
          </a:p>
          <a:p>
            <a:pPr defTabSz="1143000">
              <a:buNone/>
            </a:pPr>
            <a:r>
              <a:rPr lang="en-US" altLang="en-US" dirty="0"/>
              <a:t>	Logical Effort		G = (4/3)*(5/3)*(5/3) = 100/27</a:t>
            </a:r>
          </a:p>
          <a:p>
            <a:pPr defTabSz="1143000">
              <a:buNone/>
            </a:pPr>
            <a:r>
              <a:rPr lang="en-US" altLang="en-US" dirty="0"/>
              <a:t>	Electrical Effort	H = 45/8</a:t>
            </a:r>
          </a:p>
          <a:p>
            <a:pPr defTabSz="1143000">
              <a:buNone/>
            </a:pPr>
            <a:r>
              <a:rPr lang="en-US" altLang="en-US" dirty="0"/>
              <a:t>	Branching Effort	B = 3 * 2 = 6</a:t>
            </a:r>
          </a:p>
          <a:p>
            <a:pPr defTabSz="1143000">
              <a:buNone/>
            </a:pPr>
            <a:r>
              <a:rPr lang="en-US" altLang="en-US" dirty="0"/>
              <a:t>	Path Effort		F = GBH = 125</a:t>
            </a:r>
          </a:p>
          <a:p>
            <a:pPr defTabSz="1143000">
              <a:buNone/>
            </a:pPr>
            <a:r>
              <a:rPr lang="en-US" altLang="en-US" dirty="0"/>
              <a:t>	Best Stage Effort	</a:t>
            </a:r>
          </a:p>
          <a:p>
            <a:pPr defTabSz="1143000">
              <a:buNone/>
            </a:pPr>
            <a:r>
              <a:rPr lang="en-US" altLang="en-US" dirty="0"/>
              <a:t>	Parasitic Delay	P = 2 + 3 + 2 = 7</a:t>
            </a:r>
          </a:p>
          <a:p>
            <a:pPr defTabSz="1143000">
              <a:buNone/>
            </a:pPr>
            <a:r>
              <a:rPr lang="en-US" altLang="en-US" dirty="0"/>
              <a:t>	Delay		D = 3*5 + 7 = 22 = 4.4 FO4</a:t>
            </a: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13C0C01-7EEA-184D-98A7-ABB36BDCE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3-stage path</a:t>
            </a:r>
          </a:p>
        </p:txBody>
      </p:sp>
      <p:graphicFrame>
        <p:nvGraphicFramePr>
          <p:cNvPr id="55301" name="Object 4">
            <a:extLst>
              <a:ext uri="{FF2B5EF4-FFF2-40B4-BE49-F238E27FC236}">
                <a16:creationId xmlns:a16="http://schemas.microsoft.com/office/drawing/2014/main" id="{A128BA4C-989A-9E45-8594-C66C36F69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293913"/>
              </p:ext>
            </p:extLst>
          </p:nvPr>
        </p:nvGraphicFramePr>
        <p:xfrm>
          <a:off x="334026" y="940519"/>
          <a:ext cx="4320861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209800" imgH="1092200" progId="Visio.Drawing.6">
                  <p:embed/>
                </p:oleObj>
              </mc:Choice>
              <mc:Fallback>
                <p:oleObj name="VISIO" r:id="rId3" imgW="2209800" imgH="1092200" progId="Visio.Drawing.6">
                  <p:embed/>
                  <p:pic>
                    <p:nvPicPr>
                      <p:cNvPr id="55301" name="Object 4">
                        <a:extLst>
                          <a:ext uri="{FF2B5EF4-FFF2-40B4-BE49-F238E27FC236}">
                            <a16:creationId xmlns:a16="http://schemas.microsoft.com/office/drawing/2014/main" id="{A128BA4C-989A-9E45-8594-C66C36F69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26" y="940519"/>
                        <a:ext cx="4320861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5">
            <a:extLst>
              <a:ext uri="{FF2B5EF4-FFF2-40B4-BE49-F238E27FC236}">
                <a16:creationId xmlns:a16="http://schemas.microsoft.com/office/drawing/2014/main" id="{AE5EE40C-8162-D84D-94F7-50D627539B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572000"/>
          <a:ext cx="1803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541700" imgH="12001500" progId="Equation.DSMT4">
                  <p:embed/>
                </p:oleObj>
              </mc:Choice>
              <mc:Fallback>
                <p:oleObj name="Equation" r:id="rId5" imgW="41541700" imgH="12001500" progId="Equation.DSMT4">
                  <p:embed/>
                  <p:pic>
                    <p:nvPicPr>
                      <p:cNvPr id="55302" name="Object 5">
                        <a:extLst>
                          <a:ext uri="{FF2B5EF4-FFF2-40B4-BE49-F238E27FC236}">
                            <a16:creationId xmlns:a16="http://schemas.microsoft.com/office/drawing/2014/main" id="{AE5EE40C-8162-D84D-94F7-50D627539B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572000"/>
                        <a:ext cx="1803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54" name="Rectangle 6">
            <a:extLst>
              <a:ext uri="{FF2B5EF4-FFF2-40B4-BE49-F238E27FC236}">
                <a16:creationId xmlns:a16="http://schemas.microsoft.com/office/drawing/2014/main" id="{9C18F48F-7742-1C4D-834C-0B4129C27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2605088"/>
            <a:ext cx="3581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86063" name="Rectangle 15">
            <a:extLst>
              <a:ext uri="{FF2B5EF4-FFF2-40B4-BE49-F238E27FC236}">
                <a16:creationId xmlns:a16="http://schemas.microsoft.com/office/drawing/2014/main" id="{AF4563EE-8DFA-A445-83B6-0108049BE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887" y="6629400"/>
            <a:ext cx="3581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156689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860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6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3">
            <a:extLst>
              <a:ext uri="{FF2B5EF4-FFF2-40B4-BE49-F238E27FC236}">
                <a16:creationId xmlns:a16="http://schemas.microsoft.com/office/drawing/2014/main" id="{05C4EA31-7850-EC4D-B737-72A50D284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defTabSz="1143000"/>
            <a:r>
              <a:rPr lang="en-US" altLang="en-US" sz="2000" dirty="0"/>
              <a:t>Work backward for sizes</a:t>
            </a:r>
          </a:p>
          <a:p>
            <a:pPr defTabSz="1143000">
              <a:buNone/>
            </a:pPr>
            <a:r>
              <a:rPr lang="en-US" altLang="en-US" sz="2000" dirty="0"/>
              <a:t>	y = 45 * (5/3) / 5 = 15</a:t>
            </a:r>
          </a:p>
          <a:p>
            <a:pPr defTabSz="1143000">
              <a:buNone/>
            </a:pPr>
            <a:r>
              <a:rPr lang="en-US" altLang="en-US" sz="2000" dirty="0"/>
              <a:t>	x = (15*2) * (5/3) / 5 = 10</a:t>
            </a: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526F438-E3C2-6540-9B7F-FF6C8D6D0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3-stage path</a:t>
            </a:r>
          </a:p>
        </p:txBody>
      </p:sp>
      <p:graphicFrame>
        <p:nvGraphicFramePr>
          <p:cNvPr id="57349" name="Object 4">
            <a:extLst>
              <a:ext uri="{FF2B5EF4-FFF2-40B4-BE49-F238E27FC236}">
                <a16:creationId xmlns:a16="http://schemas.microsoft.com/office/drawing/2014/main" id="{62895791-63D4-5A4A-BD1D-D77121BC0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124201"/>
          <a:ext cx="6096000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3754100" imgH="6388100" progId="Visio.Drawing.6">
                  <p:embed/>
                </p:oleObj>
              </mc:Choice>
              <mc:Fallback>
                <p:oleObj name="VISIO" r:id="rId3" imgW="13754100" imgH="6388100" progId="Visio.Drawing.6">
                  <p:embed/>
                  <p:pic>
                    <p:nvPicPr>
                      <p:cNvPr id="57349" name="Object 4">
                        <a:extLst>
                          <a:ext uri="{FF2B5EF4-FFF2-40B4-BE49-F238E27FC236}">
                            <a16:creationId xmlns:a16="http://schemas.microsoft.com/office/drawing/2014/main" id="{62895791-63D4-5A4A-BD1D-D77121BC0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124201"/>
                        <a:ext cx="6096000" cy="282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1" name="Rectangle 5">
            <a:extLst>
              <a:ext uri="{FF2B5EF4-FFF2-40B4-BE49-F238E27FC236}">
                <a16:creationId xmlns:a16="http://schemas.microsoft.com/office/drawing/2014/main" id="{26BAD221-8561-884B-8396-D73AA977D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24" y="1482634"/>
            <a:ext cx="3581400" cy="33963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88102" name="Rectangle 6">
            <a:extLst>
              <a:ext uri="{FF2B5EF4-FFF2-40B4-BE49-F238E27FC236}">
                <a16:creationId xmlns:a16="http://schemas.microsoft.com/office/drawing/2014/main" id="{15FF956D-299D-4B4D-8BA8-7BA754D54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24" y="1922285"/>
            <a:ext cx="3581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graphicFrame>
        <p:nvGraphicFramePr>
          <p:cNvPr id="388107" name="Object 11">
            <a:extLst>
              <a:ext uri="{FF2B5EF4-FFF2-40B4-BE49-F238E27FC236}">
                <a16:creationId xmlns:a16="http://schemas.microsoft.com/office/drawing/2014/main" id="{F568B882-DDDD-6F44-A078-814CC86E7B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220602"/>
              </p:ext>
            </p:extLst>
          </p:nvPr>
        </p:nvGraphicFramePr>
        <p:xfrm>
          <a:off x="2743200" y="2971801"/>
          <a:ext cx="6172200" cy="304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209800" imgH="1092200" progId="Visio.Drawing.6">
                  <p:embed/>
                </p:oleObj>
              </mc:Choice>
              <mc:Fallback>
                <p:oleObj name="VISIO" r:id="rId5" imgW="2209800" imgH="1092200" progId="Visio.Drawing.6">
                  <p:embed/>
                  <p:pic>
                    <p:nvPicPr>
                      <p:cNvPr id="388107" name="Object 11">
                        <a:extLst>
                          <a:ext uri="{FF2B5EF4-FFF2-40B4-BE49-F238E27FC236}">
                            <a16:creationId xmlns:a16="http://schemas.microsoft.com/office/drawing/2014/main" id="{F568B882-DDDD-6F44-A078-814CC86E7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971801"/>
                        <a:ext cx="6172200" cy="3044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584934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88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88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388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1" grpId="0" animBg="1"/>
      <p:bldP spid="38810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">
            <a:extLst>
              <a:ext uri="{FF2B5EF4-FFF2-40B4-BE49-F238E27FC236}">
                <a16:creationId xmlns:a16="http://schemas.microsoft.com/office/drawing/2014/main" id="{13F82280-BF7A-1C4F-9F35-D1F71442AF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many stages should a path use?</a:t>
            </a:r>
          </a:p>
          <a:p>
            <a:pPr lvl="1" eaLnBrk="1" hangingPunct="1"/>
            <a:r>
              <a:rPr lang="en-US" altLang="en-US" dirty="0"/>
              <a:t>Minimizing number of stages is not always fastest</a:t>
            </a:r>
          </a:p>
          <a:p>
            <a:pPr eaLnBrk="1" hangingPunct="1"/>
            <a:r>
              <a:rPr lang="en-US" altLang="en-US" dirty="0"/>
              <a:t>Example: drive 64-bit datapath with unit inverter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D 	= NF</a:t>
            </a:r>
            <a:r>
              <a:rPr lang="en-US" altLang="en-US" baseline="30000" dirty="0"/>
              <a:t>1/N</a:t>
            </a:r>
            <a:r>
              <a:rPr lang="en-US" altLang="en-US" dirty="0"/>
              <a:t> + 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	= N(64)</a:t>
            </a:r>
            <a:r>
              <a:rPr lang="en-US" altLang="en-US" baseline="30000" dirty="0"/>
              <a:t>1/N </a:t>
            </a:r>
            <a:r>
              <a:rPr lang="en-US" altLang="en-US" dirty="0"/>
              <a:t>+ N</a:t>
            </a: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7F6C6539-7669-4446-9CBA-28DD3081F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Best Number of Stages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3A20FD6-EBB4-426E-889A-EF7A0FE4F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484" y="1787821"/>
            <a:ext cx="2536239" cy="401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48804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>
            <a:extLst>
              <a:ext uri="{FF2B5EF4-FFF2-40B4-BE49-F238E27FC236}">
                <a16:creationId xmlns:a16="http://schemas.microsoft.com/office/drawing/2014/main" id="{D019B889-D68F-094A-81DC-9148802B3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Consider adding inverters to end of path</a:t>
            </a:r>
          </a:p>
          <a:p>
            <a:pPr lvl="1" eaLnBrk="1" hangingPunct="1"/>
            <a:r>
              <a:rPr lang="en-US" altLang="en-US" dirty="0"/>
              <a:t>How many give least delay?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Define best stage effort </a:t>
            </a: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E5CE209-BABE-D84D-AF27-E95690EF7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Derivation</a:t>
            </a:r>
          </a:p>
        </p:txBody>
      </p:sp>
      <p:graphicFrame>
        <p:nvGraphicFramePr>
          <p:cNvPr id="61446" name="Object 5">
            <a:extLst>
              <a:ext uri="{FF2B5EF4-FFF2-40B4-BE49-F238E27FC236}">
                <a16:creationId xmlns:a16="http://schemas.microsoft.com/office/drawing/2014/main" id="{AD6C4837-A5CD-AC4F-B98F-F2E4A97EF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403453"/>
              </p:ext>
            </p:extLst>
          </p:nvPr>
        </p:nvGraphicFramePr>
        <p:xfrm>
          <a:off x="883917" y="1811263"/>
          <a:ext cx="4813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883700" imgH="23114000" progId="Equation.DSMT4">
                  <p:embed/>
                </p:oleObj>
              </mc:Choice>
              <mc:Fallback>
                <p:oleObj name="Equation" r:id="rId3" imgW="110883700" imgH="23114000" progId="Equation.DSMT4">
                  <p:embed/>
                  <p:pic>
                    <p:nvPicPr>
                      <p:cNvPr id="61446" name="Object 5">
                        <a:extLst>
                          <a:ext uri="{FF2B5EF4-FFF2-40B4-BE49-F238E27FC236}">
                            <a16:creationId xmlns:a16="http://schemas.microsoft.com/office/drawing/2014/main" id="{AD6C4837-A5CD-AC4F-B98F-F2E4A97EF9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17" y="1811263"/>
                        <a:ext cx="4813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6">
            <a:extLst>
              <a:ext uri="{FF2B5EF4-FFF2-40B4-BE49-F238E27FC236}">
                <a16:creationId xmlns:a16="http://schemas.microsoft.com/office/drawing/2014/main" id="{45819DAD-47F4-5242-A691-30BA34837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286895"/>
              </p:ext>
            </p:extLst>
          </p:nvPr>
        </p:nvGraphicFramePr>
        <p:xfrm>
          <a:off x="845817" y="2814563"/>
          <a:ext cx="488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2636300" imgH="20485100" progId="Equation.DSMT4">
                  <p:embed/>
                </p:oleObj>
              </mc:Choice>
              <mc:Fallback>
                <p:oleObj name="Equation" r:id="rId5" imgW="112636300" imgH="20485100" progId="Equation.DSMT4">
                  <p:embed/>
                  <p:pic>
                    <p:nvPicPr>
                      <p:cNvPr id="61447" name="Object 6">
                        <a:extLst>
                          <a:ext uri="{FF2B5EF4-FFF2-40B4-BE49-F238E27FC236}">
                            <a16:creationId xmlns:a16="http://schemas.microsoft.com/office/drawing/2014/main" id="{45819DAD-47F4-5242-A691-30BA34837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17" y="2814563"/>
                        <a:ext cx="488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7">
            <a:extLst>
              <a:ext uri="{FF2B5EF4-FFF2-40B4-BE49-F238E27FC236}">
                <a16:creationId xmlns:a16="http://schemas.microsoft.com/office/drawing/2014/main" id="{1212E69B-CCE7-7E44-8F6E-5F2EAB1C06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665716"/>
              </p:ext>
            </p:extLst>
          </p:nvPr>
        </p:nvGraphicFramePr>
        <p:xfrm>
          <a:off x="883917" y="4495608"/>
          <a:ext cx="3149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555100" imgH="12001500" progId="Equation.DSMT4">
                  <p:embed/>
                </p:oleObj>
              </mc:Choice>
              <mc:Fallback>
                <p:oleObj name="Equation" r:id="rId7" imgW="72555100" imgH="12001500" progId="Equation.DSMT4">
                  <p:embed/>
                  <p:pic>
                    <p:nvPicPr>
                      <p:cNvPr id="61448" name="Object 7">
                        <a:extLst>
                          <a:ext uri="{FF2B5EF4-FFF2-40B4-BE49-F238E27FC236}">
                            <a16:creationId xmlns:a16="http://schemas.microsoft.com/office/drawing/2014/main" id="{1212E69B-CCE7-7E44-8F6E-5F2EAB1C06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17" y="4495608"/>
                        <a:ext cx="3149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9" name="Object 8">
            <a:extLst>
              <a:ext uri="{FF2B5EF4-FFF2-40B4-BE49-F238E27FC236}">
                <a16:creationId xmlns:a16="http://schemas.microsoft.com/office/drawing/2014/main" id="{D50448C6-DE8D-994C-B43D-3554B4B085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482210"/>
              </p:ext>
            </p:extLst>
          </p:nvPr>
        </p:nvGraphicFramePr>
        <p:xfrm>
          <a:off x="3878893" y="3703563"/>
          <a:ext cx="1143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327100" imgH="12585700" progId="Equation.DSMT4">
                  <p:embed/>
                </p:oleObj>
              </mc:Choice>
              <mc:Fallback>
                <p:oleObj name="Equation" r:id="rId9" imgW="26327100" imgH="12585700" progId="Equation.DSMT4">
                  <p:embed/>
                  <p:pic>
                    <p:nvPicPr>
                      <p:cNvPr id="61449" name="Object 8">
                        <a:extLst>
                          <a:ext uri="{FF2B5EF4-FFF2-40B4-BE49-F238E27FC236}">
                            <a16:creationId xmlns:a16="http://schemas.microsoft.com/office/drawing/2014/main" id="{D50448C6-DE8D-994C-B43D-3554B4B085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893" y="3703563"/>
                        <a:ext cx="1143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CFCE5EC-7CB5-4F6D-AC80-45F1AE322A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685" y="1811263"/>
            <a:ext cx="4664559" cy="148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37503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>
            <a:extLst>
              <a:ext uri="{FF2B5EF4-FFF2-40B4-BE49-F238E27FC236}">
                <a16:creationId xmlns:a16="http://schemas.microsoft.com/office/drawing/2014/main" id="{4BC54DB2-6FE1-5143-BFB0-12052C0207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9425" y="1225825"/>
            <a:ext cx="11243088" cy="4600990"/>
          </a:xfrm>
        </p:spPr>
        <p:txBody>
          <a:bodyPr/>
          <a:lstStyle/>
          <a:p>
            <a:pPr eaLnBrk="1" hangingPunct="1"/>
            <a:r>
              <a:rPr lang="en-US" altLang="en-US" dirty="0"/>
              <a:t>                                                       has no closed-form solution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Neglecting parasitics (p</a:t>
            </a:r>
            <a:r>
              <a:rPr lang="en-US" altLang="en-US" baseline="-25000" dirty="0"/>
              <a:t>inv</a:t>
            </a:r>
            <a:r>
              <a:rPr lang="en-US" altLang="en-US" dirty="0"/>
              <a:t> = 0), we find 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/>
              <a:t> = 2.718 (e)</a:t>
            </a:r>
          </a:p>
          <a:p>
            <a:pPr eaLnBrk="1" hangingPunct="1"/>
            <a:r>
              <a:rPr lang="en-US" altLang="en-US" dirty="0"/>
              <a:t>For p</a:t>
            </a:r>
            <a:r>
              <a:rPr lang="en-US" altLang="en-US" baseline="-25000" dirty="0"/>
              <a:t>inv</a:t>
            </a:r>
            <a:r>
              <a:rPr lang="en-US" altLang="en-US" dirty="0"/>
              <a:t> = 1, solve numerically for 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/>
              <a:t> = 3.59</a:t>
            </a: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68DD485-F7CA-0746-8A1A-7B716D346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Best Stage Effort</a:t>
            </a:r>
          </a:p>
        </p:txBody>
      </p:sp>
      <p:graphicFrame>
        <p:nvGraphicFramePr>
          <p:cNvPr id="63493" name="Object 5">
            <a:extLst>
              <a:ext uri="{FF2B5EF4-FFF2-40B4-BE49-F238E27FC236}">
                <a16:creationId xmlns:a16="http://schemas.microsoft.com/office/drawing/2014/main" id="{9EC3F82C-568F-CC4B-BBA4-44FF6FBAE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004176"/>
              </p:ext>
            </p:extLst>
          </p:nvPr>
        </p:nvGraphicFramePr>
        <p:xfrm>
          <a:off x="801665" y="1123950"/>
          <a:ext cx="3149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555100" imgH="12001500" progId="Equation.DSMT4">
                  <p:embed/>
                </p:oleObj>
              </mc:Choice>
              <mc:Fallback>
                <p:oleObj name="Equation" r:id="rId3" imgW="72555100" imgH="12001500" progId="Equation.DSMT4">
                  <p:embed/>
                  <p:pic>
                    <p:nvPicPr>
                      <p:cNvPr id="63493" name="Object 5">
                        <a:extLst>
                          <a:ext uri="{FF2B5EF4-FFF2-40B4-BE49-F238E27FC236}">
                            <a16:creationId xmlns:a16="http://schemas.microsoft.com/office/drawing/2014/main" id="{9EC3F82C-568F-CC4B-BBA4-44FF6FBAE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65" y="1123950"/>
                        <a:ext cx="3149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7043362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3">
            <a:extLst>
              <a:ext uri="{FF2B5EF4-FFF2-40B4-BE49-F238E27FC236}">
                <a16:creationId xmlns:a16="http://schemas.microsoft.com/office/drawing/2014/main" id="{91FA0ABD-9641-CE4E-B358-0A7565E3C8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How sensitive is the delay to using exactly the best number of stages?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2.4 &lt; </a:t>
            </a:r>
            <a:r>
              <a:rPr lang="en-US" altLang="en-US" dirty="0">
                <a:latin typeface="Symbol" panose="05050102010706020507" pitchFamily="18" charset="2"/>
              </a:rPr>
              <a:t>r </a:t>
            </a:r>
            <a:r>
              <a:rPr lang="en-US" altLang="en-US" dirty="0">
                <a:solidFill>
                  <a:srgbClr val="000000"/>
                </a:solidFill>
              </a:rPr>
              <a:t>&lt; 6 gives delay within 15% of optimal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We can be sloppy!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I like 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>
                <a:solidFill>
                  <a:srgbClr val="000000"/>
                </a:solidFill>
              </a:rPr>
              <a:t> = 4</a:t>
            </a: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F43AB525-44F3-394E-85C1-6273906FCE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Sensitivity Analysis</a:t>
            </a:r>
          </a:p>
        </p:txBody>
      </p:sp>
      <p:graphicFrame>
        <p:nvGraphicFramePr>
          <p:cNvPr id="65541" name="Object 4">
            <a:extLst>
              <a:ext uri="{FF2B5EF4-FFF2-40B4-BE49-F238E27FC236}">
                <a16:creationId xmlns:a16="http://schemas.microsoft.com/office/drawing/2014/main" id="{78396706-CB98-5444-9184-8A8B66C962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843919"/>
              </p:ext>
            </p:extLst>
          </p:nvPr>
        </p:nvGraphicFramePr>
        <p:xfrm>
          <a:off x="5131496" y="1672415"/>
          <a:ext cx="4038600" cy="277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314700" imgH="2286000" progId="Visio.Drawing.6">
                  <p:embed/>
                </p:oleObj>
              </mc:Choice>
              <mc:Fallback>
                <p:oleObj name="VISIO" r:id="rId3" imgW="3314700" imgH="2286000" progId="Visio.Drawing.6">
                  <p:embed/>
                  <p:pic>
                    <p:nvPicPr>
                      <p:cNvPr id="65541" name="Object 4">
                        <a:extLst>
                          <a:ext uri="{FF2B5EF4-FFF2-40B4-BE49-F238E27FC236}">
                            <a16:creationId xmlns:a16="http://schemas.microsoft.com/office/drawing/2014/main" id="{78396706-CB98-5444-9184-8A8B66C962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1496" y="1672415"/>
                        <a:ext cx="4038600" cy="277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6079451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3">
            <a:extLst>
              <a:ext uri="{FF2B5EF4-FFF2-40B4-BE49-F238E27FC236}">
                <a16:creationId xmlns:a16="http://schemas.microsoft.com/office/drawing/2014/main" id="{1B4C3C44-37AA-294A-ABE5-07CE17CF8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</a:rPr>
              <a:t>Design the decoder for a register file.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</a:rPr>
              <a:t>Decoder specifications: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16-word register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Each word is 32 bits wide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Each bit presents a load of 3 unit-sized transistors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True and complementary address inputs A[3:0]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Each input may drive 10 unit-sized transistors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</a:rPr>
              <a:t>You needs to decide: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How many stages to use?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How large should each gate be?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How fast can the decoder operate?</a:t>
            </a: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BC2342C-6C6B-DB48-9227-F2B4E771B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Example, Revisited</a:t>
            </a:r>
          </a:p>
        </p:txBody>
      </p:sp>
      <p:graphicFrame>
        <p:nvGraphicFramePr>
          <p:cNvPr id="67589" name="Object 4">
            <a:extLst>
              <a:ext uri="{FF2B5EF4-FFF2-40B4-BE49-F238E27FC236}">
                <a16:creationId xmlns:a16="http://schemas.microsoft.com/office/drawing/2014/main" id="{46798BCC-C1C2-B347-952C-CA67738BD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547473"/>
              </p:ext>
            </p:extLst>
          </p:nvPr>
        </p:nvGraphicFramePr>
        <p:xfrm>
          <a:off x="6885140" y="1518780"/>
          <a:ext cx="3697682" cy="2076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0078700" imgH="11264900" progId="Visio.Drawing.6">
                  <p:embed/>
                </p:oleObj>
              </mc:Choice>
              <mc:Fallback>
                <p:oleObj name="VISIO" r:id="rId3" imgW="20078700" imgH="11264900" progId="Visio.Drawing.6">
                  <p:embed/>
                  <p:pic>
                    <p:nvPicPr>
                      <p:cNvPr id="67589" name="Object 4">
                        <a:extLst>
                          <a:ext uri="{FF2B5EF4-FFF2-40B4-BE49-F238E27FC236}">
                            <a16:creationId xmlns:a16="http://schemas.microsoft.com/office/drawing/2014/main" id="{46798BCC-C1C2-B347-952C-CA67738BDF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5140" y="1518780"/>
                        <a:ext cx="3697682" cy="2076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2545999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3">
            <a:extLst>
              <a:ext uri="{FF2B5EF4-FFF2-40B4-BE49-F238E27FC236}">
                <a16:creationId xmlns:a16="http://schemas.microsoft.com/office/drawing/2014/main" id="{474BBEC8-5A37-734C-8DAB-5E8D696B95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Decoder effort is mainly electrical and branching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Electrical Effort:		H = (32*3) / 10 = 9.6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Branching Effort:		B = 8 (generally 2 branches per line for every 4 bits)</a:t>
            </a:r>
          </a:p>
          <a:p>
            <a:pPr eaLnBrk="1" hangingPunct="1"/>
            <a:r>
              <a:rPr lang="en-US" altLang="en-US" dirty="0"/>
              <a:t>If we neglect logical effort (assume G = 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Path Effort:			F = GBH = 76.8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Number of Stages:		N = log</a:t>
            </a:r>
            <a:r>
              <a:rPr lang="en-US" altLang="en-US" baseline="-25000" dirty="0"/>
              <a:t>4</a:t>
            </a:r>
            <a:r>
              <a:rPr lang="en-US" altLang="en-US" dirty="0"/>
              <a:t>F = 3.1</a:t>
            </a:r>
          </a:p>
          <a:p>
            <a:pPr eaLnBrk="1" hangingPunct="1"/>
            <a:r>
              <a:rPr lang="en-US" altLang="en-US" dirty="0"/>
              <a:t>Try a 3-stage design</a:t>
            </a: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38736446-00E5-1443-A394-67C33E3C4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Number of Stages</a:t>
            </a:r>
          </a:p>
        </p:txBody>
      </p:sp>
      <p:sp>
        <p:nvSpPr>
          <p:cNvPr id="392197" name="Rectangle 5">
            <a:extLst>
              <a:ext uri="{FF2B5EF4-FFF2-40B4-BE49-F238E27FC236}">
                <a16:creationId xmlns:a16="http://schemas.microsoft.com/office/drawing/2014/main" id="{EC8B05AD-7792-5B4E-8494-11CB1BA91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398" y="1858425"/>
            <a:ext cx="5399306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92198" name="Rectangle 6">
            <a:extLst>
              <a:ext uri="{FF2B5EF4-FFF2-40B4-BE49-F238E27FC236}">
                <a16:creationId xmlns:a16="http://schemas.microsoft.com/office/drawing/2014/main" id="{BF86AEAF-EC50-AB48-94F3-4787E720F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284" y="1471821"/>
            <a:ext cx="2286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92199" name="Rectangle 7">
            <a:extLst>
              <a:ext uri="{FF2B5EF4-FFF2-40B4-BE49-F238E27FC236}">
                <a16:creationId xmlns:a16="http://schemas.microsoft.com/office/drawing/2014/main" id="{727ABA7A-BF4B-EC4C-AFFA-E1913CFA2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284" y="2619679"/>
            <a:ext cx="239822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92200" name="Rectangle 8">
            <a:extLst>
              <a:ext uri="{FF2B5EF4-FFF2-40B4-BE49-F238E27FC236}">
                <a16:creationId xmlns:a16="http://schemas.microsoft.com/office/drawing/2014/main" id="{56366EB5-EA4C-D744-A189-2172571DE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398" y="3081919"/>
            <a:ext cx="2286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3D42EE0C-464F-5F3D-457C-56F79BDE9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68" y="3767537"/>
            <a:ext cx="6772444" cy="275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3324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392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392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7" grpId="0" animBg="1"/>
      <p:bldP spid="392198" grpId="0" animBg="1"/>
      <p:bldP spid="392199" grpId="0" animBg="1"/>
      <p:bldP spid="39220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3">
            <a:extLst>
              <a:ext uri="{FF2B5EF4-FFF2-40B4-BE49-F238E27FC236}">
                <a16:creationId xmlns:a16="http://schemas.microsoft.com/office/drawing/2014/main" id="{7A365569-B808-5141-B992-5A55372FDF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Logical Effort G = 1 * 6/3 * 1 = 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Path Effort:	F = GBH = 154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Stage Effort: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Path Delay: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Gate sizes:	z = </a:t>
            </a:r>
            <a:r>
              <a:rPr lang="en-US" altLang="en-US" sz="1800" dirty="0"/>
              <a:t>96*1/5.36</a:t>
            </a:r>
            <a:r>
              <a:rPr lang="en-US" altLang="en-US" dirty="0"/>
              <a:t> = 18;    y = </a:t>
            </a:r>
            <a:r>
              <a:rPr lang="en-US" altLang="en-US" sz="1800" dirty="0"/>
              <a:t>18*2/5.36</a:t>
            </a:r>
            <a:r>
              <a:rPr lang="en-US" altLang="en-US" dirty="0"/>
              <a:t> = 6.7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9EC7C20-61D0-A647-8938-A934742A9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Gate Sizes &amp; Delay</a:t>
            </a:r>
          </a:p>
        </p:txBody>
      </p:sp>
      <p:graphicFrame>
        <p:nvGraphicFramePr>
          <p:cNvPr id="71686" name="Object 5">
            <a:extLst>
              <a:ext uri="{FF2B5EF4-FFF2-40B4-BE49-F238E27FC236}">
                <a16:creationId xmlns:a16="http://schemas.microsoft.com/office/drawing/2014/main" id="{3E3DBCB1-327C-9747-BA9B-663CDD50B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065251"/>
              </p:ext>
            </p:extLst>
          </p:nvPr>
        </p:nvGraphicFramePr>
        <p:xfrm>
          <a:off x="2303078" y="1918670"/>
          <a:ext cx="2336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835300" imgH="12001500" progId="Equation.DSMT4">
                  <p:embed/>
                </p:oleObj>
              </mc:Choice>
              <mc:Fallback>
                <p:oleObj name="Equation" r:id="rId3" imgW="53835300" imgH="12001500" progId="Equation.DSMT4">
                  <p:embed/>
                  <p:pic>
                    <p:nvPicPr>
                      <p:cNvPr id="71686" name="Object 5">
                        <a:extLst>
                          <a:ext uri="{FF2B5EF4-FFF2-40B4-BE49-F238E27FC236}">
                            <a16:creationId xmlns:a16="http://schemas.microsoft.com/office/drawing/2014/main" id="{3E3DBCB1-327C-9747-BA9B-663CDD50B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078" y="1918670"/>
                        <a:ext cx="2336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6">
            <a:extLst>
              <a:ext uri="{FF2B5EF4-FFF2-40B4-BE49-F238E27FC236}">
                <a16:creationId xmlns:a16="http://schemas.microsoft.com/office/drawing/2014/main" id="{8D76971F-2A2D-DB4F-9A7C-6CEF606B8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853203"/>
              </p:ext>
            </p:extLst>
          </p:nvPr>
        </p:nvGraphicFramePr>
        <p:xfrm>
          <a:off x="2305957" y="2286828"/>
          <a:ext cx="3670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4556600" imgH="12001500" progId="Equation.DSMT4">
                  <p:embed/>
                </p:oleObj>
              </mc:Choice>
              <mc:Fallback>
                <p:oleObj name="Equation" r:id="rId5" imgW="84556600" imgH="12001500" progId="Equation.DSMT4">
                  <p:embed/>
                  <p:pic>
                    <p:nvPicPr>
                      <p:cNvPr id="71687" name="Object 6">
                        <a:extLst>
                          <a:ext uri="{FF2B5EF4-FFF2-40B4-BE49-F238E27FC236}">
                            <a16:creationId xmlns:a16="http://schemas.microsoft.com/office/drawing/2014/main" id="{8D76971F-2A2D-DB4F-9A7C-6CEF606B8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957" y="2286828"/>
                        <a:ext cx="3670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2" name="Rectangle 8">
            <a:extLst>
              <a:ext uri="{FF2B5EF4-FFF2-40B4-BE49-F238E27FC236}">
                <a16:creationId xmlns:a16="http://schemas.microsoft.com/office/drawing/2014/main" id="{EDE4A0B7-C1F4-CE46-B2B9-B173EF2C6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717" y="988610"/>
            <a:ext cx="2286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64553" name="Rectangle 9">
            <a:extLst>
              <a:ext uri="{FF2B5EF4-FFF2-40B4-BE49-F238E27FC236}">
                <a16:creationId xmlns:a16="http://schemas.microsoft.com/office/drawing/2014/main" id="{38A50470-A929-644E-BC69-FE37F2EDD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717" y="1517073"/>
            <a:ext cx="2286000" cy="2814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64554" name="Rectangle 10">
            <a:extLst>
              <a:ext uri="{FF2B5EF4-FFF2-40B4-BE49-F238E27FC236}">
                <a16:creationId xmlns:a16="http://schemas.microsoft.com/office/drawing/2014/main" id="{4D9CAF6F-CAFB-E443-9A80-005AE3F05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078" y="1894033"/>
            <a:ext cx="2421322" cy="4571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64555" name="Rectangle 11">
            <a:extLst>
              <a:ext uri="{FF2B5EF4-FFF2-40B4-BE49-F238E27FC236}">
                <a16:creationId xmlns:a16="http://schemas.microsoft.com/office/drawing/2014/main" id="{F1A77055-4CFB-E248-B7BA-FDFD33336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443" y="2342255"/>
            <a:ext cx="386228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64556" name="Rectangle 12">
            <a:extLst>
              <a:ext uri="{FF2B5EF4-FFF2-40B4-BE49-F238E27FC236}">
                <a16:creationId xmlns:a16="http://schemas.microsoft.com/office/drawing/2014/main" id="{CBB27843-F0D8-C048-A16C-6FA189C9E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903" y="2731204"/>
            <a:ext cx="4283625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64557" name="Rectangle 13">
            <a:extLst>
              <a:ext uri="{FF2B5EF4-FFF2-40B4-BE49-F238E27FC236}">
                <a16:creationId xmlns:a16="http://schemas.microsoft.com/office/drawing/2014/main" id="{2E21DB60-C3D7-A847-A26A-99045928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038" y="2938910"/>
            <a:ext cx="185069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86E0143-60FA-48EB-8D5C-674DF8457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6406" y="3429000"/>
            <a:ext cx="6710641" cy="272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829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64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364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364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2" grpId="0" animBg="1"/>
      <p:bldP spid="364553" grpId="0" animBg="1"/>
      <p:bldP spid="364554" grpId="0" animBg="1"/>
      <p:bldP spid="36455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3">
            <a:extLst>
              <a:ext uri="{FF2B5EF4-FFF2-40B4-BE49-F238E27FC236}">
                <a16:creationId xmlns:a16="http://schemas.microsoft.com/office/drawing/2014/main" id="{5B462A47-FBA0-7A40-8FA1-0AE7923651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Compare many alternatives with a spreadsheet</a:t>
            </a:r>
          </a:p>
          <a:p>
            <a:pPr eaLnBrk="1" hangingPunct="1"/>
            <a:r>
              <a:rPr lang="en-US" altLang="en-US" dirty="0"/>
              <a:t>D = N(76.8 G)</a:t>
            </a:r>
            <a:r>
              <a:rPr lang="en-US" altLang="en-US" baseline="30000" dirty="0"/>
              <a:t>1/N</a:t>
            </a:r>
            <a:r>
              <a:rPr lang="en-US" altLang="en-US" dirty="0"/>
              <a:t> + P</a:t>
            </a: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B4F008B-C1FC-744A-A5F3-95A3A7633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Comparison</a:t>
            </a:r>
          </a:p>
        </p:txBody>
      </p:sp>
      <p:graphicFrame>
        <p:nvGraphicFramePr>
          <p:cNvPr id="365713" name="Group 145">
            <a:extLst>
              <a:ext uri="{FF2B5EF4-FFF2-40B4-BE49-F238E27FC236}">
                <a16:creationId xmlns:a16="http://schemas.microsoft.com/office/drawing/2014/main" id="{9F84B556-680F-D144-97E0-74C6A0655316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2514600"/>
          <a:ext cx="6477000" cy="3462338"/>
        </p:xfrm>
        <a:graphic>
          <a:graphicData uri="http://schemas.openxmlformats.org/drawingml/2006/table">
            <a:tbl>
              <a:tblPr/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Design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G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NOR4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234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NAND4-INV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29.8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NAND2-NOR2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20/9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30.1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INV-NAND4-INV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22.1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NAND4-INV-INV-INV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7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21.1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NAND2-NOR2-INV-INV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20/9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20.5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NAND2-INV-NAND2-INV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16/9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19.7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INV-NAND2-INV-NAND2-INV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16/9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7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20.4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NAND2-INV-NAND2-INV-INV-INV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T="18291" marB="18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16/9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21.6</a:t>
                      </a:r>
                    </a:p>
                  </a:txBody>
                  <a:tcPr marT="18291" marB="18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878072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5A19DB-7222-3FEE-6860-09A7AB85C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AFF2C3F7-2169-D443-B5ED-B379F6110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Review of Definitions</a:t>
            </a:r>
          </a:p>
        </p:txBody>
      </p:sp>
      <p:graphicFrame>
        <p:nvGraphicFramePr>
          <p:cNvPr id="366689" name="Group 97">
            <a:extLst>
              <a:ext uri="{FF2B5EF4-FFF2-40B4-BE49-F238E27FC236}">
                <a16:creationId xmlns:a16="http://schemas.microsoft.com/office/drawing/2014/main" id="{FE127D45-FE40-9941-BCA8-2D1E83CACFC3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676401"/>
          <a:ext cx="7696200" cy="4010023"/>
        </p:xfrm>
        <a:graphic>
          <a:graphicData uri="http://schemas.openxmlformats.org/drawingml/2006/table">
            <a:tbl>
              <a:tblPr/>
              <a:tblGrid>
                <a:gridCol w="2678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Term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Stage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Path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number of stages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logical effort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electrical effort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branching effort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effort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effort delay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parasitic delay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delay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5822" name="Object 52">
            <a:extLst>
              <a:ext uri="{FF2B5EF4-FFF2-40B4-BE49-F238E27FC236}">
                <a16:creationId xmlns:a16="http://schemas.microsoft.com/office/drawing/2014/main" id="{6E58F999-2BBD-F14A-8676-B04699BB1E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2590800"/>
          <a:ext cx="95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45600" imgH="7899400" progId="Equation.DSMT4">
                  <p:embed/>
                </p:oleObj>
              </mc:Choice>
              <mc:Fallback>
                <p:oleObj name="Equation" r:id="rId3" imgW="21945600" imgH="7899400" progId="Equation.DSMT4">
                  <p:embed/>
                  <p:pic>
                    <p:nvPicPr>
                      <p:cNvPr id="75822" name="Object 52">
                        <a:extLst>
                          <a:ext uri="{FF2B5EF4-FFF2-40B4-BE49-F238E27FC236}">
                            <a16:creationId xmlns:a16="http://schemas.microsoft.com/office/drawing/2014/main" id="{6E58F999-2BBD-F14A-8676-B04699BB1E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590800"/>
                        <a:ext cx="952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23" name="Object 54">
            <a:extLst>
              <a:ext uri="{FF2B5EF4-FFF2-40B4-BE49-F238E27FC236}">
                <a16:creationId xmlns:a16="http://schemas.microsoft.com/office/drawing/2014/main" id="{DE634E6B-0270-774F-9C51-EFB7ABF25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3950" y="3009900"/>
          <a:ext cx="939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653500" imgH="9652000" progId="Equation.DSMT4">
                  <p:embed/>
                </p:oleObj>
              </mc:Choice>
              <mc:Fallback>
                <p:oleObj name="Equation" r:id="rId5" imgW="21653500" imgH="9652000" progId="Equation.DSMT4">
                  <p:embed/>
                  <p:pic>
                    <p:nvPicPr>
                      <p:cNvPr id="75823" name="Object 54">
                        <a:extLst>
                          <a:ext uri="{FF2B5EF4-FFF2-40B4-BE49-F238E27FC236}">
                            <a16:creationId xmlns:a16="http://schemas.microsoft.com/office/drawing/2014/main" id="{DE634E6B-0270-774F-9C51-EFB7ABF25C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3009900"/>
                        <a:ext cx="939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24" name="Object 55">
            <a:extLst>
              <a:ext uri="{FF2B5EF4-FFF2-40B4-BE49-F238E27FC236}">
                <a16:creationId xmlns:a16="http://schemas.microsoft.com/office/drawing/2014/main" id="{4345BC1C-37F9-D147-BB86-FEBA99DBCE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2209800"/>
          <a:ext cx="228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70500" imgH="4978400" progId="Equation.DSMT4">
                  <p:embed/>
                </p:oleObj>
              </mc:Choice>
              <mc:Fallback>
                <p:oleObj name="Equation" r:id="rId7" imgW="5270500" imgH="4978400" progId="Equation.DSMT4">
                  <p:embed/>
                  <p:pic>
                    <p:nvPicPr>
                      <p:cNvPr id="75824" name="Object 55">
                        <a:extLst>
                          <a:ext uri="{FF2B5EF4-FFF2-40B4-BE49-F238E27FC236}">
                            <a16:creationId xmlns:a16="http://schemas.microsoft.com/office/drawing/2014/main" id="{4345BC1C-37F9-D147-BB86-FEBA99DBCE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209800"/>
                        <a:ext cx="2286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25" name="Object 56">
            <a:extLst>
              <a:ext uri="{FF2B5EF4-FFF2-40B4-BE49-F238E27FC236}">
                <a16:creationId xmlns:a16="http://schemas.microsoft.com/office/drawing/2014/main" id="{B9A790DB-DE1D-7F47-959C-B855A9AA7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93000" y="35052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777200" imgH="7899400" progId="Equation.DSMT4">
                  <p:embed/>
                </p:oleObj>
              </mc:Choice>
              <mc:Fallback>
                <p:oleObj name="Equation" r:id="rId9" imgW="20777200" imgH="7899400" progId="Equation.DSMT4">
                  <p:embed/>
                  <p:pic>
                    <p:nvPicPr>
                      <p:cNvPr id="75825" name="Object 56">
                        <a:extLst>
                          <a:ext uri="{FF2B5EF4-FFF2-40B4-BE49-F238E27FC236}">
                            <a16:creationId xmlns:a16="http://schemas.microsoft.com/office/drawing/2014/main" id="{B9A790DB-DE1D-7F47-959C-B855A9AA7E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3505200"/>
                        <a:ext cx="901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26" name="Object 57">
            <a:extLst>
              <a:ext uri="{FF2B5EF4-FFF2-40B4-BE49-F238E27FC236}">
                <a16:creationId xmlns:a16="http://schemas.microsoft.com/office/drawing/2014/main" id="{E9820D76-582F-CD44-9977-7DA361576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3950" y="3943350"/>
          <a:ext cx="939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653500" imgH="5270500" progId="Equation.DSMT4">
                  <p:embed/>
                </p:oleObj>
              </mc:Choice>
              <mc:Fallback>
                <p:oleObj name="Equation" r:id="rId11" imgW="21653500" imgH="5270500" progId="Equation.DSMT4">
                  <p:embed/>
                  <p:pic>
                    <p:nvPicPr>
                      <p:cNvPr id="75826" name="Object 57">
                        <a:extLst>
                          <a:ext uri="{FF2B5EF4-FFF2-40B4-BE49-F238E27FC236}">
                            <a16:creationId xmlns:a16="http://schemas.microsoft.com/office/drawing/2014/main" id="{E9820D76-582F-CD44-9977-7DA3615768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3943350"/>
                        <a:ext cx="939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27" name="Object 59">
            <a:extLst>
              <a:ext uri="{FF2B5EF4-FFF2-40B4-BE49-F238E27FC236}">
                <a16:creationId xmlns:a16="http://schemas.microsoft.com/office/drawing/2014/main" id="{C69525CD-271E-9A4B-AF58-AFDF9CF92D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5850" y="4343400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406100" imgH="7899400" progId="Equation.DSMT4">
                  <p:embed/>
                </p:oleObj>
              </mc:Choice>
              <mc:Fallback>
                <p:oleObj name="Equation" r:id="rId13" imgW="23406100" imgH="7899400" progId="Equation.DSMT4">
                  <p:embed/>
                  <p:pic>
                    <p:nvPicPr>
                      <p:cNvPr id="75827" name="Object 59">
                        <a:extLst>
                          <a:ext uri="{FF2B5EF4-FFF2-40B4-BE49-F238E27FC236}">
                            <a16:creationId xmlns:a16="http://schemas.microsoft.com/office/drawing/2014/main" id="{C69525CD-271E-9A4B-AF58-AFDF9CF92D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5850" y="4343400"/>
                        <a:ext cx="1016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28" name="Object 62">
            <a:extLst>
              <a:ext uri="{FF2B5EF4-FFF2-40B4-BE49-F238E27FC236}">
                <a16:creationId xmlns:a16="http://schemas.microsoft.com/office/drawing/2014/main" id="{225820B7-CFC1-E14D-AEAF-9948A330F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48768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777200" imgH="7899400" progId="Equation.DSMT4">
                  <p:embed/>
                </p:oleObj>
              </mc:Choice>
              <mc:Fallback>
                <p:oleObj name="Equation" r:id="rId15" imgW="20777200" imgH="7899400" progId="Equation.DSMT4">
                  <p:embed/>
                  <p:pic>
                    <p:nvPicPr>
                      <p:cNvPr id="75828" name="Object 62">
                        <a:extLst>
                          <a:ext uri="{FF2B5EF4-FFF2-40B4-BE49-F238E27FC236}">
                            <a16:creationId xmlns:a16="http://schemas.microsoft.com/office/drawing/2014/main" id="{225820B7-CFC1-E14D-AEAF-9948A330F1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876800"/>
                        <a:ext cx="901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29" name="Object 63">
            <a:extLst>
              <a:ext uri="{FF2B5EF4-FFF2-40B4-BE49-F238E27FC236}">
                <a16:creationId xmlns:a16="http://schemas.microsoft.com/office/drawing/2014/main" id="{AA020039-E231-2846-9564-B9DDBE5CF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5257800"/>
          <a:ext cx="186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002200" imgH="7899400" progId="Equation.DSMT4">
                  <p:embed/>
                </p:oleObj>
              </mc:Choice>
              <mc:Fallback>
                <p:oleObj name="Equation" r:id="rId17" imgW="43002200" imgH="7899400" progId="Equation.DSMT4">
                  <p:embed/>
                  <p:pic>
                    <p:nvPicPr>
                      <p:cNvPr id="75829" name="Object 63">
                        <a:extLst>
                          <a:ext uri="{FF2B5EF4-FFF2-40B4-BE49-F238E27FC236}">
                            <a16:creationId xmlns:a16="http://schemas.microsoft.com/office/drawing/2014/main" id="{AA020039-E231-2846-9564-B9DDBE5CF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5257800"/>
                        <a:ext cx="1866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0" name="Object 64">
            <a:extLst>
              <a:ext uri="{FF2B5EF4-FFF2-40B4-BE49-F238E27FC236}">
                <a16:creationId xmlns:a16="http://schemas.microsoft.com/office/drawing/2014/main" id="{CCDDF9B6-CCB7-6243-AC9C-955747A6F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3048000"/>
          <a:ext cx="660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14600" imgH="8483600" progId="Equation.DSMT4">
                  <p:embed/>
                </p:oleObj>
              </mc:Choice>
              <mc:Fallback>
                <p:oleObj name="Equation" r:id="rId19" imgW="15214600" imgH="8483600" progId="Equation.DSMT4">
                  <p:embed/>
                  <p:pic>
                    <p:nvPicPr>
                      <p:cNvPr id="75830" name="Object 64">
                        <a:extLst>
                          <a:ext uri="{FF2B5EF4-FFF2-40B4-BE49-F238E27FC236}">
                            <a16:creationId xmlns:a16="http://schemas.microsoft.com/office/drawing/2014/main" id="{CCDDF9B6-CCB7-6243-AC9C-955747A6F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048000"/>
                        <a:ext cx="660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1" name="Object 65">
            <a:extLst>
              <a:ext uri="{FF2B5EF4-FFF2-40B4-BE49-F238E27FC236}">
                <a16:creationId xmlns:a16="http://schemas.microsoft.com/office/drawing/2014/main" id="{A8D8CDA2-CF9B-B544-B93C-EFD8F4D04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3429000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0137100" imgH="9652000" progId="Equation.DSMT4">
                  <p:embed/>
                </p:oleObj>
              </mc:Choice>
              <mc:Fallback>
                <p:oleObj name="Equation" r:id="rId21" imgW="30137100" imgH="9652000" progId="Equation.DSMT4">
                  <p:embed/>
                  <p:pic>
                    <p:nvPicPr>
                      <p:cNvPr id="75831" name="Object 65">
                        <a:extLst>
                          <a:ext uri="{FF2B5EF4-FFF2-40B4-BE49-F238E27FC236}">
                            <a16:creationId xmlns:a16="http://schemas.microsoft.com/office/drawing/2014/main" id="{A8D8CDA2-CF9B-B544-B93C-EFD8F4D049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429000"/>
                        <a:ext cx="1308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2" name="Object 66">
            <a:extLst>
              <a:ext uri="{FF2B5EF4-FFF2-40B4-BE49-F238E27FC236}">
                <a16:creationId xmlns:a16="http://schemas.microsoft.com/office/drawing/2014/main" id="{EC49D10A-F417-4046-B41F-20FCE6252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3962400"/>
          <a:ext cx="685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798800" imgH="6146800" progId="Equation.DSMT4">
                  <p:embed/>
                </p:oleObj>
              </mc:Choice>
              <mc:Fallback>
                <p:oleObj name="Equation" r:id="rId23" imgW="15798800" imgH="6146800" progId="Equation.DSMT4">
                  <p:embed/>
                  <p:pic>
                    <p:nvPicPr>
                      <p:cNvPr id="75832" name="Object 66">
                        <a:extLst>
                          <a:ext uri="{FF2B5EF4-FFF2-40B4-BE49-F238E27FC236}">
                            <a16:creationId xmlns:a16="http://schemas.microsoft.com/office/drawing/2014/main" id="{EC49D10A-F417-4046-B41F-20FCE6252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962400"/>
                        <a:ext cx="6858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3" name="Object 67">
            <a:extLst>
              <a:ext uri="{FF2B5EF4-FFF2-40B4-BE49-F238E27FC236}">
                <a16:creationId xmlns:a16="http://schemas.microsoft.com/office/drawing/2014/main" id="{3F89C528-C140-6E44-B9DA-33883CF89C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419600"/>
          <a:ext cx="20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686300" imgH="6146800" progId="Equation.DSMT4">
                  <p:embed/>
                </p:oleObj>
              </mc:Choice>
              <mc:Fallback>
                <p:oleObj name="Equation" r:id="rId25" imgW="4686300" imgH="6146800" progId="Equation.DSMT4">
                  <p:embed/>
                  <p:pic>
                    <p:nvPicPr>
                      <p:cNvPr id="75833" name="Object 67">
                        <a:extLst>
                          <a:ext uri="{FF2B5EF4-FFF2-40B4-BE49-F238E27FC236}">
                            <a16:creationId xmlns:a16="http://schemas.microsoft.com/office/drawing/2014/main" id="{3F89C528-C140-6E44-B9DA-33883CF89C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419600"/>
                        <a:ext cx="203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4" name="Object 68">
            <a:extLst>
              <a:ext uri="{FF2B5EF4-FFF2-40B4-BE49-F238E27FC236}">
                <a16:creationId xmlns:a16="http://schemas.microsoft.com/office/drawing/2014/main" id="{3EF2A685-C0B4-114C-B281-D838C95C0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953000"/>
          <a:ext cx="190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394200" imgH="4978400" progId="Equation.DSMT4">
                  <p:embed/>
                </p:oleObj>
              </mc:Choice>
              <mc:Fallback>
                <p:oleObj name="Equation" r:id="rId27" imgW="4394200" imgH="4978400" progId="Equation.DSMT4">
                  <p:embed/>
                  <p:pic>
                    <p:nvPicPr>
                      <p:cNvPr id="75834" name="Object 68">
                        <a:extLst>
                          <a:ext uri="{FF2B5EF4-FFF2-40B4-BE49-F238E27FC236}">
                            <a16:creationId xmlns:a16="http://schemas.microsoft.com/office/drawing/2014/main" id="{3EF2A685-C0B4-114C-B281-D838C95C0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953000"/>
                        <a:ext cx="1905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5" name="Object 69">
            <a:extLst>
              <a:ext uri="{FF2B5EF4-FFF2-40B4-BE49-F238E27FC236}">
                <a16:creationId xmlns:a16="http://schemas.microsoft.com/office/drawing/2014/main" id="{8B51AEC9-B8F8-8844-A87A-015677C0E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5334000"/>
          <a:ext cx="927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1361400" imgH="6146800" progId="Equation.DSMT4">
                  <p:embed/>
                </p:oleObj>
              </mc:Choice>
              <mc:Fallback>
                <p:oleObj name="Equation" r:id="rId29" imgW="21361400" imgH="6146800" progId="Equation.DSMT4">
                  <p:embed/>
                  <p:pic>
                    <p:nvPicPr>
                      <p:cNvPr id="75835" name="Object 69">
                        <a:extLst>
                          <a:ext uri="{FF2B5EF4-FFF2-40B4-BE49-F238E27FC236}">
                            <a16:creationId xmlns:a16="http://schemas.microsoft.com/office/drawing/2014/main" id="{8B51AEC9-B8F8-8844-A87A-015677C0E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334000"/>
                        <a:ext cx="9271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6" name="Object 70">
            <a:extLst>
              <a:ext uri="{FF2B5EF4-FFF2-40B4-BE49-F238E27FC236}">
                <a16:creationId xmlns:a16="http://schemas.microsoft.com/office/drawing/2014/main" id="{7AEDA37C-699F-E945-A6E0-9F26276A5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667000"/>
          <a:ext cx="177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102100" imgH="4978400" progId="Equation.DSMT4">
                  <p:embed/>
                </p:oleObj>
              </mc:Choice>
              <mc:Fallback>
                <p:oleObj name="Equation" r:id="rId31" imgW="4102100" imgH="4978400" progId="Equation.DSMT4">
                  <p:embed/>
                  <p:pic>
                    <p:nvPicPr>
                      <p:cNvPr id="75836" name="Object 70">
                        <a:extLst>
                          <a:ext uri="{FF2B5EF4-FFF2-40B4-BE49-F238E27FC236}">
                            <a16:creationId xmlns:a16="http://schemas.microsoft.com/office/drawing/2014/main" id="{7AEDA37C-699F-E945-A6E0-9F26276A5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667000"/>
                        <a:ext cx="1778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7" name="Object 71">
            <a:extLst>
              <a:ext uri="{FF2B5EF4-FFF2-40B4-BE49-F238E27FC236}">
                <a16:creationId xmlns:a16="http://schemas.microsoft.com/office/drawing/2014/main" id="{CA83EF17-2CB4-C943-A7B7-40EEB6509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2098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628900" imgH="4978400" progId="Equation.DSMT4">
                  <p:embed/>
                </p:oleObj>
              </mc:Choice>
              <mc:Fallback>
                <p:oleObj name="Equation" r:id="rId33" imgW="2628900" imgH="4978400" progId="Equation.DSMT4">
                  <p:embed/>
                  <p:pic>
                    <p:nvPicPr>
                      <p:cNvPr id="75837" name="Object 71">
                        <a:extLst>
                          <a:ext uri="{FF2B5EF4-FFF2-40B4-BE49-F238E27FC236}">
                            <a16:creationId xmlns:a16="http://schemas.microsoft.com/office/drawing/2014/main" id="{CA83EF17-2CB4-C943-A7B7-40EEB6509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0980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126993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3">
            <a:extLst>
              <a:ext uri="{FF2B5EF4-FFF2-40B4-BE49-F238E27FC236}">
                <a16:creationId xmlns:a16="http://schemas.microsoft.com/office/drawing/2014/main" id="{6CEBF626-FA77-E64E-9123-08C46C460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AutoNum type="arabicParenR"/>
            </a:pPr>
            <a:r>
              <a:rPr lang="en-US" altLang="en-US" dirty="0"/>
              <a:t>Compute path effort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altLang="en-US" dirty="0"/>
              <a:t>Estimate best number of stages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altLang="en-US" dirty="0"/>
              <a:t>Sketch path with N stages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altLang="en-US" dirty="0"/>
              <a:t>Estimate least delay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altLang="en-US" dirty="0"/>
              <a:t>Determine best stage effort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altLang="en-US" dirty="0"/>
              <a:t>Find gate sizes</a:t>
            </a: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7BB9041-05ED-744D-A764-2AA5AF2B6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Method of Logical Effort</a:t>
            </a:r>
          </a:p>
        </p:txBody>
      </p:sp>
      <p:graphicFrame>
        <p:nvGraphicFramePr>
          <p:cNvPr id="77829" name="Object 4">
            <a:extLst>
              <a:ext uri="{FF2B5EF4-FFF2-40B4-BE49-F238E27FC236}">
                <a16:creationId xmlns:a16="http://schemas.microsoft.com/office/drawing/2014/main" id="{0EAF20A8-F6AB-194E-B220-EAB1F28C7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829688"/>
              </p:ext>
            </p:extLst>
          </p:nvPr>
        </p:nvGraphicFramePr>
        <p:xfrm>
          <a:off x="6772406" y="1133061"/>
          <a:ext cx="1231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84500" imgH="6438900" progId="Equation.DSMT4">
                  <p:embed/>
                </p:oleObj>
              </mc:Choice>
              <mc:Fallback>
                <p:oleObj name="Equation" r:id="rId3" imgW="28384500" imgH="6438900" progId="Equation.DSMT4">
                  <p:embed/>
                  <p:pic>
                    <p:nvPicPr>
                      <p:cNvPr id="77829" name="Object 4">
                        <a:extLst>
                          <a:ext uri="{FF2B5EF4-FFF2-40B4-BE49-F238E27FC236}">
                            <a16:creationId xmlns:a16="http://schemas.microsoft.com/office/drawing/2014/main" id="{0EAF20A8-F6AB-194E-B220-EAB1F28C74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406" y="1133061"/>
                        <a:ext cx="1231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5">
            <a:extLst>
              <a:ext uri="{FF2B5EF4-FFF2-40B4-BE49-F238E27FC236}">
                <a16:creationId xmlns:a16="http://schemas.microsoft.com/office/drawing/2014/main" id="{9F4BDDF2-3CAC-314C-912F-13236A088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877891"/>
              </p:ext>
            </p:extLst>
          </p:nvPr>
        </p:nvGraphicFramePr>
        <p:xfrm>
          <a:off x="6772406" y="1590261"/>
          <a:ext cx="137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597600" imgH="8775700" progId="Equation.DSMT4">
                  <p:embed/>
                </p:oleObj>
              </mc:Choice>
              <mc:Fallback>
                <p:oleObj name="Equation" r:id="rId5" imgW="31597600" imgH="8775700" progId="Equation.DSMT4">
                  <p:embed/>
                  <p:pic>
                    <p:nvPicPr>
                      <p:cNvPr id="77830" name="Object 5">
                        <a:extLst>
                          <a:ext uri="{FF2B5EF4-FFF2-40B4-BE49-F238E27FC236}">
                            <a16:creationId xmlns:a16="http://schemas.microsoft.com/office/drawing/2014/main" id="{9F4BDDF2-3CAC-314C-912F-13236A0885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406" y="1590261"/>
                        <a:ext cx="137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6">
            <a:extLst>
              <a:ext uri="{FF2B5EF4-FFF2-40B4-BE49-F238E27FC236}">
                <a16:creationId xmlns:a16="http://schemas.microsoft.com/office/drawing/2014/main" id="{873CBECA-6E2A-C74D-97B0-81C71B491C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85326"/>
              </p:ext>
            </p:extLst>
          </p:nvPr>
        </p:nvGraphicFramePr>
        <p:xfrm>
          <a:off x="6772406" y="2352261"/>
          <a:ext cx="167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620700" imgH="9067800" progId="Equation.DSMT4">
                  <p:embed/>
                </p:oleObj>
              </mc:Choice>
              <mc:Fallback>
                <p:oleObj name="Equation" r:id="rId7" imgW="38620700" imgH="9067800" progId="Equation.DSMT4">
                  <p:embed/>
                  <p:pic>
                    <p:nvPicPr>
                      <p:cNvPr id="77831" name="Object 6">
                        <a:extLst>
                          <a:ext uri="{FF2B5EF4-FFF2-40B4-BE49-F238E27FC236}">
                            <a16:creationId xmlns:a16="http://schemas.microsoft.com/office/drawing/2014/main" id="{873CBECA-6E2A-C74D-97B0-81C71B491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406" y="2352261"/>
                        <a:ext cx="1676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7">
            <a:extLst>
              <a:ext uri="{FF2B5EF4-FFF2-40B4-BE49-F238E27FC236}">
                <a16:creationId xmlns:a16="http://schemas.microsoft.com/office/drawing/2014/main" id="{032EDFC5-15FF-B348-B815-941AB4C2F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01279"/>
              </p:ext>
            </p:extLst>
          </p:nvPr>
        </p:nvGraphicFramePr>
        <p:xfrm>
          <a:off x="6772406" y="2885661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653500" imgH="10528300" progId="Equation.DSMT4">
                  <p:embed/>
                </p:oleObj>
              </mc:Choice>
              <mc:Fallback>
                <p:oleObj name="Equation" r:id="rId9" imgW="21653500" imgH="10528300" progId="Equation.DSMT4">
                  <p:embed/>
                  <p:pic>
                    <p:nvPicPr>
                      <p:cNvPr id="77832" name="Object 7">
                        <a:extLst>
                          <a:ext uri="{FF2B5EF4-FFF2-40B4-BE49-F238E27FC236}">
                            <a16:creationId xmlns:a16="http://schemas.microsoft.com/office/drawing/2014/main" id="{032EDFC5-15FF-B348-B815-941AB4C2F5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406" y="2885661"/>
                        <a:ext cx="939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9">
            <a:extLst>
              <a:ext uri="{FF2B5EF4-FFF2-40B4-BE49-F238E27FC236}">
                <a16:creationId xmlns:a16="http://schemas.microsoft.com/office/drawing/2014/main" id="{99F8B482-0427-404B-B684-4DAA1D2620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810678"/>
              </p:ext>
            </p:extLst>
          </p:nvPr>
        </p:nvGraphicFramePr>
        <p:xfrm>
          <a:off x="6772406" y="3253699"/>
          <a:ext cx="1549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699700" imgH="19900900" progId="Equation.DSMT4">
                  <p:embed/>
                </p:oleObj>
              </mc:Choice>
              <mc:Fallback>
                <p:oleObj name="Equation" r:id="rId11" imgW="35699700" imgH="19900900" progId="Equation.DSMT4">
                  <p:embed/>
                  <p:pic>
                    <p:nvPicPr>
                      <p:cNvPr id="77833" name="Object 9">
                        <a:extLst>
                          <a:ext uri="{FF2B5EF4-FFF2-40B4-BE49-F238E27FC236}">
                            <a16:creationId xmlns:a16="http://schemas.microsoft.com/office/drawing/2014/main" id="{99F8B482-0427-404B-B684-4DAA1D262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406" y="3253699"/>
                        <a:ext cx="1549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0202390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3">
            <a:extLst>
              <a:ext uri="{FF2B5EF4-FFF2-40B4-BE49-F238E27FC236}">
                <a16:creationId xmlns:a16="http://schemas.microsoft.com/office/drawing/2014/main" id="{78D630AB-EE52-5647-8E97-139A22AFD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Chicken and egg problem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Need path to compute G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But don’</a:t>
            </a:r>
            <a:r>
              <a:rPr lang="en-US" altLang="ja-JP" dirty="0">
                <a:solidFill>
                  <a:srgbClr val="000000"/>
                </a:solidFill>
              </a:rPr>
              <a:t>t know the number of stages without G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Simplistic delay model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Neglects input rise time effects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Interconnect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Iteration required in designs with wire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Maximum speed only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Not minimum area/power for constrained delay</a:t>
            </a: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EF37D903-ADF3-5341-BD9F-89C7EC9A8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Limits of Logical Effort</a:t>
            </a:r>
          </a:p>
        </p:txBody>
      </p:sp>
    </p:spTree>
    <p:extLst>
      <p:ext uri="{BB962C8B-B14F-4D97-AF65-F5344CB8AC3E}">
        <p14:creationId xmlns:p14="http://schemas.microsoft.com/office/powerpoint/2010/main" val="3015946022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3">
            <a:extLst>
              <a:ext uri="{FF2B5EF4-FFF2-40B4-BE49-F238E27FC236}">
                <a16:creationId xmlns:a16="http://schemas.microsoft.com/office/drawing/2014/main" id="{ADB4ECE5-14A2-6C48-8B12-5BD408D252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effort is useful for thinking of delay in circuits</a:t>
            </a:r>
          </a:p>
          <a:p>
            <a:pPr lvl="1" eaLnBrk="1" hangingPunct="1"/>
            <a:r>
              <a:rPr lang="en-US" altLang="en-US" dirty="0"/>
              <a:t>Numeric logical effort characterizes gates</a:t>
            </a:r>
          </a:p>
          <a:p>
            <a:pPr lvl="1" eaLnBrk="1" hangingPunct="1"/>
            <a:r>
              <a:rPr lang="en-US" altLang="en-US" dirty="0"/>
              <a:t>NANDs are faster than NORs in CMOS</a:t>
            </a:r>
          </a:p>
          <a:p>
            <a:pPr lvl="1" eaLnBrk="1" hangingPunct="1"/>
            <a:r>
              <a:rPr lang="en-US" altLang="en-US" dirty="0"/>
              <a:t>Paths are fastest when effort delays are ~4</a:t>
            </a:r>
          </a:p>
          <a:p>
            <a:pPr lvl="1" eaLnBrk="1" hangingPunct="1"/>
            <a:r>
              <a:rPr lang="en-US" altLang="en-US" dirty="0"/>
              <a:t>Path delay is weakly sensitive to stages, sizes</a:t>
            </a:r>
          </a:p>
          <a:p>
            <a:pPr lvl="1" eaLnBrk="1" hangingPunct="1"/>
            <a:r>
              <a:rPr lang="en-US" altLang="en-US" dirty="0"/>
              <a:t>But using fewer stages doesn’t mean faster paths</a:t>
            </a:r>
          </a:p>
          <a:p>
            <a:pPr lvl="1" eaLnBrk="1" hangingPunct="1"/>
            <a:r>
              <a:rPr lang="en-US" altLang="en-US" dirty="0"/>
              <a:t>Delay of path is about log</a:t>
            </a:r>
            <a:r>
              <a:rPr lang="en-US" altLang="en-US" baseline="-25000" dirty="0"/>
              <a:t>4</a:t>
            </a:r>
            <a:r>
              <a:rPr lang="en-US" altLang="en-US" dirty="0"/>
              <a:t>F FO4 inverter delays</a:t>
            </a:r>
          </a:p>
          <a:p>
            <a:pPr lvl="1" eaLnBrk="1" hangingPunct="1"/>
            <a:r>
              <a:rPr lang="en-US" altLang="en-US" dirty="0"/>
              <a:t>Inverters and NAND2 best for driving large caps</a:t>
            </a:r>
          </a:p>
          <a:p>
            <a:pPr eaLnBrk="1" hangingPunct="1"/>
            <a:r>
              <a:rPr lang="en-US" altLang="en-US" dirty="0"/>
              <a:t>Provides language for discussing fast circuits</a:t>
            </a:r>
          </a:p>
          <a:p>
            <a:pPr lvl="1" eaLnBrk="1" hangingPunct="1"/>
            <a:r>
              <a:rPr lang="en-US" altLang="en-US" dirty="0"/>
              <a:t>But requires practice to master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20A5556-D093-414E-BCFD-E13C8CED6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84043068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1_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PT_Master_Arm_Limited_2019.potx  -  Read-Only" id="{D09A6074-4508-4365-A1DC-9585CABF9D5F}" vid="{3CD30893-EED7-4292-8C0A-ECC25221B6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B61D4E06-5D3F-4994-A4A7-4BA626FA722D}">
  <ds:schemaRefs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f2ad5090-61a8-4b8c-ab70-68f4ff4d1933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www.w3.org/XML/1998/namespace"/>
    <ds:schemaRef ds:uri="c0950e01-db07-4e41-9c32-b7a8e9fccc9b"/>
    <ds:schemaRef ds:uri="http://schemas.microsoft.com/sharepoint/v3/field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Arm_Education_PPT_template_2019</Template>
  <TotalTime>0</TotalTime>
  <Words>2589</Words>
  <Application>Microsoft Macintosh PowerPoint</Application>
  <PresentationFormat>Widescreen</PresentationFormat>
  <Paragraphs>517</Paragraphs>
  <Slides>33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ＭＳ Ｐゴシック</vt:lpstr>
      <vt:lpstr>Arial</vt:lpstr>
      <vt:lpstr>Calibri</vt:lpstr>
      <vt:lpstr>Segoe UI</vt:lpstr>
      <vt:lpstr>Symbol</vt:lpstr>
      <vt:lpstr>Times New Roman</vt:lpstr>
      <vt:lpstr>Wingdings</vt:lpstr>
      <vt:lpstr>1_Arm_PPT_Public</vt:lpstr>
      <vt:lpstr>VISIO</vt:lpstr>
      <vt:lpstr>Equation</vt:lpstr>
      <vt:lpstr>Visio</vt:lpstr>
      <vt:lpstr>PowerPoint Presentation</vt:lpstr>
      <vt:lpstr>Learning Objectives</vt:lpstr>
      <vt:lpstr>Introduction</vt:lpstr>
      <vt:lpstr>Example</vt:lpstr>
      <vt:lpstr>Delay in a Logic Gate</vt:lpstr>
      <vt:lpstr>Delay Plots</vt:lpstr>
      <vt:lpstr>Computing Logical Effort</vt:lpstr>
      <vt:lpstr>Catalog of Gates</vt:lpstr>
      <vt:lpstr>Catalog of Gates</vt:lpstr>
      <vt:lpstr>Example: Ring Oscillator</vt:lpstr>
      <vt:lpstr>Example: FO4 Inverter</vt:lpstr>
      <vt:lpstr>Multistage Logic Networks</vt:lpstr>
      <vt:lpstr>Multistage Logic Networks</vt:lpstr>
      <vt:lpstr>Paths that Branch</vt:lpstr>
      <vt:lpstr>Branching Effort</vt:lpstr>
      <vt:lpstr>Multistage Delays</vt:lpstr>
      <vt:lpstr>Designing Fast Circuits</vt:lpstr>
      <vt:lpstr>Gate Sizes</vt:lpstr>
      <vt:lpstr>Example: 3-stage path</vt:lpstr>
      <vt:lpstr>Example: 3-stage path</vt:lpstr>
      <vt:lpstr>Example: 3-stage path</vt:lpstr>
      <vt:lpstr>Best Number of Stages</vt:lpstr>
      <vt:lpstr>Derivation</vt:lpstr>
      <vt:lpstr>Best Stage Effort</vt:lpstr>
      <vt:lpstr>Sensitivity Analysis</vt:lpstr>
      <vt:lpstr>Example, Revisited</vt:lpstr>
      <vt:lpstr>Number of Stages</vt:lpstr>
      <vt:lpstr>Gate Sizes &amp; Delay</vt:lpstr>
      <vt:lpstr>Comparison</vt:lpstr>
      <vt:lpstr>Review of Definitions</vt:lpstr>
      <vt:lpstr>Method of Logical Effort</vt:lpstr>
      <vt:lpstr>Limits of Logical Effort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VLSI Design  Lecture 7: Logical Effort</dc:title>
  <dc:subject/>
  <dc:creator/>
  <cp:keywords/>
  <dc:description/>
  <cp:lastModifiedBy/>
  <cp:revision>472</cp:revision>
  <dcterms:created xsi:type="dcterms:W3CDTF">2019-04-08T13:00:08Z</dcterms:created>
  <dcterms:modified xsi:type="dcterms:W3CDTF">2026-02-19T17:26:37Z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